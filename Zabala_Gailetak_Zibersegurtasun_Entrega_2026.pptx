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- 1. DIAPOSITIBA (1 min)
Egun on, jaun-andreok. Zabala Gailetak-eko Zuzendaritza Batzordearen eta CEO jaunaren aurrean egotea ohorea da guretzat.
Gaur, hilabete hauetan elkarrekin eraiki dugun zerbait aurkeztuko dizuet: zuen enpresaren segurtasun digital osoa. Ez berba hutsetan, baizik eta datu zehatzetan, emaitza errealekin eta etorkizunerako plan sendoarekin.
Galletagintzako negozioa ezagutzen duzuen bezala, segurtasuna ere ezagutu behar duzue: funtsezkotzat jo, ikusezin funtzionatzen denean, eta ezinbestekotzat gertatzen denean. Hasi gaitezen.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- 2. DIAPOSITIBA (2 min)
Zabala Gailetak ez da soilik galleta-fabrika bat. Azken urteetan, transformazio digital garrantzitsu baten erdian dago. Hirurogeita hamar urte baino gehiago daramate Euskal Herriko mahaietan eta orain, hiru txandatan eta ehun eta hogei langilerekin, ekoizpena digitalizatzearen bidean daude.
Hau oso positiboa da. Baina aldi berean, arrisku berri bat sortzen du: orain, bulegoko ordenagailua eta galletagintzako makineria sare berean bizi dira.
Eta horixe da guk ikusten dugun lehen erronka. Industria 4.0 aukera paregabea da, baina ate berria da ere erasotzaileentzat. Jarraian ikusiko duzuenez, arrisku hori zehatz neurtu dugu.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- 3. DIAPOSITIBA (2 min)
Eta hemen dago arazo nagusia, zeina nik zuzenean bistaratzen nahi dudan.
Eskuinaldean ikusten duzun OT sarea da fabrikako bihotza: OpenPLC kontrolagailua, galletagintzako lerro osoa gidatzen duena: labearen tenperatura, irabiatze-makinen abiadura, ontziratzea...
Eta auditorian aurkitu genuena? Port 502, OT sistemaren atebide nagusia, Interneti irekita zegoen. Nork nahi bazuen, kanpotik, zure ekoizpen-lerro osoa geldiarazi zezakeen, edo are gehiago, manipulatu.
Hau ez da hipotesia. Hau aurkikuntza erreal bat da. Eta horixe da lehenengo konpondu genuena. Arkitektura berri batek bermatzen du hau ez dela berriro gertatuko.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- 4. DIAPOSITIBA (2 min)
Arazo handi bat ikusi dugu. Orain nola konpondu dugun ikusiko dugu.
Gure estrategiaren oinarria Zero Trust filosofia da. Printzipio honen arabera, ez dugu inoiz 'barruko' edo 'kanpoko' bereizten. Dena egiaztatu behar da: erabiltzaile bat, makina bat, zerbitzu bat... denak autentifikatu eta baimendu behar dira banan-banan.
Honek esan nahi du: nahiz eta hacker bat zuen sarean sartu, ezingo du sistematik sistemara mugitu. Ate bat apurtu arren, gainerako ateak itxita daude.
Jarraian, hau nola gauzatu dugun ikusiko duzue: sare segmentazioa VLANen bidez.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- 5. DIAPOSITIBA (2 min)
Lagin hau Zabala Gailetak-en sare arkitektura berriaren bihotza da.
Orain, bost VLAN bereizi dituzu. Bakoitzak bere sareak, bere arauak eta bere mugak ditu. VLAN 10 bulegoko langileentzat, VLAN 20 zerbitzarientzat, VLAN 30 Interneti begira dauden zerbitzu publikoentzat, VLAN 40 fabrikako makineria industrial osorentzat, eta VLAN 99 berezi bat: gure honepotentzat, alegia, erasotzaileak erakarriko dituen sare bat.
Garrantzitsuena: VLAN 40, OT sarea, erabat isolatua dago. Langile batek bere ordenagailutik ezin du zuzenean komunikatu PLCarekin. Datuen transmisioa data diode baten bidez bakarrik gertatzen da, eta uni-norabidekoa da: fabrikatik bulegora, inoiz ez itzuli.
Hau da segurtasun fisikoa digitalizatua.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- 6. DIAPOSITIBA (2 min)
Sare arkitektura ikusita, esan behar dut orain azpiegituraz. Proxmox hiperbisorearen gainean sei makina birtual exekutatzen ditugu. Bakoitzak funtzio zehatz bat du, isolatua eta indibiduala.
ZG-Gateway gure suebaki nagusia da. ZG-App, PHP aplikazioa eta Redis cachea. ZG-Data, PostgreSQL 16ko datu-basea. ZG-SecOps, segurtasun-zentroa: Wazuh SIEM eta honepotak. ZG-OT, ekoizpen-lerroko PLC sistema. Eta ZG-Client, langileek erabiltzen duten estazioa IsardVDI bidez.
Guztia, azpian, Ansible-rekin automatizatuta dago. Konfigurazio-fitxategi bakarrean aldaketa bat eginez, azpiegitura osoa eguneratzen da minutu gutxitan. Erroreak gutxitzen dira, denbora aurrezten da, eta auditoria errazten da.
Horixe da segurtasun industriala: ez soilik teknika berriak, baizik eta prozesu sendoak.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- 7. DIAPOSITIBA (3 min)
Segurtasun arkitektura aztertu dugu. Baina segurtasuna ez da soilik suebakiak eta VLANak. Eguneroko langileak erabiltzen dituzten tresnak ere babestuta egon behar dira.
Ezkerrean ikusten duzuen RRHH portala zuen ehun eta hogei langileek erabiliko dute: oporrak eskatzeko, nomina ikusteko, dokumentuak deskargatzeko. Baina ez da edozein web-orri. Barruan hiru autentifikazio-geruza ditu: pasahitza, bigarren faktore bat telefonoan, eta WebAuthn gakoa. Erabiltzaile bakoitzak soilik bere informaziora du sarbidea, RBAC sisteman definitutako bost rolen arabera.
Eskuinean, app mugikorra. Android-erako, Kotlin-en idatzia, segurtasun-protokolo sendoekin: certificate pinning aktibo, hau da, konexio orok ziurtagiri zehatz bat egiaztatu behar du. Man-in-the-Middle erasoak ezinezko egiten da horrela.
Gure printzipioa garbia da: erabiltzaile-esperientzia ona eta segurtasuna ez dira kontrajarriak. Biak batera lor daitezke.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- 8. DIAPOSITIBA (2 min)
Badago printzipio bat zibersegurtasunean garrantzitsua dena: 'Shift Left' deitzen dena. Hau da, segurtasun-arazoak denboran ahalik eta lehenago aurkitzea. Kode-lerro bat idazten den unean, ez produkzioan dagoenean.
Hori da gure garapen-bidearen muina. Bost urrats ditu:
Lehenengoa, kodea idatzi. Bigarrena, automatikoki aztertu (SAST). Hirugarrena, Docker edukiontzian eraiki eta sinatu. Laugarrena, DAST eraso-simulakroarekin probatu. Bosgarrena, produkziora bidali, zifratu eta babestuta.
Emaitza: Arazo bat produkzioan konpontzeak 100 aldiz gehiago kostatzen du kodean konpontzeak baino. Gure pipeline-ak gastu hori aurreratzen du, eta zuen negozioari diru eta denbora aurrezten 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- 9. DIAPOSITIBA (3 min)
Segurtasun-talde batek eraikitako sistema probatu beharra dago. Guk geuk probatu dugu. Pentesting profesional bat egin dugu, PTES metodologia erabiliz.
Eta emaitzak? Arazo kritikoa, CVSS 9.0 puntutik gora: ZERO. Hau sektorearen batez bestekoa baino askoz hobea da. Arazo garrantzitsu bi aurkitu genituen, biak jadanik konponduta. Lau ertain eta hiru txiki, denak kontrolpean.
Aurkikuntza interesgarriena: dev.zabala-gailetak.com eta staging.zabala-gailetak.com azpi-domeinu publikoak Interneten ikusgai zeuden. Informazio pertsonala ez zegoen arriskuan, baina hacker batek informazio baliotsuak ateratzen zituen han. Konponduta dago.
WiFi auditorian, lau sareen eszénario probatu genituen. Gure gomendio nagusia WPA3-Enterprise inplementatzea da, 802.1X autentifikazioarekin. Enpresa-mailako babes estandarra lortuko litzateke horrela.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- 10. DIAPOSITIBA (2 min)
Defentsak finkatu ditugu. Baina segurtasunean ez dago 'konfiguratu eta ahaztu' soluzioa. Etengabe ikusi behar da zer gertatzen den.
Horretarako, Wazuh SIEM sisteman inbertitu dugu, ELK Stack-arekin (Elasticsearch, Logstash, Kibana) integratuta. Zer egiten du honek? Zuen azpiegituran gertatzen den dena ikusten du: suebakia, zerbitzariak, web aplikazioa, OT gailuak... dena aldi berean.
Alerta-sistema automatikoa dago. Erabiltzaile batek bost aldiz pasahitz okerra sartzen badu minutu batean, automatikoki blokeatzen da. Fitxategi kritiko bat aldatzen bada, jakinarazpena dator segundoak. OT sarean eskaner bat detektatzen bada, alarma jotzen du.
Kibana panelaren bidez, segurtasun-arduradunak pantaila batetik ikusten du dena. Ez da soilik ikustea: azkar ikustea da gakoa.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- 11. DIAPOSITIBA (2 min)
Bi gauza gehiago ikusiko ditugu orain: honeypot tranpak eta gure erantzun-plana.
Honeypot bat sistema faltsu bat da, erasotzailearentzat erakargarria dirudiena, baina errealean tranpa bat. Cowrie-k SSH saio guztiak grabatzen ditu: erasotzaileek zer komando sartzen dituzten ikusi dezakegu. Conpot-ek PLC bat simulatzen du: hacker industrialak erakarriko ditu. T-Pot plataformak analisi automatikoa egiten du: nondik etor diren, zer pasahitz probatzen dituzten, malware-laginak biltzen.
Eta zerbait okerrera badoa? Erantzun-plana aktibo jartzen da. Lehen 24 orduetan, jakinarazpena. 72 ordutan, NIS2 txosten ofiziala autoritate eskudunari. Ondoren, berreskurapena eta forentse-analisia: zer gertatu zen, nola, eta nola saihestu etorkizunean.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- 12. DIAPOSITIBA (3 min)
Orain hizkuntzaz aldatuko gara: teknikatik legegintzara. CEOrentzat eta Zuzendaritzarentzat mezurik garrantzitsuena honakoa da: RGPD eta NIS2 ez dira aukera. Araudia da. Ez betetzeak zigorrak ekar ditzake.
Hiru arau-esparru garrantzitsu ditu Zabala Gailetak:
Lehena, NIS2 Direktiba Europarra. Enpresa 'Garrantzitsu' gisa sailkatuta dago. Honek esan nahi du: incidente larri bat gertatzen bada, 24 ordutan jakinarazi behar duzue autoritate eskudunari, eta 72 ordutan txosten osoa. Betetze-data? 2026ko urria. Gaur, %60etan gaude. Bide-orria argia da.
Bigarrena, RGPD/GDPR. %100eko betetzea dugu jadanik. Langile eta bezeroen datuak babestuta daude.
Hirugarrena, IEC 62443. OT sarea Purdue Ereduarekin egituratuta. Gaur SL2 lortu dugu. Hurrengo pausoa SL3 da sistema kritikoetarako.
Eta gainera, ISO 27001:2022 estandarrean 87 kontrol 93tatik aktibo ditugu. Sektorearen gailurrean gaude.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- 13. DIAPOSITIBA (2 min)
Segurtasun-inbertsioak zergatik merezi duen ulertzeko, zifrak behar dira.
NIS2 Direktibak Zabala Gailetak bezalako enpresa bat isun-arriskuan jartzen du: fakturazioa %2ra arte. Hori 10 milioi eurotik gora egon daiteke. Incidente bakar batek ekar dezakeen kostua, isunaz gain, erreputazioa, bezero galtzea eta prentsa negatiboa gehituz gero.
Gure inbertsioak arrisku hori kudeatzea du helburu. Ez da segurtasuna soilik: da arrisku finantzarioa minimizatzea.
Bide-orriaren aldetik, Q1 berdea da: NIS2 hasierako auditoriak eta MFA inplementazioa jadanik eginda. Q2an, EDR sistema, SIEM 24/7 eta CSIRT barne-taldea. Q3an, SL3 IEC 62443rako eta pentest urtekoa. Q4an, urriaren 17an, NIS2 betetze osoa.
Dena planifikatuta dago. Dena neurgarria da. Dena zuen negozioaren etorkizunaren alde doa.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HIZLARIAREN GIDOIA - 14. DIAPOSITIBA (3 min)
Laburbilduz, jaun-andreok.
Zabala Gailetak proiektu honetan lortu genuena ez da soilik teknika. Negozio baten etorkizuna babestu dugu.
Industria 4.0rako saltoa lasaitasunez egin dezakezue orain: bulegoko ordenagailua eta galletagintzako PLC isolatuta daude, baina elkar komunikatzen dira era seguruan. Ehun eta hogei langileek tresna digitalak dituzte, babestuta eta erabilterrazak. SIEM sistema 24/7 aktibo dago, zaintzen eta alertatzen.
Legez, RGPD beteta dago. NIS2 bidean, urriaren 17rako prest. IEC 62443n SL2 lortu dugu, SL3rako bidean.
Eta probatu dugu: pentestingak 0 arazo kritiko erakutsi du. Ez da zorte kontua; planaren emaitza da.
Hemen gelditzen naiz. Galderak? Zabala Gailetak-en segurtasun-etorkizunaz hitz egiteko prest gaude.
Eskerrik asko.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4A"/>
        </a:solidFill>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1A3F63"/>
          </a:solidFill>
          <a:ln w="12700">
            <a:solidFill>
              <a:srgbClr val="1A3F63"/>
            </a:solidFill>
            <a:prstDash val="solid"/>
          </a:ln>
        </p:spPr>
      </p:sp>
      <p:sp>
        <p:nvSpPr>
          <p:cNvPr id="3" name="Shape 1"/>
          <p:cNvSpPr/>
          <p:nvPr/>
        </p:nvSpPr>
        <p:spPr>
          <a:xfrm>
            <a:off x="8823960" y="0"/>
            <a:ext cx="320040" cy="5143500"/>
          </a:xfrm>
          <a:prstGeom prst="rect">
            <a:avLst/>
          </a:prstGeom>
          <a:solidFill>
            <a:srgbClr val="C8A96E"/>
          </a:solidFill>
          <a:ln w="12700">
            <a:solidFill>
              <a:srgbClr val="C8A96E"/>
            </a:solidFill>
            <a:prstDash val="solid"/>
          </a:ln>
        </p:spPr>
      </p:sp>
      <p:sp>
        <p:nvSpPr>
          <p:cNvPr id="4" name="Shape 2"/>
          <p:cNvSpPr/>
          <p:nvPr/>
        </p:nvSpPr>
        <p:spPr>
          <a:xfrm>
            <a:off x="0" y="4681728"/>
            <a:ext cx="6858000" cy="54864"/>
          </a:xfrm>
          <a:prstGeom prst="rect">
            <a:avLst/>
          </a:prstGeom>
          <a:solidFill>
            <a:srgbClr val="C8A96E"/>
          </a:solidFill>
          <a:ln w="12700">
            <a:solidFill>
              <a:srgbClr val="C8A96E"/>
            </a:solidFill>
            <a:prstDash val="solid"/>
          </a:ln>
        </p:spPr>
      </p:sp>
      <p:sp>
        <p:nvSpPr>
          <p:cNvPr id="5" name="Text 3"/>
          <p:cNvSpPr/>
          <p:nvPr/>
        </p:nvSpPr>
        <p:spPr>
          <a:xfrm>
            <a:off x="457200" y="594360"/>
            <a:ext cx="6126480" cy="274320"/>
          </a:xfrm>
          <a:prstGeom prst="rect">
            <a:avLst/>
          </a:prstGeom>
          <a:noFill/>
          <a:ln/>
        </p:spPr>
        <p:txBody>
          <a:bodyPr wrap="square" rtlCol="0" anchor="ctr"/>
          <a:lstStyle/>
          <a:p>
            <a:pPr indent="0" marL="0">
              <a:buNone/>
            </a:pPr>
            <a:r>
              <a:rPr lang="en-US" sz="1000" b="1" spc="400" kern="0" dirty="0">
                <a:solidFill>
                  <a:srgbClr val="C8A96E"/>
                </a:solidFill>
                <a:latin typeface="Calibri" pitchFamily="34" charset="0"/>
                <a:ea typeface="Calibri" pitchFamily="34" charset="-122"/>
                <a:cs typeface="Calibri" pitchFamily="34" charset="-120"/>
              </a:rPr>
              <a:t>ZIBERSEGURTASUN AHOLKULARITZA</a:t>
            </a:r>
            <a:endParaRPr lang="en-US" sz="1000" dirty="0"/>
          </a:p>
        </p:txBody>
      </p:sp>
      <p:sp>
        <p:nvSpPr>
          <p:cNvPr id="6" name="Text 4"/>
          <p:cNvSpPr/>
          <p:nvPr/>
        </p:nvSpPr>
        <p:spPr>
          <a:xfrm>
            <a:off x="457200" y="960120"/>
            <a:ext cx="6126480" cy="868680"/>
          </a:xfrm>
          <a:prstGeom prst="rect">
            <a:avLst/>
          </a:prstGeom>
          <a:noFill/>
          <a:ln/>
        </p:spPr>
        <p:txBody>
          <a:bodyPr wrap="square"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Zabala Gailetak</a:t>
            </a:r>
            <a:endParaRPr lang="en-US" sz="5000" dirty="0"/>
          </a:p>
        </p:txBody>
      </p:sp>
      <p:sp>
        <p:nvSpPr>
          <p:cNvPr id="7" name="Text 5"/>
          <p:cNvSpPr/>
          <p:nvPr/>
        </p:nvSpPr>
        <p:spPr>
          <a:xfrm>
            <a:off x="457200" y="1828800"/>
            <a:ext cx="6126480" cy="685800"/>
          </a:xfrm>
          <a:prstGeom prst="rect">
            <a:avLst/>
          </a:prstGeom>
          <a:noFill/>
          <a:ln/>
        </p:spPr>
        <p:txBody>
          <a:bodyPr wrap="square" rtlCol="0" anchor="ctr"/>
          <a:lstStyle/>
          <a:p>
            <a:pPr indent="0" marL="0">
              <a:buNone/>
            </a:pPr>
            <a:r>
              <a:rPr lang="en-US" sz="3600" i="1" dirty="0">
                <a:solidFill>
                  <a:srgbClr val="C8A96E"/>
                </a:solidFill>
                <a:latin typeface="Georgia" pitchFamily="34" charset="0"/>
                <a:ea typeface="Georgia" pitchFamily="34" charset="-122"/>
                <a:cs typeface="Georgia" pitchFamily="34" charset="-120"/>
              </a:rPr>
              <a:t>Digital Segurtatuta</a:t>
            </a:r>
            <a:endParaRPr lang="en-US" sz="3600" dirty="0"/>
          </a:p>
        </p:txBody>
      </p:sp>
      <p:sp>
        <p:nvSpPr>
          <p:cNvPr id="8" name="Shape 6"/>
          <p:cNvSpPr/>
          <p:nvPr/>
        </p:nvSpPr>
        <p:spPr>
          <a:xfrm>
            <a:off x="457200" y="2633472"/>
            <a:ext cx="2011680" cy="45720"/>
          </a:xfrm>
          <a:prstGeom prst="rect">
            <a:avLst/>
          </a:prstGeom>
          <a:solidFill>
            <a:srgbClr val="C8A96E"/>
          </a:solidFill>
          <a:ln w="12700">
            <a:solidFill>
              <a:srgbClr val="C8A96E"/>
            </a:solidFill>
            <a:prstDash val="solid"/>
          </a:ln>
        </p:spPr>
      </p:sp>
      <p:sp>
        <p:nvSpPr>
          <p:cNvPr id="9" name="Text 7"/>
          <p:cNvSpPr/>
          <p:nvPr/>
        </p:nvSpPr>
        <p:spPr>
          <a:xfrm>
            <a:off x="457200" y="2788920"/>
            <a:ext cx="6126480" cy="320040"/>
          </a:xfrm>
          <a:prstGeom prst="rect">
            <a:avLst/>
          </a:prstGeom>
          <a:noFill/>
          <a:ln/>
        </p:spPr>
        <p:txBody>
          <a:bodyPr wrap="square" rtlCol="0" anchor="ctr"/>
          <a:lstStyle/>
          <a:p>
            <a:pPr indent="0" marL="0">
              <a:buNone/>
            </a:pPr>
            <a:r>
              <a:rPr lang="en-US" sz="1600" dirty="0">
                <a:solidFill>
                  <a:srgbClr val="B0C4D8"/>
                </a:solidFill>
                <a:latin typeface="Calibri" pitchFamily="34" charset="0"/>
                <a:ea typeface="Calibri" pitchFamily="34" charset="-122"/>
                <a:cs typeface="Calibri" pitchFamily="34" charset="-120"/>
              </a:rPr>
              <a:t>Proiektuaren Entrega Exekutiboa</a:t>
            </a:r>
            <a:endParaRPr lang="en-US" sz="1600" dirty="0"/>
          </a:p>
        </p:txBody>
      </p:sp>
      <p:sp>
        <p:nvSpPr>
          <p:cNvPr id="10" name="Text 8"/>
          <p:cNvSpPr/>
          <p:nvPr/>
        </p:nvSpPr>
        <p:spPr>
          <a:xfrm>
            <a:off x="457200" y="3154680"/>
            <a:ext cx="612648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2026ko Otsaila  ·  Zuzendaritza Batzordeari Aurkezpena</a:t>
            </a:r>
            <a:endParaRPr lang="en-US" sz="1200" dirty="0"/>
          </a:p>
        </p:txBody>
      </p:sp>
      <p:sp>
        <p:nvSpPr>
          <p:cNvPr id="11" name="Text 9"/>
          <p:cNvSpPr/>
          <p:nvPr/>
        </p:nvSpPr>
        <p:spPr>
          <a:xfrm>
            <a:off x="6995160" y="502920"/>
            <a:ext cx="1691640" cy="685800"/>
          </a:xfrm>
          <a:prstGeom prst="rect">
            <a:avLst/>
          </a:prstGeom>
          <a:noFill/>
          <a:ln/>
        </p:spPr>
        <p:txBody>
          <a:bodyPr wrap="square" rtlCol="0" anchor="ctr"/>
          <a:lstStyle/>
          <a:p>
            <a:pPr algn="ctr" indent="0" marL="0">
              <a:buNone/>
            </a:pPr>
            <a:r>
              <a:rPr lang="en-US" sz="1000" b="1" spc="100" kern="0" dirty="0">
                <a:solidFill>
                  <a:srgbClr val="C8A96E"/>
                </a:solidFill>
                <a:latin typeface="Calibri" pitchFamily="34" charset="0"/>
                <a:ea typeface="Calibri" pitchFamily="34" charset="-122"/>
                <a:cs typeface="Calibri" pitchFamily="34" charset="-120"/>
              </a:rPr>
              <a:t>PROIEKTU</a:t>
            </a:r>
            <a:endParaRPr lang="en-US" sz="1000" dirty="0"/>
          </a:p>
          <a:p>
            <a:pPr algn="ctr" indent="0" marL="0">
              <a:buNone/>
            </a:pPr>
            <a:r>
              <a:rPr lang="en-US" sz="1000" b="1" spc="100" kern="0" dirty="0">
                <a:solidFill>
                  <a:srgbClr val="C8A96E"/>
                </a:solidFill>
                <a:latin typeface="Calibri" pitchFamily="34" charset="0"/>
                <a:ea typeface="Calibri" pitchFamily="34" charset="-122"/>
                <a:cs typeface="Calibri" pitchFamily="34" charset="-120"/>
              </a:rPr>
              <a:t>LABURPENA</a:t>
            </a:r>
            <a:endParaRPr lang="en-US" sz="1000" dirty="0"/>
          </a:p>
        </p:txBody>
      </p:sp>
      <p:sp>
        <p:nvSpPr>
          <p:cNvPr id="12" name="Text 10"/>
          <p:cNvSpPr/>
          <p:nvPr/>
        </p:nvSpPr>
        <p:spPr>
          <a:xfrm>
            <a:off x="6995160" y="1371600"/>
            <a:ext cx="1691640" cy="47548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6</a:t>
            </a:r>
            <a:endParaRPr lang="en-US" sz="2800" dirty="0"/>
          </a:p>
        </p:txBody>
      </p:sp>
      <p:sp>
        <p:nvSpPr>
          <p:cNvPr id="13" name="Text 11"/>
          <p:cNvSpPr/>
          <p:nvPr/>
        </p:nvSpPr>
        <p:spPr>
          <a:xfrm>
            <a:off x="6995160" y="1847088"/>
            <a:ext cx="1691640" cy="347472"/>
          </a:xfrm>
          <a:prstGeom prst="rect">
            <a:avLst/>
          </a:prstGeom>
          <a:noFill/>
          <a:ln/>
        </p:spPr>
        <p:txBody>
          <a:bodyPr wrap="square" rtlCol="0" anchor="ctr"/>
          <a:lstStyle/>
          <a:p>
            <a:pPr algn="ctr" indent="0" marL="0">
              <a:buNone/>
            </a:pPr>
            <a:r>
              <a:rPr lang="en-US" sz="900" dirty="0">
                <a:solidFill>
                  <a:srgbClr val="B0C4D8"/>
                </a:solidFill>
                <a:latin typeface="Calibri" pitchFamily="34" charset="0"/>
                <a:ea typeface="Calibri" pitchFamily="34" charset="-122"/>
                <a:cs typeface="Calibri" pitchFamily="34" charset="-120"/>
              </a:rPr>
              <a:t>Modulu</a:t>
            </a:r>
            <a:endParaRPr lang="en-US" sz="900" dirty="0"/>
          </a:p>
          <a:p>
            <a:pPr algn="ctr" indent="0" marL="0">
              <a:buNone/>
            </a:pPr>
            <a:r>
              <a:rPr lang="en-US" sz="900" dirty="0">
                <a:solidFill>
                  <a:srgbClr val="B0C4D8"/>
                </a:solidFill>
                <a:latin typeface="Calibri" pitchFamily="34" charset="0"/>
                <a:ea typeface="Calibri" pitchFamily="34" charset="-122"/>
                <a:cs typeface="Calibri" pitchFamily="34" charset="-120"/>
              </a:rPr>
              <a:t>Seguritate</a:t>
            </a:r>
            <a:endParaRPr lang="en-US" sz="900" dirty="0"/>
          </a:p>
        </p:txBody>
      </p:sp>
      <p:sp>
        <p:nvSpPr>
          <p:cNvPr id="14" name="Text 12"/>
          <p:cNvSpPr/>
          <p:nvPr/>
        </p:nvSpPr>
        <p:spPr>
          <a:xfrm>
            <a:off x="6995160" y="2267712"/>
            <a:ext cx="1691640" cy="47548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14</a:t>
            </a:r>
            <a:endParaRPr lang="en-US" sz="2800" dirty="0"/>
          </a:p>
        </p:txBody>
      </p:sp>
      <p:sp>
        <p:nvSpPr>
          <p:cNvPr id="15" name="Text 13"/>
          <p:cNvSpPr/>
          <p:nvPr/>
        </p:nvSpPr>
        <p:spPr>
          <a:xfrm>
            <a:off x="6995160" y="2743200"/>
            <a:ext cx="1691640" cy="347472"/>
          </a:xfrm>
          <a:prstGeom prst="rect">
            <a:avLst/>
          </a:prstGeom>
          <a:noFill/>
          <a:ln/>
        </p:spPr>
        <p:txBody>
          <a:bodyPr wrap="square" rtlCol="0" anchor="ctr"/>
          <a:lstStyle/>
          <a:p>
            <a:pPr algn="ctr" indent="0" marL="0">
              <a:buNone/>
            </a:pPr>
            <a:r>
              <a:rPr lang="en-US" sz="900" dirty="0">
                <a:solidFill>
                  <a:srgbClr val="B0C4D8"/>
                </a:solidFill>
                <a:latin typeface="Calibri" pitchFamily="34" charset="0"/>
                <a:ea typeface="Calibri" pitchFamily="34" charset="-122"/>
                <a:cs typeface="Calibri" pitchFamily="34" charset="-120"/>
              </a:rPr>
              <a:t>Zerbitzari</a:t>
            </a:r>
            <a:endParaRPr lang="en-US" sz="900" dirty="0"/>
          </a:p>
          <a:p>
            <a:pPr algn="ctr" indent="0" marL="0">
              <a:buNone/>
            </a:pPr>
            <a:r>
              <a:rPr lang="en-US" sz="900" dirty="0">
                <a:solidFill>
                  <a:srgbClr val="B0C4D8"/>
                </a:solidFill>
                <a:latin typeface="Calibri" pitchFamily="34" charset="0"/>
                <a:ea typeface="Calibri" pitchFamily="34" charset="-122"/>
                <a:cs typeface="Calibri" pitchFamily="34" charset="-120"/>
              </a:rPr>
              <a:t>VM</a:t>
            </a:r>
            <a:endParaRPr lang="en-US" sz="900" dirty="0"/>
          </a:p>
        </p:txBody>
      </p:sp>
      <p:sp>
        <p:nvSpPr>
          <p:cNvPr id="16" name="Text 14"/>
          <p:cNvSpPr/>
          <p:nvPr/>
        </p:nvSpPr>
        <p:spPr>
          <a:xfrm>
            <a:off x="6995160" y="3163824"/>
            <a:ext cx="1691640" cy="47548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0</a:t>
            </a:r>
            <a:endParaRPr lang="en-US" sz="2800" dirty="0"/>
          </a:p>
        </p:txBody>
      </p:sp>
      <p:sp>
        <p:nvSpPr>
          <p:cNvPr id="17" name="Text 15"/>
          <p:cNvSpPr/>
          <p:nvPr/>
        </p:nvSpPr>
        <p:spPr>
          <a:xfrm>
            <a:off x="6995160" y="3639312"/>
            <a:ext cx="1691640" cy="347472"/>
          </a:xfrm>
          <a:prstGeom prst="rect">
            <a:avLst/>
          </a:prstGeom>
          <a:noFill/>
          <a:ln/>
        </p:spPr>
        <p:txBody>
          <a:bodyPr wrap="square" rtlCol="0" anchor="ctr"/>
          <a:lstStyle/>
          <a:p>
            <a:pPr algn="ctr" indent="0" marL="0">
              <a:buNone/>
            </a:pPr>
            <a:r>
              <a:rPr lang="en-US" sz="900" dirty="0">
                <a:solidFill>
                  <a:srgbClr val="B0C4D8"/>
                </a:solidFill>
                <a:latin typeface="Calibri" pitchFamily="34" charset="0"/>
                <a:ea typeface="Calibri" pitchFamily="34" charset="-122"/>
                <a:cs typeface="Calibri" pitchFamily="34" charset="-120"/>
              </a:rPr>
              <a:t>Arazo</a:t>
            </a:r>
            <a:endParaRPr lang="en-US" sz="900" dirty="0"/>
          </a:p>
          <a:p>
            <a:pPr algn="ctr" indent="0" marL="0">
              <a:buNone/>
            </a:pPr>
            <a:r>
              <a:rPr lang="en-US" sz="900" dirty="0">
                <a:solidFill>
                  <a:srgbClr val="B0C4D8"/>
                </a:solidFill>
                <a:latin typeface="Calibri" pitchFamily="34" charset="0"/>
                <a:ea typeface="Calibri" pitchFamily="34" charset="-122"/>
                <a:cs typeface="Calibri" pitchFamily="34" charset="-120"/>
              </a:rPr>
              <a:t>Kritiko</a:t>
            </a:r>
            <a:endParaRPr lang="en-US" sz="900" dirty="0"/>
          </a:p>
        </p:txBody>
      </p:sp>
      <p:sp>
        <p:nvSpPr>
          <p:cNvPr id="18" name="Text 16"/>
          <p:cNvSpPr/>
          <p:nvPr/>
        </p:nvSpPr>
        <p:spPr>
          <a:xfrm>
            <a:off x="6995160" y="4059936"/>
            <a:ext cx="1691640" cy="47548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93%</a:t>
            </a:r>
            <a:endParaRPr lang="en-US" sz="2800" dirty="0"/>
          </a:p>
        </p:txBody>
      </p:sp>
      <p:sp>
        <p:nvSpPr>
          <p:cNvPr id="19" name="Text 17"/>
          <p:cNvSpPr/>
          <p:nvPr/>
        </p:nvSpPr>
        <p:spPr>
          <a:xfrm>
            <a:off x="6995160" y="4535424"/>
            <a:ext cx="1691640" cy="347472"/>
          </a:xfrm>
          <a:prstGeom prst="rect">
            <a:avLst/>
          </a:prstGeom>
          <a:noFill/>
          <a:ln/>
        </p:spPr>
        <p:txBody>
          <a:bodyPr wrap="square" rtlCol="0" anchor="ctr"/>
          <a:lstStyle/>
          <a:p>
            <a:pPr algn="ctr" indent="0" marL="0">
              <a:buNone/>
            </a:pPr>
            <a:r>
              <a:rPr lang="en-US" sz="900" dirty="0">
                <a:solidFill>
                  <a:srgbClr val="B0C4D8"/>
                </a:solidFill>
                <a:latin typeface="Calibri" pitchFamily="34" charset="0"/>
                <a:ea typeface="Calibri" pitchFamily="34" charset="-122"/>
                <a:cs typeface="Calibri" pitchFamily="34" charset="-120"/>
              </a:rPr>
              <a:t>ISO 27001</a:t>
            </a:r>
            <a:endParaRPr lang="en-US" sz="900" dirty="0"/>
          </a:p>
          <a:p>
            <a:pPr algn="ctr" indent="0" marL="0">
              <a:buNone/>
            </a:pPr>
            <a:r>
              <a:rPr lang="en-US" sz="900" dirty="0">
                <a:solidFill>
                  <a:srgbClr val="B0C4D8"/>
                </a:solidFill>
                <a:latin typeface="Calibri" pitchFamily="34" charset="0"/>
                <a:ea typeface="Calibri" pitchFamily="34" charset="-122"/>
                <a:cs typeface="Calibri" pitchFamily="34" charset="-120"/>
              </a:rPr>
              <a:t>Betetzea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01 · TESTUINGURUA ETA ERRONKA</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Zabala Gailetak eta Industria 4.0: Transformazioaren Argia eta Itzala</a:t>
            </a:r>
            <a:endParaRPr lang="en-US" sz="2400" dirty="0"/>
          </a:p>
        </p:txBody>
      </p:sp>
      <p:sp>
        <p:nvSpPr>
          <p:cNvPr id="5" name="Shape 3"/>
          <p:cNvSpPr/>
          <p:nvPr/>
        </p:nvSpPr>
        <p:spPr>
          <a:xfrm>
            <a:off x="347472" y="1298448"/>
            <a:ext cx="457200" cy="457200"/>
          </a:xfrm>
          <a:prstGeom prst="ellipse">
            <a:avLst/>
          </a:prstGeom>
          <a:solidFill>
            <a:srgbClr val="0F2D4A"/>
          </a:solidFill>
          <a:ln w="12700">
            <a:solidFill>
              <a:srgbClr val="0F2D4A"/>
            </a:solidFill>
            <a:prstDash val="solid"/>
          </a:ln>
        </p:spPr>
      </p:sp>
      <p:sp>
        <p:nvSpPr>
          <p:cNvPr id="6" name="Text 4"/>
          <p:cNvSpPr/>
          <p:nvPr/>
        </p:nvSpPr>
        <p:spPr>
          <a:xfrm>
            <a:off x="347472" y="1307592"/>
            <a:ext cx="457200" cy="438912"/>
          </a:xfrm>
          <a:prstGeom prst="rect">
            <a:avLst/>
          </a:prstGeom>
          <a:noFill/>
          <a:ln/>
        </p:spPr>
        <p:txBody>
          <a:bodyPr wrap="square" rtlCol="0" anchor="ctr"/>
          <a:lstStyle/>
          <a:p>
            <a:pPr algn="ctr" indent="0" marL="0">
              <a:buNone/>
            </a:pPr>
            <a:r>
              <a:rPr lang="en-US" sz="1300" b="1" dirty="0">
                <a:solidFill>
                  <a:srgbClr val="C8A96E"/>
                </a:solidFill>
                <a:latin typeface="Calibri" pitchFamily="34" charset="0"/>
                <a:ea typeface="Calibri" pitchFamily="34" charset="-122"/>
                <a:cs typeface="Calibri" pitchFamily="34" charset="-120"/>
              </a:rPr>
              <a:t>01</a:t>
            </a:r>
            <a:endParaRPr lang="en-US" sz="1300" dirty="0"/>
          </a:p>
        </p:txBody>
      </p:sp>
      <p:sp>
        <p:nvSpPr>
          <p:cNvPr id="7" name="Shape 5"/>
          <p:cNvSpPr/>
          <p:nvPr/>
        </p:nvSpPr>
        <p:spPr>
          <a:xfrm>
            <a:off x="576072" y="1755648"/>
            <a:ext cx="0" cy="621792"/>
          </a:xfrm>
          <a:prstGeom prst="line">
            <a:avLst/>
          </a:prstGeom>
          <a:noFill/>
          <a:ln w="25400">
            <a:solidFill>
              <a:srgbClr val="C8A96E"/>
            </a:solidFill>
            <a:prstDash val="dash"/>
          </a:ln>
        </p:spPr>
      </p:sp>
      <p:sp>
        <p:nvSpPr>
          <p:cNvPr id="8" name="Text 6"/>
          <p:cNvSpPr/>
          <p:nvPr/>
        </p:nvSpPr>
        <p:spPr>
          <a:xfrm>
            <a:off x="932688" y="1298448"/>
            <a:ext cx="3611880" cy="292608"/>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Ekoizpen Tradizionala</a:t>
            </a:r>
            <a:endParaRPr lang="en-US" sz="1400" dirty="0"/>
          </a:p>
        </p:txBody>
      </p:sp>
      <p:sp>
        <p:nvSpPr>
          <p:cNvPr id="9" name="Text 7"/>
          <p:cNvSpPr/>
          <p:nvPr/>
        </p:nvSpPr>
        <p:spPr>
          <a:xfrm>
            <a:off x="932688" y="1600200"/>
            <a:ext cx="3611880" cy="43891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Fabrika isolatua, makineria analogikoa, paper-erregistroak eta prozesu manuala</a:t>
            </a:r>
            <a:endParaRPr lang="en-US" sz="1100" dirty="0"/>
          </a:p>
        </p:txBody>
      </p:sp>
      <p:sp>
        <p:nvSpPr>
          <p:cNvPr id="10" name="Shape 8"/>
          <p:cNvSpPr/>
          <p:nvPr/>
        </p:nvSpPr>
        <p:spPr>
          <a:xfrm>
            <a:off x="347472" y="2377440"/>
            <a:ext cx="457200" cy="457200"/>
          </a:xfrm>
          <a:prstGeom prst="ellipse">
            <a:avLst/>
          </a:prstGeom>
          <a:solidFill>
            <a:srgbClr val="0F2D4A"/>
          </a:solidFill>
          <a:ln w="12700">
            <a:solidFill>
              <a:srgbClr val="0F2D4A"/>
            </a:solidFill>
            <a:prstDash val="solid"/>
          </a:ln>
        </p:spPr>
      </p:sp>
      <p:sp>
        <p:nvSpPr>
          <p:cNvPr id="11" name="Text 9"/>
          <p:cNvSpPr/>
          <p:nvPr/>
        </p:nvSpPr>
        <p:spPr>
          <a:xfrm>
            <a:off x="347472" y="2386584"/>
            <a:ext cx="457200" cy="438912"/>
          </a:xfrm>
          <a:prstGeom prst="rect">
            <a:avLst/>
          </a:prstGeom>
          <a:noFill/>
          <a:ln/>
        </p:spPr>
        <p:txBody>
          <a:bodyPr wrap="square" rtlCol="0" anchor="ctr"/>
          <a:lstStyle/>
          <a:p>
            <a:pPr algn="ctr" indent="0" marL="0">
              <a:buNone/>
            </a:pPr>
            <a:r>
              <a:rPr lang="en-US" sz="1300" b="1" dirty="0">
                <a:solidFill>
                  <a:srgbClr val="C8A96E"/>
                </a:solidFill>
                <a:latin typeface="Calibri" pitchFamily="34" charset="0"/>
                <a:ea typeface="Calibri" pitchFamily="34" charset="-122"/>
                <a:cs typeface="Calibri" pitchFamily="34" charset="-120"/>
              </a:rPr>
              <a:t>02</a:t>
            </a:r>
            <a:endParaRPr lang="en-US" sz="1300" dirty="0"/>
          </a:p>
        </p:txBody>
      </p:sp>
      <p:sp>
        <p:nvSpPr>
          <p:cNvPr id="12" name="Shape 10"/>
          <p:cNvSpPr/>
          <p:nvPr/>
        </p:nvSpPr>
        <p:spPr>
          <a:xfrm>
            <a:off x="576072" y="2834640"/>
            <a:ext cx="0" cy="621792"/>
          </a:xfrm>
          <a:prstGeom prst="line">
            <a:avLst/>
          </a:prstGeom>
          <a:noFill/>
          <a:ln w="25400">
            <a:solidFill>
              <a:srgbClr val="C8A96E"/>
            </a:solidFill>
            <a:prstDash val="dash"/>
          </a:ln>
        </p:spPr>
      </p:sp>
      <p:sp>
        <p:nvSpPr>
          <p:cNvPr id="13" name="Text 11"/>
          <p:cNvSpPr/>
          <p:nvPr/>
        </p:nvSpPr>
        <p:spPr>
          <a:xfrm>
            <a:off x="932688" y="2377440"/>
            <a:ext cx="3611880" cy="292608"/>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Digitalizazio Hasiera</a:t>
            </a:r>
            <a:endParaRPr lang="en-US" sz="1400" dirty="0"/>
          </a:p>
        </p:txBody>
      </p:sp>
      <p:sp>
        <p:nvSpPr>
          <p:cNvPr id="14" name="Text 12"/>
          <p:cNvSpPr/>
          <p:nvPr/>
        </p:nvSpPr>
        <p:spPr>
          <a:xfrm>
            <a:off x="932688" y="2679192"/>
            <a:ext cx="3611880" cy="43891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OpenPLC kontrolagailua, SCADA HMI sistema eta bulegoko sare konektatu berria</a:t>
            </a:r>
            <a:endParaRPr lang="en-US" sz="1100" dirty="0"/>
          </a:p>
        </p:txBody>
      </p:sp>
      <p:sp>
        <p:nvSpPr>
          <p:cNvPr id="15" name="Shape 13"/>
          <p:cNvSpPr/>
          <p:nvPr/>
        </p:nvSpPr>
        <p:spPr>
          <a:xfrm>
            <a:off x="347472" y="3456432"/>
            <a:ext cx="457200" cy="457200"/>
          </a:xfrm>
          <a:prstGeom prst="ellipse">
            <a:avLst/>
          </a:prstGeom>
          <a:solidFill>
            <a:srgbClr val="0F2D4A"/>
          </a:solidFill>
          <a:ln w="12700">
            <a:solidFill>
              <a:srgbClr val="0F2D4A"/>
            </a:solidFill>
            <a:prstDash val="solid"/>
          </a:ln>
        </p:spPr>
      </p:sp>
      <p:sp>
        <p:nvSpPr>
          <p:cNvPr id="16" name="Text 14"/>
          <p:cNvSpPr/>
          <p:nvPr/>
        </p:nvSpPr>
        <p:spPr>
          <a:xfrm>
            <a:off x="347472" y="3465576"/>
            <a:ext cx="457200" cy="438912"/>
          </a:xfrm>
          <a:prstGeom prst="rect">
            <a:avLst/>
          </a:prstGeom>
          <a:noFill/>
          <a:ln/>
        </p:spPr>
        <p:txBody>
          <a:bodyPr wrap="square" rtlCol="0" anchor="ctr"/>
          <a:lstStyle/>
          <a:p>
            <a:pPr algn="ctr" indent="0" marL="0">
              <a:buNone/>
            </a:pPr>
            <a:r>
              <a:rPr lang="en-US" sz="1300" b="1" dirty="0">
                <a:solidFill>
                  <a:srgbClr val="C8A96E"/>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932688" y="3456432"/>
            <a:ext cx="3611880" cy="292608"/>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Industria 4.0 Gaur</a:t>
            </a:r>
            <a:endParaRPr lang="en-US" sz="1400" dirty="0"/>
          </a:p>
        </p:txBody>
      </p:sp>
      <p:sp>
        <p:nvSpPr>
          <p:cNvPr id="18" name="Text 16"/>
          <p:cNvSpPr/>
          <p:nvPr/>
        </p:nvSpPr>
        <p:spPr>
          <a:xfrm>
            <a:off x="932688" y="3758184"/>
            <a:ext cx="3611880" cy="43891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Cloud zerbitzuak, app mugikorra, RRHH portala eta denbora errealeko datu-elkartrukea</a:t>
            </a:r>
            <a:endParaRPr lang="en-US" sz="1100" dirty="0"/>
          </a:p>
        </p:txBody>
      </p:sp>
      <p:sp>
        <p:nvSpPr>
          <p:cNvPr id="19" name="Shape 17"/>
          <p:cNvSpPr/>
          <p:nvPr/>
        </p:nvSpPr>
        <p:spPr>
          <a:xfrm>
            <a:off x="5074920" y="1261872"/>
            <a:ext cx="3749040" cy="3520440"/>
          </a:xfrm>
          <a:prstGeom prst="rect">
            <a:avLst/>
          </a:prstGeom>
          <a:solidFill>
            <a:srgbClr val="0F2D4A"/>
          </a:solidFill>
          <a:ln w="12700">
            <a:solidFill>
              <a:srgbClr val="0F2D4A"/>
            </a:solidFill>
            <a:prstDash val="solid"/>
          </a:ln>
          <a:effectLst>
            <a:outerShdw sx="100000" sy="100000" kx="0" ky="0" algn="bl" rotWithShape="0" blurRad="101600" dist="38100" dir="8100000">
              <a:srgbClr val="000000">
                <a:alpha val="15000"/>
              </a:srgbClr>
            </a:outerShdw>
          </a:effectLst>
        </p:spPr>
      </p:sp>
      <p:sp>
        <p:nvSpPr>
          <p:cNvPr id="20" name="Text 18"/>
          <p:cNvSpPr/>
          <p:nvPr/>
        </p:nvSpPr>
        <p:spPr>
          <a:xfrm>
            <a:off x="5212080" y="1389888"/>
            <a:ext cx="3474720" cy="530352"/>
          </a:xfrm>
          <a:prstGeom prst="rect">
            <a:avLst/>
          </a:prstGeom>
          <a:noFill/>
          <a:ln/>
        </p:spPr>
        <p:txBody>
          <a:bodyPr wrap="square" rtlCol="0" anchor="ctr"/>
          <a:lstStyle/>
          <a:p>
            <a:pPr algn="ctr" indent="0" marL="0">
              <a:buNone/>
            </a:pPr>
            <a:r>
              <a:rPr lang="en-US" sz="1100" b="1" spc="200" kern="0" dirty="0">
                <a:solidFill>
                  <a:srgbClr val="C8A96E"/>
                </a:solidFill>
                <a:latin typeface="Calibri" pitchFamily="34" charset="0"/>
                <a:ea typeface="Calibri" pitchFamily="34" charset="-122"/>
                <a:cs typeface="Calibri" pitchFamily="34" charset="-120"/>
              </a:rPr>
              <a:t>ZABALA GAILETAK</a:t>
            </a:r>
            <a:endParaRPr lang="en-US" sz="1100" dirty="0"/>
          </a:p>
          <a:p>
            <a:pPr algn="ctr" indent="0" marL="0">
              <a:buNone/>
            </a:pPr>
            <a:r>
              <a:rPr lang="en-US" sz="1100" b="1" spc="200" kern="0" dirty="0">
                <a:solidFill>
                  <a:srgbClr val="C8A96E"/>
                </a:solidFill>
                <a:latin typeface="Calibri" pitchFamily="34" charset="0"/>
                <a:ea typeface="Calibri" pitchFamily="34" charset="-122"/>
                <a:cs typeface="Calibri" pitchFamily="34" charset="-120"/>
              </a:rPr>
              <a:t>EN DATUAK</a:t>
            </a:r>
            <a:endParaRPr lang="en-US" sz="1100" dirty="0"/>
          </a:p>
        </p:txBody>
      </p:sp>
      <p:sp>
        <p:nvSpPr>
          <p:cNvPr id="21" name="Shape 19"/>
          <p:cNvSpPr/>
          <p:nvPr/>
        </p:nvSpPr>
        <p:spPr>
          <a:xfrm>
            <a:off x="5212080" y="2029968"/>
            <a:ext cx="1600200" cy="1097280"/>
          </a:xfrm>
          <a:prstGeom prst="rect">
            <a:avLst/>
          </a:prstGeom>
          <a:solidFill>
            <a:srgbClr val="1A3F63"/>
          </a:solidFill>
          <a:ln w="12700">
            <a:solidFill>
              <a:srgbClr val="1A3F63"/>
            </a:solidFill>
            <a:prstDash val="solid"/>
          </a:ln>
        </p:spPr>
      </p:sp>
      <p:sp>
        <p:nvSpPr>
          <p:cNvPr id="22" name="Text 20"/>
          <p:cNvSpPr/>
          <p:nvPr/>
        </p:nvSpPr>
        <p:spPr>
          <a:xfrm>
            <a:off x="5212080" y="2093976"/>
            <a:ext cx="1600200" cy="59436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120</a:t>
            </a:r>
            <a:endParaRPr lang="en-US" sz="3400" dirty="0"/>
          </a:p>
        </p:txBody>
      </p:sp>
      <p:sp>
        <p:nvSpPr>
          <p:cNvPr id="23" name="Text 21"/>
          <p:cNvSpPr/>
          <p:nvPr/>
        </p:nvSpPr>
        <p:spPr>
          <a:xfrm>
            <a:off x="5212080" y="2697480"/>
            <a:ext cx="1600200" cy="320040"/>
          </a:xfrm>
          <a:prstGeom prst="rect">
            <a:avLst/>
          </a:prstGeom>
          <a:noFill/>
          <a:ln/>
        </p:spPr>
        <p:txBody>
          <a:bodyPr wrap="square" rtlCol="0" anchor="ctr"/>
          <a:lstStyle/>
          <a:p>
            <a:pPr algn="ctr" indent="0" marL="0">
              <a:buNone/>
            </a:pPr>
            <a:r>
              <a:rPr lang="en-US" sz="1100" dirty="0">
                <a:solidFill>
                  <a:srgbClr val="C8A96E"/>
                </a:solidFill>
                <a:latin typeface="Calibri" pitchFamily="34" charset="0"/>
                <a:ea typeface="Calibri" pitchFamily="34" charset="-122"/>
                <a:cs typeface="Calibri" pitchFamily="34" charset="-120"/>
              </a:rPr>
              <a:t>Langile</a:t>
            </a:r>
            <a:endParaRPr lang="en-US" sz="1100" dirty="0"/>
          </a:p>
        </p:txBody>
      </p:sp>
      <p:sp>
        <p:nvSpPr>
          <p:cNvPr id="24" name="Shape 22"/>
          <p:cNvSpPr/>
          <p:nvPr/>
        </p:nvSpPr>
        <p:spPr>
          <a:xfrm>
            <a:off x="6949440" y="2029968"/>
            <a:ext cx="1600200" cy="1097280"/>
          </a:xfrm>
          <a:prstGeom prst="rect">
            <a:avLst/>
          </a:prstGeom>
          <a:solidFill>
            <a:srgbClr val="1A3F63"/>
          </a:solidFill>
          <a:ln w="12700">
            <a:solidFill>
              <a:srgbClr val="1A3F63"/>
            </a:solidFill>
            <a:prstDash val="solid"/>
          </a:ln>
        </p:spPr>
      </p:sp>
      <p:sp>
        <p:nvSpPr>
          <p:cNvPr id="25" name="Text 23"/>
          <p:cNvSpPr/>
          <p:nvPr/>
        </p:nvSpPr>
        <p:spPr>
          <a:xfrm>
            <a:off x="6949440" y="2093976"/>
            <a:ext cx="1600200" cy="59436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3</a:t>
            </a:r>
            <a:endParaRPr lang="en-US" sz="3400" dirty="0"/>
          </a:p>
        </p:txBody>
      </p:sp>
      <p:sp>
        <p:nvSpPr>
          <p:cNvPr id="26" name="Text 24"/>
          <p:cNvSpPr/>
          <p:nvPr/>
        </p:nvSpPr>
        <p:spPr>
          <a:xfrm>
            <a:off x="6949440" y="2697480"/>
            <a:ext cx="1600200" cy="320040"/>
          </a:xfrm>
          <a:prstGeom prst="rect">
            <a:avLst/>
          </a:prstGeom>
          <a:noFill/>
          <a:ln/>
        </p:spPr>
        <p:txBody>
          <a:bodyPr wrap="square" rtlCol="0" anchor="ctr"/>
          <a:lstStyle/>
          <a:p>
            <a:pPr algn="ctr" indent="0" marL="0">
              <a:buNone/>
            </a:pPr>
            <a:r>
              <a:rPr lang="en-US" sz="1100" dirty="0">
                <a:solidFill>
                  <a:srgbClr val="C8A96E"/>
                </a:solidFill>
                <a:latin typeface="Calibri" pitchFamily="34" charset="0"/>
                <a:ea typeface="Calibri" pitchFamily="34" charset="-122"/>
                <a:cs typeface="Calibri" pitchFamily="34" charset="-120"/>
              </a:rPr>
              <a:t>Txanda / Egun</a:t>
            </a:r>
            <a:endParaRPr lang="en-US" sz="1100" dirty="0"/>
          </a:p>
        </p:txBody>
      </p:sp>
      <p:sp>
        <p:nvSpPr>
          <p:cNvPr id="27" name="Shape 25"/>
          <p:cNvSpPr/>
          <p:nvPr/>
        </p:nvSpPr>
        <p:spPr>
          <a:xfrm>
            <a:off x="5212080" y="3328416"/>
            <a:ext cx="1600200" cy="1097280"/>
          </a:xfrm>
          <a:prstGeom prst="rect">
            <a:avLst/>
          </a:prstGeom>
          <a:solidFill>
            <a:srgbClr val="1A3F63"/>
          </a:solidFill>
          <a:ln w="12700">
            <a:solidFill>
              <a:srgbClr val="1A3F63"/>
            </a:solidFill>
            <a:prstDash val="solid"/>
          </a:ln>
        </p:spPr>
      </p:sp>
      <p:sp>
        <p:nvSpPr>
          <p:cNvPr id="28" name="Text 26"/>
          <p:cNvSpPr/>
          <p:nvPr/>
        </p:nvSpPr>
        <p:spPr>
          <a:xfrm>
            <a:off x="5212080" y="3392424"/>
            <a:ext cx="1600200" cy="59436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5</a:t>
            </a:r>
            <a:endParaRPr lang="en-US" sz="3400" dirty="0"/>
          </a:p>
        </p:txBody>
      </p:sp>
      <p:sp>
        <p:nvSpPr>
          <p:cNvPr id="29" name="Text 27"/>
          <p:cNvSpPr/>
          <p:nvPr/>
        </p:nvSpPr>
        <p:spPr>
          <a:xfrm>
            <a:off x="5212080" y="3995928"/>
            <a:ext cx="1600200" cy="320040"/>
          </a:xfrm>
          <a:prstGeom prst="rect">
            <a:avLst/>
          </a:prstGeom>
          <a:noFill/>
          <a:ln/>
        </p:spPr>
        <p:txBody>
          <a:bodyPr wrap="square" rtlCol="0" anchor="ctr"/>
          <a:lstStyle/>
          <a:p>
            <a:pPr algn="ctr" indent="0" marL="0">
              <a:buNone/>
            </a:pPr>
            <a:r>
              <a:rPr lang="en-US" sz="1100" dirty="0">
                <a:solidFill>
                  <a:srgbClr val="C8A96E"/>
                </a:solidFill>
                <a:latin typeface="Calibri" pitchFamily="34" charset="0"/>
                <a:ea typeface="Calibri" pitchFamily="34" charset="-122"/>
                <a:cs typeface="Calibri" pitchFamily="34" charset="-120"/>
              </a:rPr>
              <a:t>VLAN Sare</a:t>
            </a:r>
            <a:endParaRPr lang="en-US" sz="1100" dirty="0"/>
          </a:p>
        </p:txBody>
      </p:sp>
      <p:sp>
        <p:nvSpPr>
          <p:cNvPr id="30" name="Shape 28"/>
          <p:cNvSpPr/>
          <p:nvPr/>
        </p:nvSpPr>
        <p:spPr>
          <a:xfrm>
            <a:off x="6949440" y="3328416"/>
            <a:ext cx="1600200" cy="1097280"/>
          </a:xfrm>
          <a:prstGeom prst="rect">
            <a:avLst/>
          </a:prstGeom>
          <a:solidFill>
            <a:srgbClr val="1A3F63"/>
          </a:solidFill>
          <a:ln w="12700">
            <a:solidFill>
              <a:srgbClr val="1A3F63"/>
            </a:solidFill>
            <a:prstDash val="solid"/>
          </a:ln>
        </p:spPr>
      </p:sp>
      <p:sp>
        <p:nvSpPr>
          <p:cNvPr id="31" name="Text 29"/>
          <p:cNvSpPr/>
          <p:nvPr/>
        </p:nvSpPr>
        <p:spPr>
          <a:xfrm>
            <a:off x="6949440" y="3392424"/>
            <a:ext cx="1600200" cy="59436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6</a:t>
            </a:r>
            <a:endParaRPr lang="en-US" sz="3400" dirty="0"/>
          </a:p>
        </p:txBody>
      </p:sp>
      <p:sp>
        <p:nvSpPr>
          <p:cNvPr id="32" name="Text 30"/>
          <p:cNvSpPr/>
          <p:nvPr/>
        </p:nvSpPr>
        <p:spPr>
          <a:xfrm>
            <a:off x="6949440" y="3995928"/>
            <a:ext cx="1600200" cy="320040"/>
          </a:xfrm>
          <a:prstGeom prst="rect">
            <a:avLst/>
          </a:prstGeom>
          <a:noFill/>
          <a:ln/>
        </p:spPr>
        <p:txBody>
          <a:bodyPr wrap="square" rtlCol="0" anchor="ctr"/>
          <a:lstStyle/>
          <a:p>
            <a:pPr algn="ctr" indent="0" marL="0">
              <a:buNone/>
            </a:pPr>
            <a:r>
              <a:rPr lang="en-US" sz="1100" dirty="0">
                <a:solidFill>
                  <a:srgbClr val="C8A96E"/>
                </a:solidFill>
                <a:latin typeface="Calibri" pitchFamily="34" charset="0"/>
                <a:ea typeface="Calibri" pitchFamily="34" charset="-122"/>
                <a:cs typeface="Calibri" pitchFamily="34" charset="-120"/>
              </a:rPr>
              <a:t>VM Zerbitzari</a:t>
            </a:r>
            <a:endParaRPr lang="en-US" sz="1100" dirty="0"/>
          </a:p>
        </p:txBody>
      </p:sp>
      <p:sp>
        <p:nvSpPr>
          <p:cNvPr id="33" name="Shape 31"/>
          <p:cNvSpPr/>
          <p:nvPr/>
        </p:nvSpPr>
        <p:spPr>
          <a:xfrm>
            <a:off x="0" y="4937760"/>
            <a:ext cx="9144000" cy="205740"/>
          </a:xfrm>
          <a:prstGeom prst="rect">
            <a:avLst/>
          </a:prstGeom>
          <a:solidFill>
            <a:srgbClr val="0F2D4A"/>
          </a:solidFill>
          <a:ln w="12700">
            <a:solidFill>
              <a:srgbClr val="0F2D4A"/>
            </a:solidFill>
            <a:prstDash val="solid"/>
          </a:ln>
        </p:spPr>
      </p:sp>
      <p:sp>
        <p:nvSpPr>
          <p:cNvPr id="34" name="Text 32"/>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35" name="Text 33"/>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DC2626"/>
          </a:solidFill>
          <a:ln w="12700">
            <a:solidFill>
              <a:srgbClr val="DC2626"/>
            </a:solidFill>
            <a:prstDash val="solid"/>
          </a:ln>
        </p:spPr>
      </p:sp>
      <p:sp>
        <p:nvSpPr>
          <p:cNvPr id="3" name="Text 1"/>
          <p:cNvSpPr/>
          <p:nvPr/>
        </p:nvSpPr>
        <p:spPr>
          <a:xfrm>
            <a:off x="256032" y="118872"/>
            <a:ext cx="8595360" cy="237744"/>
          </a:xfrm>
          <a:prstGeom prst="rect">
            <a:avLst/>
          </a:prstGeom>
          <a:noFill/>
          <a:ln/>
        </p:spPr>
        <p:txBody>
          <a:bodyPr wrap="square" rtlCol="0" anchor="ctr"/>
          <a:lstStyle/>
          <a:p>
            <a:pPr indent="0" marL="0">
              <a:buNone/>
            </a:pPr>
            <a:r>
              <a:rPr lang="en-US" sz="1000" b="1" spc="200" kern="0" dirty="0">
                <a:solidFill>
                  <a:srgbClr val="DC2626"/>
                </a:solidFill>
                <a:latin typeface="Calibri" pitchFamily="34" charset="0"/>
                <a:ea typeface="Calibri" pitchFamily="34" charset="-122"/>
                <a:cs typeface="Calibri" pitchFamily="34" charset="-120"/>
              </a:rPr>
              <a:t>01 · TESTUINGURUA ETA ERRONKA</a:t>
            </a:r>
            <a:endParaRPr lang="en-US" sz="1000" dirty="0"/>
          </a:p>
        </p:txBody>
      </p:sp>
      <p:sp>
        <p:nvSpPr>
          <p:cNvPr id="4" name="Text 2"/>
          <p:cNvSpPr/>
          <p:nvPr/>
        </p:nvSpPr>
        <p:spPr>
          <a:xfrm>
            <a:off x="256032" y="402336"/>
            <a:ext cx="8595360" cy="658368"/>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IT eta OT Konektatzen Direnean: Arrisku Kritikoa</a:t>
            </a:r>
            <a:endParaRPr lang="en-US" sz="2600" dirty="0"/>
          </a:p>
        </p:txBody>
      </p:sp>
      <p:sp>
        <p:nvSpPr>
          <p:cNvPr id="5" name="Shape 3"/>
          <p:cNvSpPr/>
          <p:nvPr/>
        </p:nvSpPr>
        <p:spPr>
          <a:xfrm>
            <a:off x="256032" y="1170432"/>
            <a:ext cx="3886200" cy="3337560"/>
          </a:xfrm>
          <a:prstGeom prst="rect">
            <a:avLst/>
          </a:prstGeom>
          <a:solidFill>
            <a:srgbClr val="1A2B3C"/>
          </a:solidFill>
          <a:ln w="12700">
            <a:solidFill>
              <a:srgbClr val="0EA5E9"/>
            </a:solidFill>
            <a:prstDash val="solid"/>
          </a:ln>
        </p:spPr>
      </p:sp>
      <p:sp>
        <p:nvSpPr>
          <p:cNvPr id="6" name="Shape 4"/>
          <p:cNvSpPr/>
          <p:nvPr/>
        </p:nvSpPr>
        <p:spPr>
          <a:xfrm>
            <a:off x="256032" y="1170432"/>
            <a:ext cx="3886200" cy="438912"/>
          </a:xfrm>
          <a:prstGeom prst="rect">
            <a:avLst/>
          </a:prstGeom>
          <a:solidFill>
            <a:srgbClr val="0EA5E9"/>
          </a:solidFill>
          <a:ln w="12700">
            <a:solidFill>
              <a:srgbClr val="0EA5E9"/>
            </a:solidFill>
            <a:prstDash val="solid"/>
          </a:ln>
        </p:spPr>
      </p:sp>
      <p:sp>
        <p:nvSpPr>
          <p:cNvPr id="7" name="Text 5"/>
          <p:cNvSpPr/>
          <p:nvPr/>
        </p:nvSpPr>
        <p:spPr>
          <a:xfrm>
            <a:off x="256032" y="1170432"/>
            <a:ext cx="3886200"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BULEGOA — IT SAREA</a:t>
            </a:r>
            <a:endParaRPr lang="en-US" sz="1300" dirty="0"/>
          </a:p>
        </p:txBody>
      </p:sp>
      <p:sp>
        <p:nvSpPr>
          <p:cNvPr id="8" name="Text 6"/>
          <p:cNvSpPr/>
          <p:nvPr/>
        </p:nvSpPr>
        <p:spPr>
          <a:xfrm>
            <a:off x="411480" y="1719072"/>
            <a:ext cx="3584448" cy="438912"/>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Posta elektronikoa (phishing bektore #1)</a:t>
            </a:r>
            <a:endParaRPr lang="en-US" sz="1200" dirty="0"/>
          </a:p>
        </p:txBody>
      </p:sp>
      <p:sp>
        <p:nvSpPr>
          <p:cNvPr id="9" name="Text 7"/>
          <p:cNvSpPr/>
          <p:nvPr/>
        </p:nvSpPr>
        <p:spPr>
          <a:xfrm>
            <a:off x="411480" y="2267712"/>
            <a:ext cx="3584448" cy="438912"/>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Langile-estazio pertsonalak (100+)</a:t>
            </a:r>
            <a:endParaRPr lang="en-US" sz="1200" dirty="0"/>
          </a:p>
        </p:txBody>
      </p:sp>
      <p:sp>
        <p:nvSpPr>
          <p:cNvPr id="10" name="Text 8"/>
          <p:cNvSpPr/>
          <p:nvPr/>
        </p:nvSpPr>
        <p:spPr>
          <a:xfrm>
            <a:off x="411480" y="2816352"/>
            <a:ext cx="3584448" cy="438912"/>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Internet sarbidea zuzenekoa</a:t>
            </a:r>
            <a:endParaRPr lang="en-US" sz="1200" dirty="0"/>
          </a:p>
        </p:txBody>
      </p:sp>
      <p:sp>
        <p:nvSpPr>
          <p:cNvPr id="11" name="Text 9"/>
          <p:cNvSpPr/>
          <p:nvPr/>
        </p:nvSpPr>
        <p:spPr>
          <a:xfrm>
            <a:off x="411480" y="3364992"/>
            <a:ext cx="3584448" cy="438912"/>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Cloud zerbitzuak: ERP, Office 365</a:t>
            </a:r>
            <a:endParaRPr lang="en-US" sz="1200" dirty="0"/>
          </a:p>
        </p:txBody>
      </p:sp>
      <p:sp>
        <p:nvSpPr>
          <p:cNvPr id="12" name="Shape 10"/>
          <p:cNvSpPr/>
          <p:nvPr/>
        </p:nvSpPr>
        <p:spPr>
          <a:xfrm>
            <a:off x="4251960" y="1783080"/>
            <a:ext cx="640080" cy="640080"/>
          </a:xfrm>
          <a:prstGeom prst="ellipse">
            <a:avLst/>
          </a:prstGeom>
          <a:solidFill>
            <a:srgbClr val="DC2626"/>
          </a:solidFill>
          <a:ln w="12700">
            <a:solidFill>
              <a:srgbClr val="DC2626"/>
            </a:solidFill>
            <a:prstDash val="solid"/>
          </a:ln>
        </p:spPr>
      </p:sp>
      <p:sp>
        <p:nvSpPr>
          <p:cNvPr id="13" name="Text 11"/>
          <p:cNvSpPr/>
          <p:nvPr/>
        </p:nvSpPr>
        <p:spPr>
          <a:xfrm>
            <a:off x="4251960" y="1801368"/>
            <a:ext cx="640080" cy="5943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a:t>
            </a:r>
            <a:endParaRPr lang="en-US" sz="2800" dirty="0"/>
          </a:p>
        </p:txBody>
      </p:sp>
      <p:sp>
        <p:nvSpPr>
          <p:cNvPr id="14" name="Shape 12"/>
          <p:cNvSpPr/>
          <p:nvPr/>
        </p:nvSpPr>
        <p:spPr>
          <a:xfrm>
            <a:off x="4279392" y="2834640"/>
            <a:ext cx="0" cy="1645920"/>
          </a:xfrm>
          <a:prstGeom prst="line">
            <a:avLst/>
          </a:prstGeom>
          <a:noFill/>
          <a:ln w="25400">
            <a:solidFill>
              <a:srgbClr val="DC2626"/>
            </a:solidFill>
            <a:prstDash val="dash"/>
          </a:ln>
        </p:spPr>
      </p:sp>
      <p:sp>
        <p:nvSpPr>
          <p:cNvPr id="15" name="Shape 13"/>
          <p:cNvSpPr/>
          <p:nvPr/>
        </p:nvSpPr>
        <p:spPr>
          <a:xfrm>
            <a:off x="5001768" y="1170432"/>
            <a:ext cx="3886200" cy="3337560"/>
          </a:xfrm>
          <a:prstGeom prst="rect">
            <a:avLst/>
          </a:prstGeom>
          <a:solidFill>
            <a:srgbClr val="1A2B1A"/>
          </a:solidFill>
          <a:ln w="12700">
            <a:solidFill>
              <a:srgbClr val="F97316"/>
            </a:solidFill>
            <a:prstDash val="solid"/>
          </a:ln>
        </p:spPr>
      </p:sp>
      <p:sp>
        <p:nvSpPr>
          <p:cNvPr id="16" name="Shape 14"/>
          <p:cNvSpPr/>
          <p:nvPr/>
        </p:nvSpPr>
        <p:spPr>
          <a:xfrm>
            <a:off x="5001768" y="1170432"/>
            <a:ext cx="3886200" cy="438912"/>
          </a:xfrm>
          <a:prstGeom prst="rect">
            <a:avLst/>
          </a:prstGeom>
          <a:solidFill>
            <a:srgbClr val="F97316"/>
          </a:solidFill>
          <a:ln w="12700">
            <a:solidFill>
              <a:srgbClr val="F97316"/>
            </a:solidFill>
            <a:prstDash val="solid"/>
          </a:ln>
        </p:spPr>
      </p:sp>
      <p:sp>
        <p:nvSpPr>
          <p:cNvPr id="17" name="Text 15"/>
          <p:cNvSpPr/>
          <p:nvPr/>
        </p:nvSpPr>
        <p:spPr>
          <a:xfrm>
            <a:off x="5001768" y="1170432"/>
            <a:ext cx="3886200"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FABRIKA — OT/SCADA SAREA</a:t>
            </a:r>
            <a:endParaRPr lang="en-US" sz="1300" dirty="0"/>
          </a:p>
        </p:txBody>
      </p:sp>
      <p:sp>
        <p:nvSpPr>
          <p:cNvPr id="18" name="Text 16"/>
          <p:cNvSpPr/>
          <p:nvPr/>
        </p:nvSpPr>
        <p:spPr>
          <a:xfrm>
            <a:off x="5138928" y="1719072"/>
            <a:ext cx="3584448" cy="438912"/>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OpenPLC kontrolagailua (ekoizpen-lerro osoa)</a:t>
            </a:r>
            <a:endParaRPr lang="en-US" sz="1200" dirty="0"/>
          </a:p>
        </p:txBody>
      </p:sp>
      <p:sp>
        <p:nvSpPr>
          <p:cNvPr id="19" name="Text 17"/>
          <p:cNvSpPr/>
          <p:nvPr/>
        </p:nvSpPr>
        <p:spPr>
          <a:xfrm>
            <a:off x="5138928" y="2267712"/>
            <a:ext cx="3584448" cy="438912"/>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SCADA HMI sistema (ScadaBR, port 9090)</a:t>
            </a:r>
            <a:endParaRPr lang="en-US" sz="1200" dirty="0"/>
          </a:p>
        </p:txBody>
      </p:sp>
      <p:sp>
        <p:nvSpPr>
          <p:cNvPr id="20" name="Text 18"/>
          <p:cNvSpPr/>
          <p:nvPr/>
        </p:nvSpPr>
        <p:spPr>
          <a:xfrm>
            <a:off x="5138928" y="2816352"/>
            <a:ext cx="3584448" cy="438912"/>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Tenperatura-sentsoreak (Modbus TCP 502)</a:t>
            </a:r>
            <a:endParaRPr lang="en-US" sz="1200" dirty="0"/>
          </a:p>
        </p:txBody>
      </p:sp>
      <p:sp>
        <p:nvSpPr>
          <p:cNvPr id="21" name="Text 19"/>
          <p:cNvSpPr/>
          <p:nvPr/>
        </p:nvSpPr>
        <p:spPr>
          <a:xfrm>
            <a:off x="5138928" y="3364992"/>
            <a:ext cx="3584448" cy="438912"/>
          </a:xfrm>
          <a:prstGeom prst="rect">
            <a:avLst/>
          </a:prstGeom>
          <a:noFill/>
          <a:ln/>
        </p:spPr>
        <p:txBody>
          <a:bodyPr wrap="square" rtlCol="0" anchor="ctr"/>
          <a:lstStyle/>
          <a:p>
            <a:pPr indent="0" marL="0">
              <a:buNone/>
            </a:pPr>
            <a:r>
              <a:rPr lang="en-US" sz="1200" b="1" dirty="0">
                <a:solidFill>
                  <a:srgbClr val="DC2626"/>
                </a:solidFill>
                <a:latin typeface="Calibri" pitchFamily="34" charset="0"/>
                <a:ea typeface="Calibri" pitchFamily="34" charset="-122"/>
                <a:cs typeface="Calibri" pitchFamily="34" charset="-120"/>
              </a:rPr>
              <a:t>PORT 502 / OPC-UA: INTERNETI IREKITA!</a:t>
            </a:r>
            <a:endParaRPr lang="en-US" sz="1200" dirty="0"/>
          </a:p>
        </p:txBody>
      </p:sp>
      <p:sp>
        <p:nvSpPr>
          <p:cNvPr id="22" name="Shape 20"/>
          <p:cNvSpPr/>
          <p:nvPr/>
        </p:nvSpPr>
        <p:spPr>
          <a:xfrm>
            <a:off x="256032" y="4590288"/>
            <a:ext cx="8631936" cy="347472"/>
          </a:xfrm>
          <a:prstGeom prst="rect">
            <a:avLst/>
          </a:prstGeom>
          <a:solidFill>
            <a:srgbClr val="DC2626">
              <a:alpha val="20000"/>
            </a:srgbClr>
          </a:solidFill>
          <a:ln w="12700">
            <a:solidFill>
              <a:srgbClr val="DC2626"/>
            </a:solidFill>
            <a:prstDash val="solid"/>
          </a:ln>
        </p:spPr>
      </p:sp>
      <p:sp>
        <p:nvSpPr>
          <p:cNvPr id="23" name="Text 21"/>
          <p:cNvSpPr/>
          <p:nvPr/>
        </p:nvSpPr>
        <p:spPr>
          <a:xfrm>
            <a:off x="320040" y="4608576"/>
            <a:ext cx="8503920" cy="31089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Auditorian aurkitutako arrisku kritikoa: OT sistemak Interneti zuzenean irekita zeuden. Ekoizpen-lerro osoa urrunetik geldiarazi zitekeen.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D4A"/>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3F63"/>
          </a:solidFill>
          <a:ln w="12700">
            <a:solidFill>
              <a:srgbClr val="1A3F63"/>
            </a:solidFill>
            <a:prstDash val="solid"/>
          </a:ln>
        </p:spPr>
      </p:sp>
      <p:sp>
        <p:nvSpPr>
          <p:cNvPr id="3" name="Text 1"/>
          <p:cNvSpPr/>
          <p:nvPr/>
        </p:nvSpPr>
        <p:spPr>
          <a:xfrm>
            <a:off x="411480" y="91440"/>
            <a:ext cx="8321040" cy="338328"/>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02 · GURE ESTRATEGIA: ZERO TRUST ETA ARKITEKTURA SEGURUA</a:t>
            </a:r>
            <a:endParaRPr lang="en-US" sz="1000" dirty="0"/>
          </a:p>
        </p:txBody>
      </p:sp>
      <p:sp>
        <p:nvSpPr>
          <p:cNvPr id="4" name="Text 2"/>
          <p:cNvSpPr/>
          <p:nvPr/>
        </p:nvSpPr>
        <p:spPr>
          <a:xfrm>
            <a:off x="411480" y="621792"/>
            <a:ext cx="5120640" cy="9601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"Ez Fidatu, Beti Egiaztatu"</a:t>
            </a:r>
            <a:endParaRPr lang="en-US" sz="2600" dirty="0"/>
          </a:p>
          <a:p>
            <a:pPr indent="0" marL="0">
              <a:buNone/>
            </a:pPr>
            <a:r>
              <a:rPr lang="en-US" sz="2600" b="1" dirty="0">
                <a:solidFill>
                  <a:srgbClr val="FFFFFF"/>
                </a:solidFill>
                <a:latin typeface="Georgia" pitchFamily="34" charset="0"/>
                <a:ea typeface="Georgia" pitchFamily="34" charset="-122"/>
                <a:cs typeface="Georgia" pitchFamily="34" charset="-120"/>
              </a:rPr>
              <a:t>Zero Trust Segurtasun Arkitektura</a:t>
            </a:r>
            <a:endParaRPr lang="en-US" sz="2600" dirty="0"/>
          </a:p>
        </p:txBody>
      </p:sp>
      <p:sp>
        <p:nvSpPr>
          <p:cNvPr id="5" name="Shape 3"/>
          <p:cNvSpPr/>
          <p:nvPr/>
        </p:nvSpPr>
        <p:spPr>
          <a:xfrm>
            <a:off x="274320" y="1719072"/>
            <a:ext cx="2788920" cy="2651760"/>
          </a:xfrm>
          <a:prstGeom prst="rect">
            <a:avLst/>
          </a:prstGeom>
          <a:solidFill>
            <a:srgbClr val="1A3F63"/>
          </a:solidFill>
          <a:ln w="12700">
            <a:solidFill>
              <a:srgbClr val="C8A96E"/>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1261872" y="1883664"/>
            <a:ext cx="804672" cy="804672"/>
          </a:xfrm>
          <a:prstGeom prst="ellipse">
            <a:avLst/>
          </a:prstGeom>
          <a:solidFill>
            <a:srgbClr val="C8A96E"/>
          </a:solidFill>
          <a:ln w="12700">
            <a:solidFill>
              <a:srgbClr val="C8A96E"/>
            </a:solidFill>
            <a:prstDash val="solid"/>
          </a:ln>
        </p:spPr>
      </p:sp>
      <p:sp>
        <p:nvSpPr>
          <p:cNvPr id="7" name="Text 5"/>
          <p:cNvSpPr/>
          <p:nvPr/>
        </p:nvSpPr>
        <p:spPr>
          <a:xfrm>
            <a:off x="1261872" y="1883664"/>
            <a:ext cx="804672" cy="804672"/>
          </a:xfrm>
          <a:prstGeom prst="rect">
            <a:avLst/>
          </a:prstGeom>
          <a:noFill/>
          <a:ln/>
        </p:spPr>
        <p:txBody>
          <a:bodyPr wrap="square" rtlCol="0" anchor="ctr"/>
          <a:lstStyle/>
          <a:p>
            <a:pPr algn="ctr" indent="0" marL="0">
              <a:buNone/>
            </a:pPr>
            <a:r>
              <a:rPr lang="en-US" sz="2200" b="1" dirty="0">
                <a:solidFill>
                  <a:srgbClr val="0F2D4A"/>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384048" y="2798064"/>
            <a:ext cx="2578608" cy="365760"/>
          </a:xfrm>
          <a:prstGeom prst="rect">
            <a:avLst/>
          </a:prstGeom>
          <a:noFill/>
          <a:ln/>
        </p:spPr>
        <p:txBody>
          <a:bodyPr wrap="square" rtlCol="0" anchor="ctr"/>
          <a:lstStyle/>
          <a:p>
            <a:pPr algn="ctr" indent="0" marL="0">
              <a:buNone/>
            </a:pPr>
            <a:r>
              <a:rPr lang="en-US" sz="1500" b="1" dirty="0">
                <a:solidFill>
                  <a:srgbClr val="C8A96E"/>
                </a:solidFill>
                <a:latin typeface="Calibri" pitchFamily="34" charset="0"/>
                <a:ea typeface="Calibri" pitchFamily="34" charset="-122"/>
                <a:cs typeface="Calibri" pitchFamily="34" charset="-120"/>
              </a:rPr>
              <a:t>Inoiz Ez Fidatu</a:t>
            </a:r>
            <a:endParaRPr lang="en-US" sz="1500" dirty="0"/>
          </a:p>
        </p:txBody>
      </p:sp>
      <p:sp>
        <p:nvSpPr>
          <p:cNvPr id="9" name="Text 7"/>
          <p:cNvSpPr/>
          <p:nvPr/>
        </p:nvSpPr>
        <p:spPr>
          <a:xfrm>
            <a:off x="384048" y="3200400"/>
            <a:ext cx="2578608" cy="1005840"/>
          </a:xfrm>
          <a:prstGeom prst="rect">
            <a:avLst/>
          </a:prstGeom>
          <a:noFill/>
          <a:ln/>
        </p:spPr>
        <p:txBody>
          <a:bodyPr wrap="square" rtlCol="0" anchor="ctr"/>
          <a:lstStyle/>
          <a:p>
            <a:pPr algn="ctr" indent="0" marL="0">
              <a:buNone/>
            </a:pPr>
            <a:r>
              <a:rPr lang="en-US" sz="1100" dirty="0">
                <a:solidFill>
                  <a:srgbClr val="B0C4D8"/>
                </a:solidFill>
                <a:latin typeface="Calibri" pitchFamily="34" charset="0"/>
                <a:ea typeface="Calibri" pitchFamily="34" charset="-122"/>
                <a:cs typeface="Calibri" pitchFamily="34" charset="-120"/>
              </a:rPr>
              <a:t>Sare barnekoa izanda ere, erabiltzaile eta gailu oro susmagarri jotzen da autentifikazio arrakastatsu baten arte</a:t>
            </a:r>
            <a:endParaRPr lang="en-US" sz="1100" dirty="0"/>
          </a:p>
        </p:txBody>
      </p:sp>
      <p:sp>
        <p:nvSpPr>
          <p:cNvPr id="10" name="Shape 8"/>
          <p:cNvSpPr/>
          <p:nvPr/>
        </p:nvSpPr>
        <p:spPr>
          <a:xfrm>
            <a:off x="3227832" y="1719072"/>
            <a:ext cx="2788920" cy="2651760"/>
          </a:xfrm>
          <a:prstGeom prst="rect">
            <a:avLst/>
          </a:prstGeom>
          <a:solidFill>
            <a:srgbClr val="1A3F63"/>
          </a:solidFill>
          <a:ln w="12700">
            <a:solidFill>
              <a:srgbClr val="C8A96E"/>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215384" y="1883664"/>
            <a:ext cx="804672" cy="804672"/>
          </a:xfrm>
          <a:prstGeom prst="ellipse">
            <a:avLst/>
          </a:prstGeom>
          <a:solidFill>
            <a:srgbClr val="C8A96E"/>
          </a:solidFill>
          <a:ln w="12700">
            <a:solidFill>
              <a:srgbClr val="C8A96E"/>
            </a:solidFill>
            <a:prstDash val="solid"/>
          </a:ln>
        </p:spPr>
      </p:sp>
      <p:sp>
        <p:nvSpPr>
          <p:cNvPr id="12" name="Text 10"/>
          <p:cNvSpPr/>
          <p:nvPr/>
        </p:nvSpPr>
        <p:spPr>
          <a:xfrm>
            <a:off x="4215384" y="1883664"/>
            <a:ext cx="804672" cy="804672"/>
          </a:xfrm>
          <a:prstGeom prst="rect">
            <a:avLst/>
          </a:prstGeom>
          <a:noFill/>
          <a:ln/>
        </p:spPr>
        <p:txBody>
          <a:bodyPr wrap="square" rtlCol="0" anchor="ctr"/>
          <a:lstStyle/>
          <a:p>
            <a:pPr algn="ctr" indent="0" marL="0">
              <a:buNone/>
            </a:pPr>
            <a:r>
              <a:rPr lang="en-US" sz="2200" b="1" dirty="0">
                <a:solidFill>
                  <a:srgbClr val="0F2D4A"/>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3337560" y="2798064"/>
            <a:ext cx="2578608" cy="365760"/>
          </a:xfrm>
          <a:prstGeom prst="rect">
            <a:avLst/>
          </a:prstGeom>
          <a:noFill/>
          <a:ln/>
        </p:spPr>
        <p:txBody>
          <a:bodyPr wrap="square" rtlCol="0" anchor="ctr"/>
          <a:lstStyle/>
          <a:p>
            <a:pPr algn="ctr" indent="0" marL="0">
              <a:buNone/>
            </a:pPr>
            <a:r>
              <a:rPr lang="en-US" sz="1500" b="1" dirty="0">
                <a:solidFill>
                  <a:srgbClr val="C8A96E"/>
                </a:solidFill>
                <a:latin typeface="Calibri" pitchFamily="34" charset="0"/>
                <a:ea typeface="Calibri" pitchFamily="34" charset="-122"/>
                <a:cs typeface="Calibri" pitchFamily="34" charset="-120"/>
              </a:rPr>
              <a:t>Beti Egiaztatu</a:t>
            </a:r>
            <a:endParaRPr lang="en-US" sz="1500" dirty="0"/>
          </a:p>
        </p:txBody>
      </p:sp>
      <p:sp>
        <p:nvSpPr>
          <p:cNvPr id="14" name="Text 12"/>
          <p:cNvSpPr/>
          <p:nvPr/>
        </p:nvSpPr>
        <p:spPr>
          <a:xfrm>
            <a:off x="3337560" y="3200400"/>
            <a:ext cx="2578608" cy="1005840"/>
          </a:xfrm>
          <a:prstGeom prst="rect">
            <a:avLst/>
          </a:prstGeom>
          <a:noFill/>
          <a:ln/>
        </p:spPr>
        <p:txBody>
          <a:bodyPr wrap="square" rtlCol="0" anchor="ctr"/>
          <a:lstStyle/>
          <a:p>
            <a:pPr algn="ctr" indent="0" marL="0">
              <a:buNone/>
            </a:pPr>
            <a:r>
              <a:rPr lang="en-US" sz="1100" dirty="0">
                <a:solidFill>
                  <a:srgbClr val="B0C4D8"/>
                </a:solidFill>
                <a:latin typeface="Calibri" pitchFamily="34" charset="0"/>
                <a:ea typeface="Calibri" pitchFamily="34" charset="-122"/>
                <a:cs typeface="Calibri" pitchFamily="34" charset="-120"/>
              </a:rPr>
              <a:t>MFA, JWT tokenak eta RBAC (5 rol) erabiliz, sarbide bakoitza indibidualizatuta egiaztatzen da banan-banan</a:t>
            </a:r>
            <a:endParaRPr lang="en-US" sz="1100" dirty="0"/>
          </a:p>
        </p:txBody>
      </p:sp>
      <p:sp>
        <p:nvSpPr>
          <p:cNvPr id="15" name="Shape 13"/>
          <p:cNvSpPr/>
          <p:nvPr/>
        </p:nvSpPr>
        <p:spPr>
          <a:xfrm>
            <a:off x="6181344" y="1719072"/>
            <a:ext cx="2788920" cy="2651760"/>
          </a:xfrm>
          <a:prstGeom prst="rect">
            <a:avLst/>
          </a:prstGeom>
          <a:solidFill>
            <a:srgbClr val="1A3F63"/>
          </a:solidFill>
          <a:ln w="12700">
            <a:solidFill>
              <a:srgbClr val="C8A96E"/>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7168896" y="1883664"/>
            <a:ext cx="804672" cy="804672"/>
          </a:xfrm>
          <a:prstGeom prst="ellipse">
            <a:avLst/>
          </a:prstGeom>
          <a:solidFill>
            <a:srgbClr val="C8A96E"/>
          </a:solidFill>
          <a:ln w="12700">
            <a:solidFill>
              <a:srgbClr val="C8A96E"/>
            </a:solidFill>
            <a:prstDash val="solid"/>
          </a:ln>
        </p:spPr>
      </p:sp>
      <p:sp>
        <p:nvSpPr>
          <p:cNvPr id="17" name="Text 15"/>
          <p:cNvSpPr/>
          <p:nvPr/>
        </p:nvSpPr>
        <p:spPr>
          <a:xfrm>
            <a:off x="7168896" y="1883664"/>
            <a:ext cx="804672" cy="804672"/>
          </a:xfrm>
          <a:prstGeom prst="rect">
            <a:avLst/>
          </a:prstGeom>
          <a:noFill/>
          <a:ln/>
        </p:spPr>
        <p:txBody>
          <a:bodyPr wrap="square" rtlCol="0" anchor="ctr"/>
          <a:lstStyle/>
          <a:p>
            <a:pPr algn="ctr" indent="0" marL="0">
              <a:buNone/>
            </a:pPr>
            <a:r>
              <a:rPr lang="en-US" sz="2200" b="1" dirty="0">
                <a:solidFill>
                  <a:srgbClr val="0F2D4A"/>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6291072" y="2798064"/>
            <a:ext cx="2578608" cy="365760"/>
          </a:xfrm>
          <a:prstGeom prst="rect">
            <a:avLst/>
          </a:prstGeom>
          <a:noFill/>
          <a:ln/>
        </p:spPr>
        <p:txBody>
          <a:bodyPr wrap="square" rtlCol="0" anchor="ctr"/>
          <a:lstStyle/>
          <a:p>
            <a:pPr algn="ctr" indent="0" marL="0">
              <a:buNone/>
            </a:pPr>
            <a:r>
              <a:rPr lang="en-US" sz="1500" b="1" dirty="0">
                <a:solidFill>
                  <a:srgbClr val="C8A96E"/>
                </a:solidFill>
                <a:latin typeface="Calibri" pitchFamily="34" charset="0"/>
                <a:ea typeface="Calibri" pitchFamily="34" charset="-122"/>
                <a:cs typeface="Calibri" pitchFamily="34" charset="-120"/>
              </a:rPr>
              <a:t>Pribilegio Minimoa</a:t>
            </a:r>
            <a:endParaRPr lang="en-US" sz="1500" dirty="0"/>
          </a:p>
        </p:txBody>
      </p:sp>
      <p:sp>
        <p:nvSpPr>
          <p:cNvPr id="19" name="Text 17"/>
          <p:cNvSpPr/>
          <p:nvPr/>
        </p:nvSpPr>
        <p:spPr>
          <a:xfrm>
            <a:off x="6291072" y="3200400"/>
            <a:ext cx="2578608" cy="1005840"/>
          </a:xfrm>
          <a:prstGeom prst="rect">
            <a:avLst/>
          </a:prstGeom>
          <a:noFill/>
          <a:ln/>
        </p:spPr>
        <p:txBody>
          <a:bodyPr wrap="square" rtlCol="0" anchor="ctr"/>
          <a:lstStyle/>
          <a:p>
            <a:pPr algn="ctr" indent="0" marL="0">
              <a:buNone/>
            </a:pPr>
            <a:r>
              <a:rPr lang="en-US" sz="1100" dirty="0">
                <a:solidFill>
                  <a:srgbClr val="B0C4D8"/>
                </a:solidFill>
                <a:latin typeface="Calibri" pitchFamily="34" charset="0"/>
                <a:ea typeface="Calibri" pitchFamily="34" charset="-122"/>
                <a:cs typeface="Calibri" pitchFamily="34" charset="-120"/>
              </a:rPr>
              <a:t>Langile bakoitzak beharrezko datutara soilik du sarbidea. Ez gehiago, ez gutxiago. Kalte posiblea mugatzen da</a:t>
            </a:r>
            <a:endParaRPr lang="en-US" sz="1100" dirty="0"/>
          </a:p>
        </p:txBody>
      </p:sp>
      <p:sp>
        <p:nvSpPr>
          <p:cNvPr id="20" name="Shape 18"/>
          <p:cNvSpPr/>
          <p:nvPr/>
        </p:nvSpPr>
        <p:spPr>
          <a:xfrm>
            <a:off x="5669280" y="621792"/>
            <a:ext cx="3200400" cy="960120"/>
          </a:xfrm>
          <a:prstGeom prst="rect">
            <a:avLst/>
          </a:prstGeom>
          <a:solidFill>
            <a:srgbClr val="C8A96E">
              <a:alpha val="12000"/>
            </a:srgbClr>
          </a:solidFill>
          <a:ln w="12700">
            <a:solidFill>
              <a:srgbClr val="C8A96E"/>
            </a:solidFill>
            <a:prstDash val="solid"/>
          </a:ln>
        </p:spPr>
      </p:sp>
      <p:sp>
        <p:nvSpPr>
          <p:cNvPr id="21" name="Text 19"/>
          <p:cNvSpPr/>
          <p:nvPr/>
        </p:nvSpPr>
        <p:spPr>
          <a:xfrm>
            <a:off x="5760720" y="658368"/>
            <a:ext cx="3017520" cy="896112"/>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Emaitza: Erasotzaileak sare barnera sartu arren, ezin du mugitu lateralki sistema batetik bestera. Datu kritikoak babestuta daude.</a:t>
            </a:r>
            <a:endParaRPr lang="en-US" sz="1100" dirty="0"/>
          </a:p>
        </p:txBody>
      </p:sp>
      <p:sp>
        <p:nvSpPr>
          <p:cNvPr id="22" name="Shape 20"/>
          <p:cNvSpPr/>
          <p:nvPr/>
        </p:nvSpPr>
        <p:spPr>
          <a:xfrm>
            <a:off x="0" y="4937760"/>
            <a:ext cx="9144000" cy="205740"/>
          </a:xfrm>
          <a:prstGeom prst="rect">
            <a:avLst/>
          </a:prstGeom>
          <a:solidFill>
            <a:srgbClr val="0A1E30"/>
          </a:solidFill>
          <a:ln w="12700">
            <a:solidFill>
              <a:srgbClr val="0A1E30"/>
            </a:solidFill>
            <a:prstDash val="solid"/>
          </a:ln>
        </p:spPr>
      </p:sp>
      <p:sp>
        <p:nvSpPr>
          <p:cNvPr id="23" name="Text 21"/>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24" name="Text 22"/>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02 · GURE ESTRATEGIA</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Sare Segmentazioa: Etxe Bakoitza Bere Aterekin (VLAN Arkitektura)</a:t>
            </a:r>
            <a:endParaRPr lang="en-US" sz="2400" dirty="0"/>
          </a:p>
        </p:txBody>
      </p:sp>
      <p:sp>
        <p:nvSpPr>
          <p:cNvPr id="5" name="Shape 3"/>
          <p:cNvSpPr/>
          <p:nvPr/>
        </p:nvSpPr>
        <p:spPr>
          <a:xfrm>
            <a:off x="274320" y="1143000"/>
            <a:ext cx="8595360" cy="347472"/>
          </a:xfrm>
          <a:prstGeom prst="rect">
            <a:avLst/>
          </a:prstGeom>
          <a:solidFill>
            <a:srgbClr val="0F2D4A"/>
          </a:solidFill>
          <a:ln w="12700">
            <a:solidFill>
              <a:srgbClr val="0F2D4A"/>
            </a:solidFill>
            <a:prstDash val="solid"/>
          </a:ln>
        </p:spPr>
      </p:sp>
      <p:sp>
        <p:nvSpPr>
          <p:cNvPr id="6" name="Text 4"/>
          <p:cNvSpPr/>
          <p:nvPr/>
        </p:nvSpPr>
        <p:spPr>
          <a:xfrm>
            <a:off x="320040" y="1170432"/>
            <a:ext cx="1097280" cy="292608"/>
          </a:xfrm>
          <a:prstGeom prst="rect">
            <a:avLst/>
          </a:prstGeom>
          <a:noFill/>
          <a:ln/>
        </p:spPr>
        <p:txBody>
          <a:bodyPr wrap="square" rtlCol="0" anchor="ctr"/>
          <a:lstStyle/>
          <a:p>
            <a:pPr indent="0" marL="0">
              <a:buNone/>
            </a:pPr>
            <a:r>
              <a:rPr lang="en-US" sz="1000" b="1" spc="100" kern="0" dirty="0">
                <a:solidFill>
                  <a:srgbClr val="C8A96E"/>
                </a:solidFill>
                <a:latin typeface="Calibri" pitchFamily="34" charset="0"/>
                <a:ea typeface="Calibri" pitchFamily="34" charset="-122"/>
                <a:cs typeface="Calibri" pitchFamily="34" charset="-120"/>
              </a:rPr>
              <a:t>VLAN</a:t>
            </a:r>
            <a:endParaRPr lang="en-US" sz="1000" dirty="0"/>
          </a:p>
        </p:txBody>
      </p:sp>
      <p:sp>
        <p:nvSpPr>
          <p:cNvPr id="7" name="Text 5"/>
          <p:cNvSpPr/>
          <p:nvPr/>
        </p:nvSpPr>
        <p:spPr>
          <a:xfrm>
            <a:off x="1463040" y="1170432"/>
            <a:ext cx="2194560" cy="292608"/>
          </a:xfrm>
          <a:prstGeom prst="rect">
            <a:avLst/>
          </a:prstGeom>
          <a:noFill/>
          <a:ln/>
        </p:spPr>
        <p:txBody>
          <a:bodyPr wrap="square" rtlCol="0" anchor="ctr"/>
          <a:lstStyle/>
          <a:p>
            <a:pPr indent="0" marL="0">
              <a:buNone/>
            </a:pPr>
            <a:r>
              <a:rPr lang="en-US" sz="1000" b="1" spc="100" kern="0" dirty="0">
                <a:solidFill>
                  <a:srgbClr val="C8A96E"/>
                </a:solidFill>
                <a:latin typeface="Calibri" pitchFamily="34" charset="0"/>
                <a:ea typeface="Calibri" pitchFamily="34" charset="-122"/>
                <a:cs typeface="Calibri" pitchFamily="34" charset="-120"/>
              </a:rPr>
              <a:t>IZENA</a:t>
            </a:r>
            <a:endParaRPr lang="en-US" sz="1000" dirty="0"/>
          </a:p>
        </p:txBody>
      </p:sp>
      <p:sp>
        <p:nvSpPr>
          <p:cNvPr id="8" name="Text 6"/>
          <p:cNvSpPr/>
          <p:nvPr/>
        </p:nvSpPr>
        <p:spPr>
          <a:xfrm>
            <a:off x="3703320" y="1170432"/>
            <a:ext cx="1874520" cy="292608"/>
          </a:xfrm>
          <a:prstGeom prst="rect">
            <a:avLst/>
          </a:prstGeom>
          <a:noFill/>
          <a:ln/>
        </p:spPr>
        <p:txBody>
          <a:bodyPr wrap="square" rtlCol="0" anchor="ctr"/>
          <a:lstStyle/>
          <a:p>
            <a:pPr indent="0" marL="0">
              <a:buNone/>
            </a:pPr>
            <a:r>
              <a:rPr lang="en-US" sz="1000" b="1" spc="100" kern="0" dirty="0">
                <a:solidFill>
                  <a:srgbClr val="C8A96E"/>
                </a:solidFill>
                <a:latin typeface="Calibri" pitchFamily="34" charset="0"/>
                <a:ea typeface="Calibri" pitchFamily="34" charset="-122"/>
                <a:cs typeface="Calibri" pitchFamily="34" charset="-120"/>
              </a:rPr>
              <a:t>IP TARTEA</a:t>
            </a:r>
            <a:endParaRPr lang="en-US" sz="1000" dirty="0"/>
          </a:p>
        </p:txBody>
      </p:sp>
      <p:sp>
        <p:nvSpPr>
          <p:cNvPr id="9" name="Text 7"/>
          <p:cNvSpPr/>
          <p:nvPr/>
        </p:nvSpPr>
        <p:spPr>
          <a:xfrm>
            <a:off x="5623560" y="1170432"/>
            <a:ext cx="3200400" cy="292608"/>
          </a:xfrm>
          <a:prstGeom prst="rect">
            <a:avLst/>
          </a:prstGeom>
          <a:noFill/>
          <a:ln/>
        </p:spPr>
        <p:txBody>
          <a:bodyPr wrap="square" rtlCol="0" anchor="ctr"/>
          <a:lstStyle/>
          <a:p>
            <a:pPr indent="0" marL="0">
              <a:buNone/>
            </a:pPr>
            <a:r>
              <a:rPr lang="en-US" sz="1000" b="1" spc="100" kern="0" dirty="0">
                <a:solidFill>
                  <a:srgbClr val="C8A96E"/>
                </a:solidFill>
                <a:latin typeface="Calibri" pitchFamily="34" charset="0"/>
                <a:ea typeface="Calibri" pitchFamily="34" charset="-122"/>
                <a:cs typeface="Calibri" pitchFamily="34" charset="-120"/>
              </a:rPr>
              <a:t>HELBURUA / OHARRA</a:t>
            </a:r>
            <a:endParaRPr lang="en-US" sz="1000" dirty="0"/>
          </a:p>
        </p:txBody>
      </p:sp>
      <p:sp>
        <p:nvSpPr>
          <p:cNvPr id="10" name="Shape 8"/>
          <p:cNvSpPr/>
          <p:nvPr/>
        </p:nvSpPr>
        <p:spPr>
          <a:xfrm>
            <a:off x="274320" y="1508760"/>
            <a:ext cx="8595360" cy="530352"/>
          </a:xfrm>
          <a:prstGeom prst="rect">
            <a:avLst/>
          </a:prstGeom>
          <a:solidFill>
            <a:srgbClr val="EFF6FF"/>
          </a:solidFill>
          <a:ln w="6350">
            <a:solidFill>
              <a:srgbClr val="E2E8F0"/>
            </a:solidFill>
            <a:prstDash val="solid"/>
          </a:ln>
        </p:spPr>
      </p:sp>
      <p:sp>
        <p:nvSpPr>
          <p:cNvPr id="11" name="Shape 9"/>
          <p:cNvSpPr/>
          <p:nvPr/>
        </p:nvSpPr>
        <p:spPr>
          <a:xfrm>
            <a:off x="274320" y="1508760"/>
            <a:ext cx="128016" cy="530352"/>
          </a:xfrm>
          <a:prstGeom prst="rect">
            <a:avLst/>
          </a:prstGeom>
          <a:solidFill>
            <a:srgbClr val="0EA5E9"/>
          </a:solidFill>
          <a:ln w="12700">
            <a:solidFill>
              <a:srgbClr val="0EA5E9"/>
            </a:solidFill>
            <a:prstDash val="solid"/>
          </a:ln>
        </p:spPr>
      </p:sp>
      <p:sp>
        <p:nvSpPr>
          <p:cNvPr id="12" name="Text 10"/>
          <p:cNvSpPr/>
          <p:nvPr/>
        </p:nvSpPr>
        <p:spPr>
          <a:xfrm>
            <a:off x="457200" y="1508760"/>
            <a:ext cx="987552" cy="53035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VLAN 10</a:t>
            </a:r>
            <a:endParaRPr lang="en-US" sz="1100" dirty="0"/>
          </a:p>
        </p:txBody>
      </p:sp>
      <p:sp>
        <p:nvSpPr>
          <p:cNvPr id="13" name="Text 11"/>
          <p:cNvSpPr/>
          <p:nvPr/>
        </p:nvSpPr>
        <p:spPr>
          <a:xfrm>
            <a:off x="1463040" y="1508760"/>
            <a:ext cx="2176272" cy="53035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Bulegoa / Kudeaketa</a:t>
            </a:r>
            <a:endParaRPr lang="en-US" sz="1100" dirty="0"/>
          </a:p>
        </p:txBody>
      </p:sp>
      <p:sp>
        <p:nvSpPr>
          <p:cNvPr id="14" name="Text 12"/>
          <p:cNvSpPr/>
          <p:nvPr/>
        </p:nvSpPr>
        <p:spPr>
          <a:xfrm>
            <a:off x="3703320" y="1508760"/>
            <a:ext cx="1874520" cy="53035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192.168.10.0/24</a:t>
            </a:r>
            <a:endParaRPr lang="en-US" sz="1100" dirty="0"/>
          </a:p>
        </p:txBody>
      </p:sp>
      <p:sp>
        <p:nvSpPr>
          <p:cNvPr id="15" name="Text 13"/>
          <p:cNvSpPr/>
          <p:nvPr/>
        </p:nvSpPr>
        <p:spPr>
          <a:xfrm>
            <a:off x="5623560" y="1508760"/>
            <a:ext cx="3200400" cy="53035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Langile-estazioak (100+)</a:t>
            </a:r>
            <a:endParaRPr lang="en-US" sz="1000" dirty="0"/>
          </a:p>
        </p:txBody>
      </p:sp>
      <p:sp>
        <p:nvSpPr>
          <p:cNvPr id="16" name="Shape 14"/>
          <p:cNvSpPr/>
          <p:nvPr/>
        </p:nvSpPr>
        <p:spPr>
          <a:xfrm>
            <a:off x="274320" y="2075688"/>
            <a:ext cx="8595360" cy="530352"/>
          </a:xfrm>
          <a:prstGeom prst="rect">
            <a:avLst/>
          </a:prstGeom>
          <a:solidFill>
            <a:srgbClr val="FFFFFF"/>
          </a:solidFill>
          <a:ln w="6350">
            <a:solidFill>
              <a:srgbClr val="E2E8F0"/>
            </a:solidFill>
            <a:prstDash val="solid"/>
          </a:ln>
        </p:spPr>
      </p:sp>
      <p:sp>
        <p:nvSpPr>
          <p:cNvPr id="17" name="Shape 15"/>
          <p:cNvSpPr/>
          <p:nvPr/>
        </p:nvSpPr>
        <p:spPr>
          <a:xfrm>
            <a:off x="274320" y="2075688"/>
            <a:ext cx="128016" cy="530352"/>
          </a:xfrm>
          <a:prstGeom prst="rect">
            <a:avLst/>
          </a:prstGeom>
          <a:solidFill>
            <a:srgbClr val="7C3AED"/>
          </a:solidFill>
          <a:ln w="12700">
            <a:solidFill>
              <a:srgbClr val="7C3AED"/>
            </a:solidFill>
            <a:prstDash val="solid"/>
          </a:ln>
        </p:spPr>
      </p:sp>
      <p:sp>
        <p:nvSpPr>
          <p:cNvPr id="18" name="Text 16"/>
          <p:cNvSpPr/>
          <p:nvPr/>
        </p:nvSpPr>
        <p:spPr>
          <a:xfrm>
            <a:off x="457200" y="2075688"/>
            <a:ext cx="987552" cy="53035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VLAN 20</a:t>
            </a:r>
            <a:endParaRPr lang="en-US" sz="1100" dirty="0"/>
          </a:p>
        </p:txBody>
      </p:sp>
      <p:sp>
        <p:nvSpPr>
          <p:cNvPr id="19" name="Text 17"/>
          <p:cNvSpPr/>
          <p:nvPr/>
        </p:nvSpPr>
        <p:spPr>
          <a:xfrm>
            <a:off x="1463040" y="2075688"/>
            <a:ext cx="2176272" cy="53035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IT / Zerbitzariak</a:t>
            </a:r>
            <a:endParaRPr lang="en-US" sz="1100" dirty="0"/>
          </a:p>
        </p:txBody>
      </p:sp>
      <p:sp>
        <p:nvSpPr>
          <p:cNvPr id="20" name="Text 18"/>
          <p:cNvSpPr/>
          <p:nvPr/>
        </p:nvSpPr>
        <p:spPr>
          <a:xfrm>
            <a:off x="3703320" y="2075688"/>
            <a:ext cx="1874520" cy="53035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192.168.20.0/24</a:t>
            </a:r>
            <a:endParaRPr lang="en-US" sz="1100" dirty="0"/>
          </a:p>
        </p:txBody>
      </p:sp>
      <p:sp>
        <p:nvSpPr>
          <p:cNvPr id="21" name="Text 19"/>
          <p:cNvSpPr/>
          <p:nvPr/>
        </p:nvSpPr>
        <p:spPr>
          <a:xfrm>
            <a:off x="5623560" y="2075688"/>
            <a:ext cx="3200400" cy="53035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Web, PHP 8.4, PostgreSQL 16, Redis</a:t>
            </a:r>
            <a:endParaRPr lang="en-US" sz="1000" dirty="0"/>
          </a:p>
        </p:txBody>
      </p:sp>
      <p:sp>
        <p:nvSpPr>
          <p:cNvPr id="22" name="Shape 20"/>
          <p:cNvSpPr/>
          <p:nvPr/>
        </p:nvSpPr>
        <p:spPr>
          <a:xfrm>
            <a:off x="274320" y="2642616"/>
            <a:ext cx="8595360" cy="530352"/>
          </a:xfrm>
          <a:prstGeom prst="rect">
            <a:avLst/>
          </a:prstGeom>
          <a:solidFill>
            <a:srgbClr val="EFF6FF"/>
          </a:solidFill>
          <a:ln w="6350">
            <a:solidFill>
              <a:srgbClr val="E2E8F0"/>
            </a:solidFill>
            <a:prstDash val="solid"/>
          </a:ln>
        </p:spPr>
      </p:sp>
      <p:sp>
        <p:nvSpPr>
          <p:cNvPr id="23" name="Shape 21"/>
          <p:cNvSpPr/>
          <p:nvPr/>
        </p:nvSpPr>
        <p:spPr>
          <a:xfrm>
            <a:off x="274320" y="2642616"/>
            <a:ext cx="128016" cy="530352"/>
          </a:xfrm>
          <a:prstGeom prst="rect">
            <a:avLst/>
          </a:prstGeom>
          <a:solidFill>
            <a:srgbClr val="F97316"/>
          </a:solidFill>
          <a:ln w="12700">
            <a:solidFill>
              <a:srgbClr val="F97316"/>
            </a:solidFill>
            <a:prstDash val="solid"/>
          </a:ln>
        </p:spPr>
      </p:sp>
      <p:sp>
        <p:nvSpPr>
          <p:cNvPr id="24" name="Text 22"/>
          <p:cNvSpPr/>
          <p:nvPr/>
        </p:nvSpPr>
        <p:spPr>
          <a:xfrm>
            <a:off x="457200" y="2642616"/>
            <a:ext cx="987552" cy="53035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VLAN 30</a:t>
            </a:r>
            <a:endParaRPr lang="en-US" sz="1100" dirty="0"/>
          </a:p>
        </p:txBody>
      </p:sp>
      <p:sp>
        <p:nvSpPr>
          <p:cNvPr id="25" name="Text 23"/>
          <p:cNvSpPr/>
          <p:nvPr/>
        </p:nvSpPr>
        <p:spPr>
          <a:xfrm>
            <a:off x="1463040" y="2642616"/>
            <a:ext cx="2176272" cy="53035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DMZ (Ingurune Desmilitarizatua)</a:t>
            </a:r>
            <a:endParaRPr lang="en-US" sz="1100" dirty="0"/>
          </a:p>
        </p:txBody>
      </p:sp>
      <p:sp>
        <p:nvSpPr>
          <p:cNvPr id="26" name="Text 24"/>
          <p:cNvSpPr/>
          <p:nvPr/>
        </p:nvSpPr>
        <p:spPr>
          <a:xfrm>
            <a:off x="3703320" y="2642616"/>
            <a:ext cx="1874520" cy="53035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192.168.30.0/24</a:t>
            </a:r>
            <a:endParaRPr lang="en-US" sz="1100" dirty="0"/>
          </a:p>
        </p:txBody>
      </p:sp>
      <p:sp>
        <p:nvSpPr>
          <p:cNvPr id="27" name="Text 25"/>
          <p:cNvSpPr/>
          <p:nvPr/>
        </p:nvSpPr>
        <p:spPr>
          <a:xfrm>
            <a:off x="5623560" y="2642616"/>
            <a:ext cx="3200400" cy="53035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Internet zerbitzuak: web, posta</a:t>
            </a:r>
            <a:endParaRPr lang="en-US" sz="1000" dirty="0"/>
          </a:p>
        </p:txBody>
      </p:sp>
      <p:sp>
        <p:nvSpPr>
          <p:cNvPr id="28" name="Shape 26"/>
          <p:cNvSpPr/>
          <p:nvPr/>
        </p:nvSpPr>
        <p:spPr>
          <a:xfrm>
            <a:off x="274320" y="3209544"/>
            <a:ext cx="8595360" cy="530352"/>
          </a:xfrm>
          <a:prstGeom prst="rect">
            <a:avLst/>
          </a:prstGeom>
          <a:solidFill>
            <a:srgbClr val="FFFFFF"/>
          </a:solidFill>
          <a:ln w="6350">
            <a:solidFill>
              <a:srgbClr val="E2E8F0"/>
            </a:solidFill>
            <a:prstDash val="solid"/>
          </a:ln>
        </p:spPr>
      </p:sp>
      <p:sp>
        <p:nvSpPr>
          <p:cNvPr id="29" name="Shape 27"/>
          <p:cNvSpPr/>
          <p:nvPr/>
        </p:nvSpPr>
        <p:spPr>
          <a:xfrm>
            <a:off x="274320" y="3209544"/>
            <a:ext cx="128016" cy="530352"/>
          </a:xfrm>
          <a:prstGeom prst="rect">
            <a:avLst/>
          </a:prstGeom>
          <a:solidFill>
            <a:srgbClr val="DC2626"/>
          </a:solidFill>
          <a:ln w="12700">
            <a:solidFill>
              <a:srgbClr val="DC2626"/>
            </a:solidFill>
            <a:prstDash val="solid"/>
          </a:ln>
        </p:spPr>
      </p:sp>
      <p:sp>
        <p:nvSpPr>
          <p:cNvPr id="30" name="Text 28"/>
          <p:cNvSpPr/>
          <p:nvPr/>
        </p:nvSpPr>
        <p:spPr>
          <a:xfrm>
            <a:off x="457200" y="3209544"/>
            <a:ext cx="987552" cy="53035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VLAN 40</a:t>
            </a:r>
            <a:endParaRPr lang="en-US" sz="1100" dirty="0"/>
          </a:p>
        </p:txBody>
      </p:sp>
      <p:sp>
        <p:nvSpPr>
          <p:cNvPr id="31" name="Text 29"/>
          <p:cNvSpPr/>
          <p:nvPr/>
        </p:nvSpPr>
        <p:spPr>
          <a:xfrm>
            <a:off x="1463040" y="3209544"/>
            <a:ext cx="2176272" cy="530352"/>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OT / SCADA (ISOLATUA)</a:t>
            </a:r>
            <a:endParaRPr lang="en-US" sz="1100" dirty="0"/>
          </a:p>
        </p:txBody>
      </p:sp>
      <p:sp>
        <p:nvSpPr>
          <p:cNvPr id="32" name="Text 30"/>
          <p:cNvSpPr/>
          <p:nvPr/>
        </p:nvSpPr>
        <p:spPr>
          <a:xfrm>
            <a:off x="3703320" y="3209544"/>
            <a:ext cx="1874520" cy="53035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192.168.40.0/24</a:t>
            </a:r>
            <a:endParaRPr lang="en-US" sz="1100" dirty="0"/>
          </a:p>
        </p:txBody>
      </p:sp>
      <p:sp>
        <p:nvSpPr>
          <p:cNvPr id="33" name="Text 31"/>
          <p:cNvSpPr/>
          <p:nvPr/>
        </p:nvSpPr>
        <p:spPr>
          <a:xfrm>
            <a:off x="5623560" y="3209544"/>
            <a:ext cx="3200400" cy="530352"/>
          </a:xfrm>
          <a:prstGeom prst="rect">
            <a:avLst/>
          </a:prstGeom>
          <a:noFill/>
          <a:ln/>
        </p:spPr>
        <p:txBody>
          <a:bodyPr wrap="square"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OpenPLC + ScadaBR — Data Diode bidez soilik</a:t>
            </a:r>
            <a:endParaRPr lang="en-US" sz="1000" dirty="0"/>
          </a:p>
        </p:txBody>
      </p:sp>
      <p:sp>
        <p:nvSpPr>
          <p:cNvPr id="34" name="Shape 32"/>
          <p:cNvSpPr/>
          <p:nvPr/>
        </p:nvSpPr>
        <p:spPr>
          <a:xfrm>
            <a:off x="274320" y="3776472"/>
            <a:ext cx="8595360" cy="530352"/>
          </a:xfrm>
          <a:prstGeom prst="rect">
            <a:avLst/>
          </a:prstGeom>
          <a:solidFill>
            <a:srgbClr val="EFF6FF"/>
          </a:solidFill>
          <a:ln w="6350">
            <a:solidFill>
              <a:srgbClr val="E2E8F0"/>
            </a:solidFill>
            <a:prstDash val="solid"/>
          </a:ln>
        </p:spPr>
      </p:sp>
      <p:sp>
        <p:nvSpPr>
          <p:cNvPr id="35" name="Shape 33"/>
          <p:cNvSpPr/>
          <p:nvPr/>
        </p:nvSpPr>
        <p:spPr>
          <a:xfrm>
            <a:off x="274320" y="3776472"/>
            <a:ext cx="128016" cy="530352"/>
          </a:xfrm>
          <a:prstGeom prst="rect">
            <a:avLst/>
          </a:prstGeom>
          <a:solidFill>
            <a:srgbClr val="16A34A"/>
          </a:solidFill>
          <a:ln w="12700">
            <a:solidFill>
              <a:srgbClr val="16A34A"/>
            </a:solidFill>
            <a:prstDash val="solid"/>
          </a:ln>
        </p:spPr>
      </p:sp>
      <p:sp>
        <p:nvSpPr>
          <p:cNvPr id="36" name="Text 34"/>
          <p:cNvSpPr/>
          <p:nvPr/>
        </p:nvSpPr>
        <p:spPr>
          <a:xfrm>
            <a:off x="457200" y="3776472"/>
            <a:ext cx="987552" cy="53035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VLAN 99</a:t>
            </a:r>
            <a:endParaRPr lang="en-US" sz="1100" dirty="0"/>
          </a:p>
        </p:txBody>
      </p:sp>
      <p:sp>
        <p:nvSpPr>
          <p:cNvPr id="37" name="Text 35"/>
          <p:cNvSpPr/>
          <p:nvPr/>
        </p:nvSpPr>
        <p:spPr>
          <a:xfrm>
            <a:off x="1463040" y="3776472"/>
            <a:ext cx="2176272" cy="53035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Honeypot Sarea</a:t>
            </a:r>
            <a:endParaRPr lang="en-US" sz="1100" dirty="0"/>
          </a:p>
        </p:txBody>
      </p:sp>
      <p:sp>
        <p:nvSpPr>
          <p:cNvPr id="38" name="Text 36"/>
          <p:cNvSpPr/>
          <p:nvPr/>
        </p:nvSpPr>
        <p:spPr>
          <a:xfrm>
            <a:off x="3703320" y="3776472"/>
            <a:ext cx="1874520" cy="53035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172.16.99.0/24</a:t>
            </a:r>
            <a:endParaRPr lang="en-US" sz="1100" dirty="0"/>
          </a:p>
        </p:txBody>
      </p:sp>
      <p:sp>
        <p:nvSpPr>
          <p:cNvPr id="39" name="Text 37"/>
          <p:cNvSpPr/>
          <p:nvPr/>
        </p:nvSpPr>
        <p:spPr>
          <a:xfrm>
            <a:off x="5623560" y="3776472"/>
            <a:ext cx="3200400" cy="53035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Erasotzaileak erakartzeko tranpa aktibo</a:t>
            </a:r>
            <a:endParaRPr lang="en-US" sz="1000" dirty="0"/>
          </a:p>
        </p:txBody>
      </p:sp>
      <p:sp>
        <p:nvSpPr>
          <p:cNvPr id="40" name="Shape 38"/>
          <p:cNvSpPr/>
          <p:nvPr/>
        </p:nvSpPr>
        <p:spPr>
          <a:xfrm>
            <a:off x="274320" y="4352544"/>
            <a:ext cx="8595360" cy="347472"/>
          </a:xfrm>
          <a:prstGeom prst="rect">
            <a:avLst/>
          </a:prstGeom>
          <a:solidFill>
            <a:srgbClr val="0F2D4A">
              <a:alpha val="8000"/>
            </a:srgbClr>
          </a:solidFill>
          <a:ln w="6350">
            <a:solidFill>
              <a:srgbClr val="0F2D4A"/>
            </a:solidFill>
            <a:prstDash val="solid"/>
          </a:ln>
        </p:spPr>
      </p:sp>
      <p:sp>
        <p:nvSpPr>
          <p:cNvPr id="41" name="Text 39"/>
          <p:cNvSpPr/>
          <p:nvPr/>
        </p:nvSpPr>
        <p:spPr>
          <a:xfrm>
            <a:off x="365760" y="4370832"/>
            <a:ext cx="8412480" cy="310896"/>
          </a:xfrm>
          <a:prstGeom prst="rect">
            <a:avLst/>
          </a:prstGeom>
          <a:noFill/>
          <a:ln/>
        </p:spPr>
        <p:txBody>
          <a:bodyPr wrap="square" rtlCol="0" anchor="ctr"/>
          <a:lstStyle/>
          <a:p>
            <a:pPr indent="0" marL="0">
              <a:buNone/>
            </a:pPr>
            <a:r>
              <a:rPr lang="en-US" sz="1000" b="1" dirty="0">
                <a:solidFill>
                  <a:srgbClr val="0F2D4A"/>
                </a:solidFill>
                <a:latin typeface="Calibri" pitchFamily="34" charset="0"/>
                <a:ea typeface="Calibri" pitchFamily="34" charset="-122"/>
                <a:cs typeface="Calibri" pitchFamily="34" charset="-120"/>
              </a:rPr>
              <a:t>VLAN 40 (OT/SCADA) erabat isolatua dago. Bulegotik ezin da zuzenean komunikatu. Datuen elkartrukea Data Diode baten bidez bakarrik, norabide bakarrean (fabrikatik bulegora).</a:t>
            </a:r>
            <a:endParaRPr lang="en-US" sz="1000" dirty="0"/>
          </a:p>
        </p:txBody>
      </p:sp>
      <p:sp>
        <p:nvSpPr>
          <p:cNvPr id="42" name="Shape 40"/>
          <p:cNvSpPr/>
          <p:nvPr/>
        </p:nvSpPr>
        <p:spPr>
          <a:xfrm>
            <a:off x="0" y="4937760"/>
            <a:ext cx="9144000" cy="205740"/>
          </a:xfrm>
          <a:prstGeom prst="rect">
            <a:avLst/>
          </a:prstGeom>
          <a:solidFill>
            <a:srgbClr val="0F2D4A"/>
          </a:solidFill>
          <a:ln w="12700">
            <a:solidFill>
              <a:srgbClr val="0F2D4A"/>
            </a:solidFill>
            <a:prstDash val="solid"/>
          </a:ln>
        </p:spPr>
      </p:sp>
      <p:sp>
        <p:nvSpPr>
          <p:cNvPr id="43" name="Text 41"/>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44" name="Text 42"/>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02 · GURE ESTRATEGIA</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Azpiegitura Adimentsua: Proxmox, Ansible eta IsardVDI</a:t>
            </a:r>
            <a:endParaRPr lang="en-US" sz="2400" dirty="0"/>
          </a:p>
        </p:txBody>
      </p:sp>
      <p:sp>
        <p:nvSpPr>
          <p:cNvPr id="5" name="Shape 3"/>
          <p:cNvSpPr/>
          <p:nvPr/>
        </p:nvSpPr>
        <p:spPr>
          <a:xfrm>
            <a:off x="274320" y="1216152"/>
            <a:ext cx="2743200" cy="14630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274320" y="1216152"/>
            <a:ext cx="2743200" cy="109728"/>
          </a:xfrm>
          <a:prstGeom prst="rect">
            <a:avLst/>
          </a:prstGeom>
          <a:solidFill>
            <a:srgbClr val="F97316"/>
          </a:solidFill>
          <a:ln w="12700">
            <a:solidFill>
              <a:srgbClr val="F97316"/>
            </a:solidFill>
            <a:prstDash val="solid"/>
          </a:ln>
        </p:spPr>
      </p:sp>
      <p:sp>
        <p:nvSpPr>
          <p:cNvPr id="7" name="Text 5"/>
          <p:cNvSpPr/>
          <p:nvPr/>
        </p:nvSpPr>
        <p:spPr>
          <a:xfrm>
            <a:off x="411480" y="1399032"/>
            <a:ext cx="2487168" cy="347472"/>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ZG-Gateway</a:t>
            </a:r>
            <a:endParaRPr lang="en-US" sz="1500" dirty="0"/>
          </a:p>
        </p:txBody>
      </p:sp>
      <p:sp>
        <p:nvSpPr>
          <p:cNvPr id="8" name="Text 6"/>
          <p:cNvSpPr/>
          <p:nvPr/>
        </p:nvSpPr>
        <p:spPr>
          <a:xfrm>
            <a:off x="411480" y="1773936"/>
            <a:ext cx="2487168"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Router / Suebaki</a:t>
            </a:r>
            <a:endParaRPr lang="en-US" sz="1100" dirty="0"/>
          </a:p>
        </p:txBody>
      </p:sp>
      <p:sp>
        <p:nvSpPr>
          <p:cNvPr id="9" name="Text 7"/>
          <p:cNvSpPr/>
          <p:nvPr/>
        </p:nvSpPr>
        <p:spPr>
          <a:xfrm>
            <a:off x="411480" y="2267712"/>
            <a:ext cx="2487168" cy="274320"/>
          </a:xfrm>
          <a:prstGeom prst="rect">
            <a:avLst/>
          </a:prstGeom>
          <a:noFill/>
          <a:ln/>
        </p:spPr>
        <p:txBody>
          <a:bodyPr wrap="square"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1 vCPU · 1 GB RAM</a:t>
            </a:r>
            <a:endParaRPr lang="en-US" sz="1000" dirty="0"/>
          </a:p>
        </p:txBody>
      </p:sp>
      <p:sp>
        <p:nvSpPr>
          <p:cNvPr id="10" name="Shape 8"/>
          <p:cNvSpPr/>
          <p:nvPr/>
        </p:nvSpPr>
        <p:spPr>
          <a:xfrm>
            <a:off x="3154680" y="1216152"/>
            <a:ext cx="2743200" cy="14630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11" name="Shape 9"/>
          <p:cNvSpPr/>
          <p:nvPr/>
        </p:nvSpPr>
        <p:spPr>
          <a:xfrm>
            <a:off x="3154680" y="1216152"/>
            <a:ext cx="2743200" cy="109728"/>
          </a:xfrm>
          <a:prstGeom prst="rect">
            <a:avLst/>
          </a:prstGeom>
          <a:solidFill>
            <a:srgbClr val="0EA5E9"/>
          </a:solidFill>
          <a:ln w="12700">
            <a:solidFill>
              <a:srgbClr val="0EA5E9"/>
            </a:solidFill>
            <a:prstDash val="solid"/>
          </a:ln>
        </p:spPr>
      </p:sp>
      <p:sp>
        <p:nvSpPr>
          <p:cNvPr id="12" name="Text 10"/>
          <p:cNvSpPr/>
          <p:nvPr/>
        </p:nvSpPr>
        <p:spPr>
          <a:xfrm>
            <a:off x="3291840" y="1399032"/>
            <a:ext cx="2487168" cy="347472"/>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ZG-App</a:t>
            </a:r>
            <a:endParaRPr lang="en-US" sz="1500" dirty="0"/>
          </a:p>
        </p:txBody>
      </p:sp>
      <p:sp>
        <p:nvSpPr>
          <p:cNvPr id="13" name="Text 11"/>
          <p:cNvSpPr/>
          <p:nvPr/>
        </p:nvSpPr>
        <p:spPr>
          <a:xfrm>
            <a:off x="3291840" y="1773936"/>
            <a:ext cx="2487168"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PHP 8.4 · Nginx · Redis</a:t>
            </a:r>
            <a:endParaRPr lang="en-US" sz="1100" dirty="0"/>
          </a:p>
        </p:txBody>
      </p:sp>
      <p:sp>
        <p:nvSpPr>
          <p:cNvPr id="14" name="Text 12"/>
          <p:cNvSpPr/>
          <p:nvPr/>
        </p:nvSpPr>
        <p:spPr>
          <a:xfrm>
            <a:off x="3291840" y="2267712"/>
            <a:ext cx="2487168" cy="274320"/>
          </a:xfrm>
          <a:prstGeom prst="rect">
            <a:avLst/>
          </a:prstGeom>
          <a:noFill/>
          <a:ln/>
        </p:spPr>
        <p:txBody>
          <a:bodyPr wrap="square"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2 vCPU · 4 GB RAM</a:t>
            </a:r>
            <a:endParaRPr lang="en-US" sz="1000" dirty="0"/>
          </a:p>
        </p:txBody>
      </p:sp>
      <p:sp>
        <p:nvSpPr>
          <p:cNvPr id="15" name="Shape 13"/>
          <p:cNvSpPr/>
          <p:nvPr/>
        </p:nvSpPr>
        <p:spPr>
          <a:xfrm>
            <a:off x="6035040" y="1216152"/>
            <a:ext cx="2743200" cy="14630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16" name="Shape 14"/>
          <p:cNvSpPr/>
          <p:nvPr/>
        </p:nvSpPr>
        <p:spPr>
          <a:xfrm>
            <a:off x="6035040" y="1216152"/>
            <a:ext cx="2743200" cy="109728"/>
          </a:xfrm>
          <a:prstGeom prst="rect">
            <a:avLst/>
          </a:prstGeom>
          <a:solidFill>
            <a:srgbClr val="7C3AED"/>
          </a:solidFill>
          <a:ln w="12700">
            <a:solidFill>
              <a:srgbClr val="7C3AED"/>
            </a:solidFill>
            <a:prstDash val="solid"/>
          </a:ln>
        </p:spPr>
      </p:sp>
      <p:sp>
        <p:nvSpPr>
          <p:cNvPr id="17" name="Text 15"/>
          <p:cNvSpPr/>
          <p:nvPr/>
        </p:nvSpPr>
        <p:spPr>
          <a:xfrm>
            <a:off x="6172200" y="1399032"/>
            <a:ext cx="2487168" cy="347472"/>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ZG-Data</a:t>
            </a:r>
            <a:endParaRPr lang="en-US" sz="1500" dirty="0"/>
          </a:p>
        </p:txBody>
      </p:sp>
      <p:sp>
        <p:nvSpPr>
          <p:cNvPr id="18" name="Text 16"/>
          <p:cNvSpPr/>
          <p:nvPr/>
        </p:nvSpPr>
        <p:spPr>
          <a:xfrm>
            <a:off x="6172200" y="1773936"/>
            <a:ext cx="2487168"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PostgreSQL 16 BBDD</a:t>
            </a:r>
            <a:endParaRPr lang="en-US" sz="1100" dirty="0"/>
          </a:p>
        </p:txBody>
      </p:sp>
      <p:sp>
        <p:nvSpPr>
          <p:cNvPr id="19" name="Text 17"/>
          <p:cNvSpPr/>
          <p:nvPr/>
        </p:nvSpPr>
        <p:spPr>
          <a:xfrm>
            <a:off x="6172200" y="2267712"/>
            <a:ext cx="2487168" cy="274320"/>
          </a:xfrm>
          <a:prstGeom prst="rect">
            <a:avLst/>
          </a:prstGeom>
          <a:noFill/>
          <a:ln/>
        </p:spPr>
        <p:txBody>
          <a:bodyPr wrap="square"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2 vCPU · 4 GB RAM</a:t>
            </a:r>
            <a:endParaRPr lang="en-US" sz="1000" dirty="0"/>
          </a:p>
        </p:txBody>
      </p:sp>
      <p:sp>
        <p:nvSpPr>
          <p:cNvPr id="20" name="Shape 18"/>
          <p:cNvSpPr/>
          <p:nvPr/>
        </p:nvSpPr>
        <p:spPr>
          <a:xfrm>
            <a:off x="274320" y="2843784"/>
            <a:ext cx="2743200" cy="14630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1" name="Shape 19"/>
          <p:cNvSpPr/>
          <p:nvPr/>
        </p:nvSpPr>
        <p:spPr>
          <a:xfrm>
            <a:off x="274320" y="2843784"/>
            <a:ext cx="2743200" cy="109728"/>
          </a:xfrm>
          <a:prstGeom prst="rect">
            <a:avLst/>
          </a:prstGeom>
          <a:solidFill>
            <a:srgbClr val="DC2626"/>
          </a:solidFill>
          <a:ln w="12700">
            <a:solidFill>
              <a:srgbClr val="DC2626"/>
            </a:solidFill>
            <a:prstDash val="solid"/>
          </a:ln>
        </p:spPr>
      </p:sp>
      <p:sp>
        <p:nvSpPr>
          <p:cNvPr id="22" name="Text 20"/>
          <p:cNvSpPr/>
          <p:nvPr/>
        </p:nvSpPr>
        <p:spPr>
          <a:xfrm>
            <a:off x="411480" y="3026664"/>
            <a:ext cx="2487168" cy="347472"/>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ZG-SecOps</a:t>
            </a:r>
            <a:endParaRPr lang="en-US" sz="1500" dirty="0"/>
          </a:p>
        </p:txBody>
      </p:sp>
      <p:sp>
        <p:nvSpPr>
          <p:cNvPr id="23" name="Text 21"/>
          <p:cNvSpPr/>
          <p:nvPr/>
        </p:nvSpPr>
        <p:spPr>
          <a:xfrm>
            <a:off x="411480" y="3401568"/>
            <a:ext cx="2487168"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Wazuh SIEM · Honeypot</a:t>
            </a:r>
            <a:endParaRPr lang="en-US" sz="1100" dirty="0"/>
          </a:p>
        </p:txBody>
      </p:sp>
      <p:sp>
        <p:nvSpPr>
          <p:cNvPr id="24" name="Text 22"/>
          <p:cNvSpPr/>
          <p:nvPr/>
        </p:nvSpPr>
        <p:spPr>
          <a:xfrm>
            <a:off x="411480" y="3895344"/>
            <a:ext cx="2487168" cy="274320"/>
          </a:xfrm>
          <a:prstGeom prst="rect">
            <a:avLst/>
          </a:prstGeom>
          <a:noFill/>
          <a:ln/>
        </p:spPr>
        <p:txBody>
          <a:bodyPr wrap="square"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4 vCPU · 8 GB RAM</a:t>
            </a:r>
            <a:endParaRPr lang="en-US" sz="1000" dirty="0"/>
          </a:p>
        </p:txBody>
      </p:sp>
      <p:sp>
        <p:nvSpPr>
          <p:cNvPr id="25" name="Shape 23"/>
          <p:cNvSpPr/>
          <p:nvPr/>
        </p:nvSpPr>
        <p:spPr>
          <a:xfrm>
            <a:off x="3154680" y="2843784"/>
            <a:ext cx="2743200" cy="14630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6" name="Shape 24"/>
          <p:cNvSpPr/>
          <p:nvPr/>
        </p:nvSpPr>
        <p:spPr>
          <a:xfrm>
            <a:off x="3154680" y="2843784"/>
            <a:ext cx="2743200" cy="109728"/>
          </a:xfrm>
          <a:prstGeom prst="rect">
            <a:avLst/>
          </a:prstGeom>
          <a:solidFill>
            <a:srgbClr val="16A34A"/>
          </a:solidFill>
          <a:ln w="12700">
            <a:solidFill>
              <a:srgbClr val="16A34A"/>
            </a:solidFill>
            <a:prstDash val="solid"/>
          </a:ln>
        </p:spPr>
      </p:sp>
      <p:sp>
        <p:nvSpPr>
          <p:cNvPr id="27" name="Text 25"/>
          <p:cNvSpPr/>
          <p:nvPr/>
        </p:nvSpPr>
        <p:spPr>
          <a:xfrm>
            <a:off x="3291840" y="3026664"/>
            <a:ext cx="2487168" cy="347472"/>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ZG-OT</a:t>
            </a:r>
            <a:endParaRPr lang="en-US" sz="1500" dirty="0"/>
          </a:p>
        </p:txBody>
      </p:sp>
      <p:sp>
        <p:nvSpPr>
          <p:cNvPr id="28" name="Text 26"/>
          <p:cNvSpPr/>
          <p:nvPr/>
        </p:nvSpPr>
        <p:spPr>
          <a:xfrm>
            <a:off x="3291840" y="3401568"/>
            <a:ext cx="2487168"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OpenPLC · ScadaBR</a:t>
            </a:r>
            <a:endParaRPr lang="en-US" sz="1100" dirty="0"/>
          </a:p>
        </p:txBody>
      </p:sp>
      <p:sp>
        <p:nvSpPr>
          <p:cNvPr id="29" name="Text 27"/>
          <p:cNvSpPr/>
          <p:nvPr/>
        </p:nvSpPr>
        <p:spPr>
          <a:xfrm>
            <a:off x="3291840" y="3895344"/>
            <a:ext cx="2487168" cy="274320"/>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1 vCPU · 2 GB RAM</a:t>
            </a:r>
            <a:endParaRPr lang="en-US" sz="1000" dirty="0"/>
          </a:p>
        </p:txBody>
      </p:sp>
      <p:sp>
        <p:nvSpPr>
          <p:cNvPr id="30" name="Shape 28"/>
          <p:cNvSpPr/>
          <p:nvPr/>
        </p:nvSpPr>
        <p:spPr>
          <a:xfrm>
            <a:off x="6035040" y="2843784"/>
            <a:ext cx="2743200" cy="14630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31" name="Shape 29"/>
          <p:cNvSpPr/>
          <p:nvPr/>
        </p:nvSpPr>
        <p:spPr>
          <a:xfrm>
            <a:off x="6035040" y="2843784"/>
            <a:ext cx="2743200" cy="109728"/>
          </a:xfrm>
          <a:prstGeom prst="rect">
            <a:avLst/>
          </a:prstGeom>
          <a:solidFill>
            <a:srgbClr val="64748B"/>
          </a:solidFill>
          <a:ln w="12700">
            <a:solidFill>
              <a:srgbClr val="64748B"/>
            </a:solidFill>
            <a:prstDash val="solid"/>
          </a:ln>
        </p:spPr>
      </p:sp>
      <p:sp>
        <p:nvSpPr>
          <p:cNvPr id="32" name="Text 30"/>
          <p:cNvSpPr/>
          <p:nvPr/>
        </p:nvSpPr>
        <p:spPr>
          <a:xfrm>
            <a:off x="6172200" y="3026664"/>
            <a:ext cx="2487168" cy="347472"/>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ZG-Client</a:t>
            </a:r>
            <a:endParaRPr lang="en-US" sz="1500" dirty="0"/>
          </a:p>
        </p:txBody>
      </p:sp>
      <p:sp>
        <p:nvSpPr>
          <p:cNvPr id="33" name="Text 31"/>
          <p:cNvSpPr/>
          <p:nvPr/>
        </p:nvSpPr>
        <p:spPr>
          <a:xfrm>
            <a:off x="6172200" y="3401568"/>
            <a:ext cx="2487168"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Langile-Estazioa (IsardVDI)</a:t>
            </a:r>
            <a:endParaRPr lang="en-US" sz="1100" dirty="0"/>
          </a:p>
        </p:txBody>
      </p:sp>
      <p:sp>
        <p:nvSpPr>
          <p:cNvPr id="34" name="Text 32"/>
          <p:cNvSpPr/>
          <p:nvPr/>
        </p:nvSpPr>
        <p:spPr>
          <a:xfrm>
            <a:off x="6172200" y="3895344"/>
            <a:ext cx="2487168" cy="27432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2 vCPU · 4 GB RAM</a:t>
            </a:r>
            <a:endParaRPr lang="en-US" sz="1000" dirty="0"/>
          </a:p>
        </p:txBody>
      </p:sp>
      <p:sp>
        <p:nvSpPr>
          <p:cNvPr id="35" name="Shape 33"/>
          <p:cNvSpPr/>
          <p:nvPr/>
        </p:nvSpPr>
        <p:spPr>
          <a:xfrm>
            <a:off x="274320" y="4498848"/>
            <a:ext cx="8595360" cy="347472"/>
          </a:xfrm>
          <a:prstGeom prst="rect">
            <a:avLst/>
          </a:prstGeom>
          <a:solidFill>
            <a:srgbClr val="0F2D4A"/>
          </a:solidFill>
          <a:ln w="12700">
            <a:solidFill>
              <a:srgbClr val="0F2D4A"/>
            </a:solidFill>
            <a:prstDash val="solid"/>
          </a:ln>
        </p:spPr>
      </p:sp>
      <p:sp>
        <p:nvSpPr>
          <p:cNvPr id="36" name="Text 34"/>
          <p:cNvSpPr/>
          <p:nvPr/>
        </p:nvSpPr>
        <p:spPr>
          <a:xfrm>
            <a:off x="411480" y="4517136"/>
            <a:ext cx="8321040" cy="310896"/>
          </a:xfrm>
          <a:prstGeom prst="rect">
            <a:avLst/>
          </a:prstGeom>
          <a:noFill/>
          <a:ln/>
        </p:spPr>
        <p:txBody>
          <a:bodyPr wrap="square" rtlCol="0" anchor="ctr"/>
          <a:lstStyle/>
          <a:p>
            <a:pPr indent="0" marL="0">
              <a:buNone/>
            </a:pPr>
            <a:r>
              <a:rPr lang="en-US" sz="1100" b="1" dirty="0">
                <a:solidFill>
                  <a:srgbClr val="C8A96E"/>
                </a:solidFill>
                <a:latin typeface="Calibri" pitchFamily="34" charset="0"/>
                <a:ea typeface="Calibri" pitchFamily="34" charset="-122"/>
                <a:cs typeface="Calibri" pitchFamily="34" charset="-120"/>
              </a:rPr>
              <a:t>Ansible bidez automatizatutako konfigurazioa  ·  Proxmox hiperbisorearen gainean  ·  IsardVDI ikasgela birtual gisa erabilita</a:t>
            </a:r>
            <a:endParaRPr lang="en-US" sz="1100" dirty="0"/>
          </a:p>
        </p:txBody>
      </p:sp>
      <p:sp>
        <p:nvSpPr>
          <p:cNvPr id="37" name="Shape 35"/>
          <p:cNvSpPr/>
          <p:nvPr/>
        </p:nvSpPr>
        <p:spPr>
          <a:xfrm>
            <a:off x="0" y="4937760"/>
            <a:ext cx="9144000" cy="205740"/>
          </a:xfrm>
          <a:prstGeom prst="rect">
            <a:avLst/>
          </a:prstGeom>
          <a:solidFill>
            <a:srgbClr val="0F2D4A"/>
          </a:solidFill>
          <a:ln w="12700">
            <a:solidFill>
              <a:srgbClr val="0F2D4A"/>
            </a:solidFill>
            <a:prstDash val="solid"/>
          </a:ln>
        </p:spPr>
      </p:sp>
      <p:sp>
        <p:nvSpPr>
          <p:cNvPr id="38" name="Text 36"/>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39" name="Text 37"/>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03 · BERRIKUNTZA SEGURUA ETA EGUNEROKO OPERAZIOAK</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Langile-Tresnak: RRHH Portala eta App Mugikorra</a:t>
            </a:r>
            <a:endParaRPr lang="en-US" sz="2400" dirty="0"/>
          </a:p>
        </p:txBody>
      </p:sp>
      <p:sp>
        <p:nvSpPr>
          <p:cNvPr id="5" name="Text 3"/>
          <p:cNvSpPr/>
          <p:nvPr/>
        </p:nvSpPr>
        <p:spPr>
          <a:xfrm>
            <a:off x="274320" y="1170432"/>
            <a:ext cx="4114800" cy="274320"/>
          </a:xfrm>
          <a:prstGeom prst="rect">
            <a:avLst/>
          </a:prstGeom>
          <a:noFill/>
          <a:ln/>
        </p:spPr>
        <p:txBody>
          <a:bodyPr wrap="square" rtlCol="0" anchor="ctr"/>
          <a:lstStyle/>
          <a:p>
            <a:pPr indent="0" marL="0">
              <a:buNone/>
            </a:pPr>
            <a:r>
              <a:rPr lang="en-US" sz="1200" b="1" spc="200" kern="0" dirty="0">
                <a:solidFill>
                  <a:srgbClr val="0F2D4A"/>
                </a:solidFill>
                <a:latin typeface="Calibri" pitchFamily="34" charset="0"/>
                <a:ea typeface="Calibri" pitchFamily="34" charset="-122"/>
                <a:cs typeface="Calibri" pitchFamily="34" charset="-120"/>
              </a:rPr>
              <a:t>RRHH WEB PORTALA</a:t>
            </a:r>
            <a:endParaRPr lang="en-US" sz="1200" dirty="0"/>
          </a:p>
        </p:txBody>
      </p:sp>
      <p:sp>
        <p:nvSpPr>
          <p:cNvPr id="6" name="Shape 4"/>
          <p:cNvSpPr/>
          <p:nvPr/>
        </p:nvSpPr>
        <p:spPr>
          <a:xfrm>
            <a:off x="274320" y="1463040"/>
            <a:ext cx="54864" cy="3108960"/>
          </a:xfrm>
          <a:prstGeom prst="rect">
            <a:avLst/>
          </a:prstGeom>
          <a:solidFill>
            <a:srgbClr val="0F2D4A"/>
          </a:solidFill>
          <a:ln w="12700">
            <a:solidFill>
              <a:srgbClr val="0F2D4A"/>
            </a:solidFill>
            <a:prstDash val="solid"/>
          </a:ln>
        </p:spPr>
      </p:sp>
      <p:sp>
        <p:nvSpPr>
          <p:cNvPr id="7" name="Text 5"/>
          <p:cNvSpPr/>
          <p:nvPr/>
        </p:nvSpPr>
        <p:spPr>
          <a:xfrm>
            <a:off x="438912" y="1481328"/>
            <a:ext cx="384048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Autentifikazio Anizkoitza (3 geruza)</a:t>
            </a:r>
            <a:endParaRPr lang="en-US" sz="1300" dirty="0"/>
          </a:p>
        </p:txBody>
      </p:sp>
      <p:sp>
        <p:nvSpPr>
          <p:cNvPr id="8" name="Text 6"/>
          <p:cNvSpPr/>
          <p:nvPr/>
        </p:nvSpPr>
        <p:spPr>
          <a:xfrm>
            <a:off x="438912" y="1783080"/>
            <a:ext cx="384048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JWT + TOTP MFA (RFC 6238) + WebAuthn pasahitz fisikoak — Erasotzailearentzat hiru hormak</a:t>
            </a:r>
            <a:endParaRPr lang="en-US" sz="1000" dirty="0"/>
          </a:p>
        </p:txBody>
      </p:sp>
      <p:sp>
        <p:nvSpPr>
          <p:cNvPr id="9" name="Text 7"/>
          <p:cNvSpPr/>
          <p:nvPr/>
        </p:nvSpPr>
        <p:spPr>
          <a:xfrm>
            <a:off x="438912" y="2258568"/>
            <a:ext cx="384048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RBAC 5 Rolen Sistema</a:t>
            </a:r>
            <a:endParaRPr lang="en-US" sz="1300" dirty="0"/>
          </a:p>
        </p:txBody>
      </p:sp>
      <p:sp>
        <p:nvSpPr>
          <p:cNvPr id="10" name="Text 8"/>
          <p:cNvSpPr/>
          <p:nvPr/>
        </p:nvSpPr>
        <p:spPr>
          <a:xfrm>
            <a:off x="438912" y="2560320"/>
            <a:ext cx="384048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ADMIN, RRHH_MGR, JEFE_SECCION, EMPLEADO, AUDITOR — Pribilegio minimoa bermatu</a:t>
            </a:r>
            <a:endParaRPr lang="en-US" sz="1000" dirty="0"/>
          </a:p>
        </p:txBody>
      </p:sp>
      <p:sp>
        <p:nvSpPr>
          <p:cNvPr id="11" name="Text 9"/>
          <p:cNvSpPr/>
          <p:nvPr/>
        </p:nvSpPr>
        <p:spPr>
          <a:xfrm>
            <a:off x="438912" y="3035808"/>
            <a:ext cx="384048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Funtzionalitateak</a:t>
            </a:r>
            <a:endParaRPr lang="en-US" sz="1300" dirty="0"/>
          </a:p>
        </p:txBody>
      </p:sp>
      <p:sp>
        <p:nvSpPr>
          <p:cNvPr id="12" name="Text 10"/>
          <p:cNvSpPr/>
          <p:nvPr/>
        </p:nvSpPr>
        <p:spPr>
          <a:xfrm>
            <a:off x="438912" y="3337560"/>
            <a:ext cx="384048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Oporrak, nomina ikustea, dokumentu zifratu deskargak, txat WebSocket denbora errealekoa</a:t>
            </a:r>
            <a:endParaRPr lang="en-US" sz="1000" dirty="0"/>
          </a:p>
        </p:txBody>
      </p:sp>
      <p:sp>
        <p:nvSpPr>
          <p:cNvPr id="13" name="Text 11"/>
          <p:cNvSpPr/>
          <p:nvPr/>
        </p:nvSpPr>
        <p:spPr>
          <a:xfrm>
            <a:off x="438912" y="3813048"/>
            <a:ext cx="384048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Segurtasun-goiburuak (OWASP)</a:t>
            </a:r>
            <a:endParaRPr lang="en-US" sz="1300" dirty="0"/>
          </a:p>
        </p:txBody>
      </p:sp>
      <p:sp>
        <p:nvSpPr>
          <p:cNvPr id="14" name="Text 12"/>
          <p:cNvSpPr/>
          <p:nvPr/>
        </p:nvSpPr>
        <p:spPr>
          <a:xfrm>
            <a:off x="438912" y="4114800"/>
            <a:ext cx="384048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HSTS, CSP, X-Frame-Options, TLS 1.3 — OWASP Top 10 zerrenda osoa kontuan hartuta</a:t>
            </a:r>
            <a:endParaRPr lang="en-US" sz="1000" dirty="0"/>
          </a:p>
        </p:txBody>
      </p:sp>
      <p:sp>
        <p:nvSpPr>
          <p:cNvPr id="15" name="Shape 13"/>
          <p:cNvSpPr/>
          <p:nvPr/>
        </p:nvSpPr>
        <p:spPr>
          <a:xfrm>
            <a:off x="4572000" y="1152144"/>
            <a:ext cx="0" cy="3520440"/>
          </a:xfrm>
          <a:prstGeom prst="line">
            <a:avLst/>
          </a:prstGeom>
          <a:noFill/>
          <a:ln w="12700">
            <a:solidFill>
              <a:srgbClr val="E2E8F0"/>
            </a:solidFill>
            <a:prstDash val="solid"/>
          </a:ln>
        </p:spPr>
      </p:sp>
      <p:sp>
        <p:nvSpPr>
          <p:cNvPr id="16" name="Text 14"/>
          <p:cNvSpPr/>
          <p:nvPr/>
        </p:nvSpPr>
        <p:spPr>
          <a:xfrm>
            <a:off x="4754880" y="1170432"/>
            <a:ext cx="4114800" cy="274320"/>
          </a:xfrm>
          <a:prstGeom prst="rect">
            <a:avLst/>
          </a:prstGeom>
          <a:noFill/>
          <a:ln/>
        </p:spPr>
        <p:txBody>
          <a:bodyPr wrap="square" rtlCol="0" anchor="ctr"/>
          <a:lstStyle/>
          <a:p>
            <a:pPr indent="0" marL="0">
              <a:buNone/>
            </a:pPr>
            <a:r>
              <a:rPr lang="en-US" sz="1200" b="1" spc="200" kern="0" dirty="0">
                <a:solidFill>
                  <a:srgbClr val="0F2D4A"/>
                </a:solidFill>
                <a:latin typeface="Calibri" pitchFamily="34" charset="0"/>
                <a:ea typeface="Calibri" pitchFamily="34" charset="-122"/>
                <a:cs typeface="Calibri" pitchFamily="34" charset="-120"/>
              </a:rPr>
              <a:t>APP MUGIKORRA (ANDROID)</a:t>
            </a:r>
            <a:endParaRPr lang="en-US" sz="1200" dirty="0"/>
          </a:p>
        </p:txBody>
      </p:sp>
      <p:sp>
        <p:nvSpPr>
          <p:cNvPr id="17" name="Shape 15"/>
          <p:cNvSpPr/>
          <p:nvPr/>
        </p:nvSpPr>
        <p:spPr>
          <a:xfrm>
            <a:off x="4754880" y="1463040"/>
            <a:ext cx="54864" cy="3108960"/>
          </a:xfrm>
          <a:prstGeom prst="rect">
            <a:avLst/>
          </a:prstGeom>
          <a:solidFill>
            <a:srgbClr val="16A34A"/>
          </a:solidFill>
          <a:ln w="12700">
            <a:solidFill>
              <a:srgbClr val="16A34A"/>
            </a:solidFill>
            <a:prstDash val="solid"/>
          </a:ln>
        </p:spPr>
      </p:sp>
      <p:sp>
        <p:nvSpPr>
          <p:cNvPr id="18" name="Text 16"/>
          <p:cNvSpPr/>
          <p:nvPr/>
        </p:nvSpPr>
        <p:spPr>
          <a:xfrm>
            <a:off x="4892040" y="1481328"/>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Kotlin 2.0 + Jetpack Compose</a:t>
            </a:r>
            <a:endParaRPr lang="en-US" sz="1300" dirty="0"/>
          </a:p>
        </p:txBody>
      </p:sp>
      <p:sp>
        <p:nvSpPr>
          <p:cNvPr id="19" name="Text 17"/>
          <p:cNvSpPr/>
          <p:nvPr/>
        </p:nvSpPr>
        <p:spPr>
          <a:xfrm>
            <a:off x="4892040" y="1783080"/>
            <a:ext cx="39319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Material 3 diseinua, Clean Architecture + MVI eredua, Hilt dependency injection</a:t>
            </a:r>
            <a:endParaRPr lang="en-US" sz="1000" dirty="0"/>
          </a:p>
        </p:txBody>
      </p:sp>
      <p:sp>
        <p:nvSpPr>
          <p:cNvPr id="20" name="Text 18"/>
          <p:cNvSpPr/>
          <p:nvPr/>
        </p:nvSpPr>
        <p:spPr>
          <a:xfrm>
            <a:off x="4892040" y="2258568"/>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Certificate Pinning aktibo</a:t>
            </a:r>
            <a:endParaRPr lang="en-US" sz="1300" dirty="0"/>
          </a:p>
        </p:txBody>
      </p:sp>
      <p:sp>
        <p:nvSpPr>
          <p:cNvPr id="21" name="Text 19"/>
          <p:cNvSpPr/>
          <p:nvPr/>
        </p:nvSpPr>
        <p:spPr>
          <a:xfrm>
            <a:off x="4892040" y="2560320"/>
            <a:ext cx="39319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TLS ziurtagiriak aplikazioan kodetuta — Man-in-the-Middle erasoak ezinezko</a:t>
            </a:r>
            <a:endParaRPr lang="en-US" sz="1000" dirty="0"/>
          </a:p>
        </p:txBody>
      </p:sp>
      <p:sp>
        <p:nvSpPr>
          <p:cNvPr id="22" name="Text 20"/>
          <p:cNvSpPr/>
          <p:nvPr/>
        </p:nvSpPr>
        <p:spPr>
          <a:xfrm>
            <a:off x="4892040" y="3035808"/>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CI/CD automatikoa</a:t>
            </a:r>
            <a:endParaRPr lang="en-US" sz="1300" dirty="0"/>
          </a:p>
        </p:txBody>
      </p:sp>
      <p:sp>
        <p:nvSpPr>
          <p:cNvPr id="23" name="Text 21"/>
          <p:cNvSpPr/>
          <p:nvPr/>
        </p:nvSpPr>
        <p:spPr>
          <a:xfrm>
            <a:off x="4892040" y="3337560"/>
            <a:ext cx="39319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GitHub Actions bidez eraikia eta sinatua — SHA-256 egiaztatzapena banatzerakoan</a:t>
            </a:r>
            <a:endParaRPr lang="en-US" sz="1000" dirty="0"/>
          </a:p>
        </p:txBody>
      </p:sp>
      <p:sp>
        <p:nvSpPr>
          <p:cNvPr id="24" name="Text 22"/>
          <p:cNvSpPr/>
          <p:nvPr/>
        </p:nvSpPr>
        <p:spPr>
          <a:xfrm>
            <a:off x="4892040" y="3813048"/>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App Transport Security (HTTPS)</a:t>
            </a:r>
            <a:endParaRPr lang="en-US" sz="1300" dirty="0"/>
          </a:p>
        </p:txBody>
      </p:sp>
      <p:sp>
        <p:nvSpPr>
          <p:cNvPr id="25" name="Text 23"/>
          <p:cNvSpPr/>
          <p:nvPr/>
        </p:nvSpPr>
        <p:spPr>
          <a:xfrm>
            <a:off x="4892040" y="4114800"/>
            <a:ext cx="39319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Cleartext konexiorik ez baimentzen da inoiz — Sare guztiak enkriptatuta</a:t>
            </a:r>
            <a:endParaRPr lang="en-US" sz="1000" dirty="0"/>
          </a:p>
        </p:txBody>
      </p:sp>
      <p:sp>
        <p:nvSpPr>
          <p:cNvPr id="26" name="Shape 24"/>
          <p:cNvSpPr/>
          <p:nvPr/>
        </p:nvSpPr>
        <p:spPr>
          <a:xfrm>
            <a:off x="0" y="4937760"/>
            <a:ext cx="9144000" cy="205740"/>
          </a:xfrm>
          <a:prstGeom prst="rect">
            <a:avLst/>
          </a:prstGeom>
          <a:solidFill>
            <a:srgbClr val="0F2D4A"/>
          </a:solidFill>
          <a:ln w="12700">
            <a:solidFill>
              <a:srgbClr val="0F2D4A"/>
            </a:solidFill>
            <a:prstDash val="solid"/>
          </a:ln>
        </p:spPr>
      </p:sp>
      <p:sp>
        <p:nvSpPr>
          <p:cNvPr id="27" name="Text 25"/>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28" name="Text 26"/>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03 · BERRIKUNTZA SEGURUA ETA EGUNEROKO OPERAZIOAK</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Segurtasuna Hasieratik: DevSecOps Pipeline eta Edukiontzi Estrategia</a:t>
            </a:r>
            <a:endParaRPr lang="en-US" sz="2400" dirty="0"/>
          </a:p>
        </p:txBody>
      </p:sp>
      <p:sp>
        <p:nvSpPr>
          <p:cNvPr id="5" name="Shape 3"/>
          <p:cNvSpPr/>
          <p:nvPr/>
        </p:nvSpPr>
        <p:spPr>
          <a:xfrm>
            <a:off x="1673352" y="2148840"/>
            <a:ext cx="320040" cy="64008"/>
          </a:xfrm>
          <a:prstGeom prst="rect">
            <a:avLst/>
          </a:prstGeom>
          <a:solidFill>
            <a:srgbClr val="64748B"/>
          </a:solidFill>
          <a:ln w="12700">
            <a:solidFill>
              <a:srgbClr val="64748B"/>
            </a:solidFill>
            <a:prstDash val="solid"/>
          </a:ln>
        </p:spPr>
      </p:sp>
      <p:sp>
        <p:nvSpPr>
          <p:cNvPr id="6" name="Shape 4"/>
          <p:cNvSpPr/>
          <p:nvPr/>
        </p:nvSpPr>
        <p:spPr>
          <a:xfrm>
            <a:off x="256032" y="1207008"/>
            <a:ext cx="1417320" cy="3246120"/>
          </a:xfrm>
          <a:prstGeom prst="rect">
            <a:avLst/>
          </a:prstGeom>
          <a:solidFill>
            <a:srgbClr val="FFFFFF"/>
          </a:solidFill>
          <a:ln w="25400">
            <a:solidFill>
              <a:srgbClr val="0EA5E9"/>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256032" y="1207008"/>
            <a:ext cx="1417320" cy="475488"/>
          </a:xfrm>
          <a:prstGeom prst="rect">
            <a:avLst/>
          </a:prstGeom>
          <a:solidFill>
            <a:srgbClr val="0EA5E9"/>
          </a:solidFill>
          <a:ln w="12700">
            <a:solidFill>
              <a:srgbClr val="0EA5E9"/>
            </a:solidFill>
            <a:prstDash val="solid"/>
          </a:ln>
        </p:spPr>
      </p:sp>
      <p:sp>
        <p:nvSpPr>
          <p:cNvPr id="8" name="Text 6"/>
          <p:cNvSpPr/>
          <p:nvPr/>
        </p:nvSpPr>
        <p:spPr>
          <a:xfrm>
            <a:off x="256032" y="1207008"/>
            <a:ext cx="1417320" cy="475488"/>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01</a:t>
            </a:r>
            <a:endParaRPr lang="en-US" sz="2200" dirty="0"/>
          </a:p>
        </p:txBody>
      </p:sp>
      <p:sp>
        <p:nvSpPr>
          <p:cNvPr id="9" name="Text 7"/>
          <p:cNvSpPr/>
          <p:nvPr/>
        </p:nvSpPr>
        <p:spPr>
          <a:xfrm>
            <a:off x="320040" y="1773936"/>
            <a:ext cx="1298448" cy="658368"/>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Kodea</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Idatzi</a:t>
            </a:r>
            <a:endParaRPr lang="en-US" sz="1300" dirty="0"/>
          </a:p>
        </p:txBody>
      </p:sp>
      <p:sp>
        <p:nvSpPr>
          <p:cNvPr id="10" name="Text 8"/>
          <p:cNvSpPr/>
          <p:nvPr/>
        </p:nvSpPr>
        <p:spPr>
          <a:xfrm>
            <a:off x="320040" y="2514600"/>
            <a:ext cx="1298448" cy="9144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PHP 8.4</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Kotlin 2.0</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React 18</a:t>
            </a:r>
            <a:endParaRPr lang="en-US" sz="1000" dirty="0"/>
          </a:p>
        </p:txBody>
      </p:sp>
      <p:sp>
        <p:nvSpPr>
          <p:cNvPr id="11" name="Shape 9"/>
          <p:cNvSpPr/>
          <p:nvPr/>
        </p:nvSpPr>
        <p:spPr>
          <a:xfrm>
            <a:off x="3410712" y="2148840"/>
            <a:ext cx="320040" cy="64008"/>
          </a:xfrm>
          <a:prstGeom prst="rect">
            <a:avLst/>
          </a:prstGeom>
          <a:solidFill>
            <a:srgbClr val="64748B"/>
          </a:solidFill>
          <a:ln w="12700">
            <a:solidFill>
              <a:srgbClr val="64748B"/>
            </a:solidFill>
            <a:prstDash val="solid"/>
          </a:ln>
        </p:spPr>
      </p:sp>
      <p:sp>
        <p:nvSpPr>
          <p:cNvPr id="12" name="Shape 10"/>
          <p:cNvSpPr/>
          <p:nvPr/>
        </p:nvSpPr>
        <p:spPr>
          <a:xfrm>
            <a:off x="1993392" y="1207008"/>
            <a:ext cx="1417320" cy="3246120"/>
          </a:xfrm>
          <a:prstGeom prst="rect">
            <a:avLst/>
          </a:prstGeom>
          <a:solidFill>
            <a:srgbClr val="FFFFFF"/>
          </a:solidFill>
          <a:ln w="25400">
            <a:solidFill>
              <a:srgbClr val="7C3AED"/>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1993392" y="1207008"/>
            <a:ext cx="1417320" cy="475488"/>
          </a:xfrm>
          <a:prstGeom prst="rect">
            <a:avLst/>
          </a:prstGeom>
          <a:solidFill>
            <a:srgbClr val="7C3AED"/>
          </a:solidFill>
          <a:ln w="12700">
            <a:solidFill>
              <a:srgbClr val="7C3AED"/>
            </a:solidFill>
            <a:prstDash val="solid"/>
          </a:ln>
        </p:spPr>
      </p:sp>
      <p:sp>
        <p:nvSpPr>
          <p:cNvPr id="14" name="Text 12"/>
          <p:cNvSpPr/>
          <p:nvPr/>
        </p:nvSpPr>
        <p:spPr>
          <a:xfrm>
            <a:off x="1993392" y="1207008"/>
            <a:ext cx="1417320" cy="475488"/>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02</a:t>
            </a:r>
            <a:endParaRPr lang="en-US" sz="2200" dirty="0"/>
          </a:p>
        </p:txBody>
      </p:sp>
      <p:sp>
        <p:nvSpPr>
          <p:cNvPr id="15" name="Text 13"/>
          <p:cNvSpPr/>
          <p:nvPr/>
        </p:nvSpPr>
        <p:spPr>
          <a:xfrm>
            <a:off x="2057400" y="1773936"/>
            <a:ext cx="1298448" cy="658368"/>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SAST</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Analisi</a:t>
            </a:r>
            <a:endParaRPr lang="en-US" sz="1300" dirty="0"/>
          </a:p>
        </p:txBody>
      </p:sp>
      <p:sp>
        <p:nvSpPr>
          <p:cNvPr id="16" name="Text 14"/>
          <p:cNvSpPr/>
          <p:nvPr/>
        </p:nvSpPr>
        <p:spPr>
          <a:xfrm>
            <a:off x="2057400" y="2514600"/>
            <a:ext cx="1298448" cy="9144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Estatiko</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kode analisi</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automatikoa</a:t>
            </a:r>
            <a:endParaRPr lang="en-US" sz="1000" dirty="0"/>
          </a:p>
        </p:txBody>
      </p:sp>
      <p:sp>
        <p:nvSpPr>
          <p:cNvPr id="17" name="Shape 15"/>
          <p:cNvSpPr/>
          <p:nvPr/>
        </p:nvSpPr>
        <p:spPr>
          <a:xfrm>
            <a:off x="5148072" y="2148840"/>
            <a:ext cx="320040" cy="64008"/>
          </a:xfrm>
          <a:prstGeom prst="rect">
            <a:avLst/>
          </a:prstGeom>
          <a:solidFill>
            <a:srgbClr val="64748B"/>
          </a:solidFill>
          <a:ln w="12700">
            <a:solidFill>
              <a:srgbClr val="64748B"/>
            </a:solidFill>
            <a:prstDash val="solid"/>
          </a:ln>
        </p:spPr>
      </p:sp>
      <p:sp>
        <p:nvSpPr>
          <p:cNvPr id="18" name="Shape 16"/>
          <p:cNvSpPr/>
          <p:nvPr/>
        </p:nvSpPr>
        <p:spPr>
          <a:xfrm>
            <a:off x="3730752" y="1207008"/>
            <a:ext cx="1417320" cy="3246120"/>
          </a:xfrm>
          <a:prstGeom prst="rect">
            <a:avLst/>
          </a:prstGeom>
          <a:solidFill>
            <a:srgbClr val="FFFFFF"/>
          </a:solidFill>
          <a:ln w="25400">
            <a:solidFill>
              <a:srgbClr val="F97316"/>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3730752" y="1207008"/>
            <a:ext cx="1417320" cy="475488"/>
          </a:xfrm>
          <a:prstGeom prst="rect">
            <a:avLst/>
          </a:prstGeom>
          <a:solidFill>
            <a:srgbClr val="F97316"/>
          </a:solidFill>
          <a:ln w="12700">
            <a:solidFill>
              <a:srgbClr val="F97316"/>
            </a:solidFill>
            <a:prstDash val="solid"/>
          </a:ln>
        </p:spPr>
      </p:sp>
      <p:sp>
        <p:nvSpPr>
          <p:cNvPr id="20" name="Text 18"/>
          <p:cNvSpPr/>
          <p:nvPr/>
        </p:nvSpPr>
        <p:spPr>
          <a:xfrm>
            <a:off x="3730752" y="1207008"/>
            <a:ext cx="1417320" cy="475488"/>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03</a:t>
            </a:r>
            <a:endParaRPr lang="en-US" sz="2200" dirty="0"/>
          </a:p>
        </p:txBody>
      </p:sp>
      <p:sp>
        <p:nvSpPr>
          <p:cNvPr id="21" name="Text 19"/>
          <p:cNvSpPr/>
          <p:nvPr/>
        </p:nvSpPr>
        <p:spPr>
          <a:xfrm>
            <a:off x="3794760" y="1773936"/>
            <a:ext cx="1298448" cy="658368"/>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Docker</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Eraiki</a:t>
            </a:r>
            <a:endParaRPr lang="en-US" sz="1300" dirty="0"/>
          </a:p>
        </p:txBody>
      </p:sp>
      <p:sp>
        <p:nvSpPr>
          <p:cNvPr id="22" name="Text 20"/>
          <p:cNvSpPr/>
          <p:nvPr/>
        </p:nvSpPr>
        <p:spPr>
          <a:xfrm>
            <a:off x="3794760" y="2514600"/>
            <a:ext cx="1298448" cy="9144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Irudiak sinatu</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eta ziurtagiri</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bertifikatua</a:t>
            </a:r>
            <a:endParaRPr lang="en-US" sz="1000" dirty="0"/>
          </a:p>
        </p:txBody>
      </p:sp>
      <p:sp>
        <p:nvSpPr>
          <p:cNvPr id="23" name="Shape 21"/>
          <p:cNvSpPr/>
          <p:nvPr/>
        </p:nvSpPr>
        <p:spPr>
          <a:xfrm>
            <a:off x="6885432" y="2148840"/>
            <a:ext cx="320040" cy="64008"/>
          </a:xfrm>
          <a:prstGeom prst="rect">
            <a:avLst/>
          </a:prstGeom>
          <a:solidFill>
            <a:srgbClr val="64748B"/>
          </a:solidFill>
          <a:ln w="12700">
            <a:solidFill>
              <a:srgbClr val="64748B"/>
            </a:solidFill>
            <a:prstDash val="solid"/>
          </a:ln>
        </p:spPr>
      </p:sp>
      <p:sp>
        <p:nvSpPr>
          <p:cNvPr id="24" name="Shape 22"/>
          <p:cNvSpPr/>
          <p:nvPr/>
        </p:nvSpPr>
        <p:spPr>
          <a:xfrm>
            <a:off x="5468112" y="1207008"/>
            <a:ext cx="1417320" cy="3246120"/>
          </a:xfrm>
          <a:prstGeom prst="rect">
            <a:avLst/>
          </a:prstGeom>
          <a:solidFill>
            <a:srgbClr val="FFFFFF"/>
          </a:solidFill>
          <a:ln w="25400">
            <a:solidFill>
              <a:srgbClr val="DC2626"/>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5468112" y="1207008"/>
            <a:ext cx="1417320" cy="475488"/>
          </a:xfrm>
          <a:prstGeom prst="rect">
            <a:avLst/>
          </a:prstGeom>
          <a:solidFill>
            <a:srgbClr val="DC2626"/>
          </a:solidFill>
          <a:ln w="12700">
            <a:solidFill>
              <a:srgbClr val="DC2626"/>
            </a:solidFill>
            <a:prstDash val="solid"/>
          </a:ln>
        </p:spPr>
      </p:sp>
      <p:sp>
        <p:nvSpPr>
          <p:cNvPr id="26" name="Text 24"/>
          <p:cNvSpPr/>
          <p:nvPr/>
        </p:nvSpPr>
        <p:spPr>
          <a:xfrm>
            <a:off x="5468112" y="1207008"/>
            <a:ext cx="1417320" cy="475488"/>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04</a:t>
            </a:r>
            <a:endParaRPr lang="en-US" sz="2200" dirty="0"/>
          </a:p>
        </p:txBody>
      </p:sp>
      <p:sp>
        <p:nvSpPr>
          <p:cNvPr id="27" name="Text 25"/>
          <p:cNvSpPr/>
          <p:nvPr/>
        </p:nvSpPr>
        <p:spPr>
          <a:xfrm>
            <a:off x="5532120" y="1773936"/>
            <a:ext cx="1298448" cy="658368"/>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DAST</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Probatu</a:t>
            </a:r>
            <a:endParaRPr lang="en-US" sz="1300" dirty="0"/>
          </a:p>
        </p:txBody>
      </p:sp>
      <p:sp>
        <p:nvSpPr>
          <p:cNvPr id="28" name="Text 26"/>
          <p:cNvSpPr/>
          <p:nvPr/>
        </p:nvSpPr>
        <p:spPr>
          <a:xfrm>
            <a:off x="5532120" y="2514600"/>
            <a:ext cx="1298448" cy="9144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OWASP ZAP</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eraso-</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simulakroa</a:t>
            </a:r>
            <a:endParaRPr lang="en-US" sz="1000" dirty="0"/>
          </a:p>
        </p:txBody>
      </p:sp>
      <p:sp>
        <p:nvSpPr>
          <p:cNvPr id="29" name="Shape 27"/>
          <p:cNvSpPr/>
          <p:nvPr/>
        </p:nvSpPr>
        <p:spPr>
          <a:xfrm>
            <a:off x="7205472" y="1207008"/>
            <a:ext cx="1417320" cy="3246120"/>
          </a:xfrm>
          <a:prstGeom prst="rect">
            <a:avLst/>
          </a:prstGeom>
          <a:solidFill>
            <a:srgbClr val="FFFFFF"/>
          </a:solidFill>
          <a:ln w="25400">
            <a:solidFill>
              <a:srgbClr val="16A34A"/>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7205472" y="1207008"/>
            <a:ext cx="1417320" cy="475488"/>
          </a:xfrm>
          <a:prstGeom prst="rect">
            <a:avLst/>
          </a:prstGeom>
          <a:solidFill>
            <a:srgbClr val="16A34A"/>
          </a:solidFill>
          <a:ln w="12700">
            <a:solidFill>
              <a:srgbClr val="16A34A"/>
            </a:solidFill>
            <a:prstDash val="solid"/>
          </a:ln>
        </p:spPr>
      </p:sp>
      <p:sp>
        <p:nvSpPr>
          <p:cNvPr id="31" name="Text 29"/>
          <p:cNvSpPr/>
          <p:nvPr/>
        </p:nvSpPr>
        <p:spPr>
          <a:xfrm>
            <a:off x="7205472" y="1207008"/>
            <a:ext cx="1417320" cy="475488"/>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05</a:t>
            </a:r>
            <a:endParaRPr lang="en-US" sz="2200" dirty="0"/>
          </a:p>
        </p:txBody>
      </p:sp>
      <p:sp>
        <p:nvSpPr>
          <p:cNvPr id="32" name="Text 30"/>
          <p:cNvSpPr/>
          <p:nvPr/>
        </p:nvSpPr>
        <p:spPr>
          <a:xfrm>
            <a:off x="7269480" y="1773936"/>
            <a:ext cx="1298448" cy="658368"/>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Produkziora</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Bidali</a:t>
            </a:r>
            <a:endParaRPr lang="en-US" sz="1300" dirty="0"/>
          </a:p>
        </p:txBody>
      </p:sp>
      <p:sp>
        <p:nvSpPr>
          <p:cNvPr id="33" name="Text 31"/>
          <p:cNvSpPr/>
          <p:nvPr/>
        </p:nvSpPr>
        <p:spPr>
          <a:xfrm>
            <a:off x="7269480" y="2514600"/>
            <a:ext cx="1298448" cy="9144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TLS 1.3</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JWT zifratu</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Monitorizazioa</a:t>
            </a:r>
            <a:endParaRPr lang="en-US" sz="1000" dirty="0"/>
          </a:p>
        </p:txBody>
      </p:sp>
      <p:sp>
        <p:nvSpPr>
          <p:cNvPr id="34" name="Shape 32"/>
          <p:cNvSpPr/>
          <p:nvPr/>
        </p:nvSpPr>
        <p:spPr>
          <a:xfrm>
            <a:off x="256032" y="4544568"/>
            <a:ext cx="8631936" cy="320040"/>
          </a:xfrm>
          <a:prstGeom prst="rect">
            <a:avLst/>
          </a:prstGeom>
          <a:solidFill>
            <a:srgbClr val="0F2D4A">
              <a:alpha val="8000"/>
            </a:srgbClr>
          </a:solidFill>
          <a:ln w="6350">
            <a:solidFill>
              <a:srgbClr val="0F2D4A"/>
            </a:solidFill>
            <a:prstDash val="solid"/>
          </a:ln>
        </p:spPr>
      </p:sp>
      <p:sp>
        <p:nvSpPr>
          <p:cNvPr id="35" name="Text 33"/>
          <p:cNvSpPr/>
          <p:nvPr/>
        </p:nvSpPr>
        <p:spPr>
          <a:xfrm>
            <a:off x="347472" y="4562856"/>
            <a:ext cx="8449056" cy="283464"/>
          </a:xfrm>
          <a:prstGeom prst="rect">
            <a:avLst/>
          </a:prstGeom>
          <a:noFill/>
          <a:ln/>
        </p:spPr>
        <p:txBody>
          <a:bodyPr wrap="square" rtlCol="0" anchor="ctr"/>
          <a:lstStyle/>
          <a:p>
            <a:pPr indent="0" marL="0">
              <a:buNone/>
            </a:pPr>
            <a:r>
              <a:rPr lang="en-US" sz="1100" b="1" i="1" dirty="0">
                <a:solidFill>
                  <a:srgbClr val="0F2D4A"/>
                </a:solidFill>
                <a:latin typeface="Calibri" pitchFamily="34" charset="0"/>
                <a:ea typeface="Calibri" pitchFamily="34" charset="-122"/>
                <a:cs typeface="Calibri" pitchFamily="34" charset="-120"/>
              </a:rPr>
              <a:t>"Shift Left" printzipioa: segurtasun-arazoak kodean aurkitzea produkzioan konpontzea baino 100x merkeagoa da.</a:t>
            </a:r>
            <a:endParaRPr lang="en-US" sz="1100" dirty="0"/>
          </a:p>
        </p:txBody>
      </p:sp>
      <p:sp>
        <p:nvSpPr>
          <p:cNvPr id="36" name="Shape 34"/>
          <p:cNvSpPr/>
          <p:nvPr/>
        </p:nvSpPr>
        <p:spPr>
          <a:xfrm>
            <a:off x="0" y="4937760"/>
            <a:ext cx="9144000" cy="205740"/>
          </a:xfrm>
          <a:prstGeom prst="rect">
            <a:avLst/>
          </a:prstGeom>
          <a:solidFill>
            <a:srgbClr val="0F2D4A"/>
          </a:solidFill>
          <a:ln w="12700">
            <a:solidFill>
              <a:srgbClr val="0F2D4A"/>
            </a:solidFill>
            <a:prstDash val="solid"/>
          </a:ln>
        </p:spPr>
      </p:sp>
      <p:sp>
        <p:nvSpPr>
          <p:cNvPr id="37" name="Text 35"/>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38" name="Text 36"/>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6A34A"/>
          </a:solidFill>
          <a:ln w="12700">
            <a:solidFill>
              <a:srgbClr val="16A34A"/>
            </a:solidFill>
            <a:prstDash val="solid"/>
          </a:ln>
        </p:spPr>
      </p:sp>
      <p:sp>
        <p:nvSpPr>
          <p:cNvPr id="3" name="Text 1"/>
          <p:cNvSpPr/>
          <p:nvPr/>
        </p:nvSpPr>
        <p:spPr>
          <a:xfrm>
            <a:off x="256032" y="109728"/>
            <a:ext cx="8595360" cy="237744"/>
          </a:xfrm>
          <a:prstGeom prst="rect">
            <a:avLst/>
          </a:prstGeom>
          <a:noFill/>
          <a:ln/>
        </p:spPr>
        <p:txBody>
          <a:bodyPr wrap="square" rtlCol="0" anchor="ctr"/>
          <a:lstStyle/>
          <a:p>
            <a:pPr indent="0" marL="0">
              <a:buNone/>
            </a:pPr>
            <a:r>
              <a:rPr lang="en-US" sz="1000" b="1" spc="200" kern="0" dirty="0">
                <a:solidFill>
                  <a:srgbClr val="16A34A"/>
                </a:solidFill>
                <a:latin typeface="Calibri" pitchFamily="34" charset="0"/>
                <a:ea typeface="Calibri" pitchFamily="34" charset="-122"/>
                <a:cs typeface="Calibri" pitchFamily="34" charset="-120"/>
              </a:rPr>
              <a:t>04 · ERASOEN AURKAKO PREBENTZIOA ETA ERANTZUNA</a:t>
            </a:r>
            <a:endParaRPr lang="en-US" sz="1000" dirty="0"/>
          </a:p>
        </p:txBody>
      </p:sp>
      <p:sp>
        <p:nvSpPr>
          <p:cNvPr id="4" name="Text 2"/>
          <p:cNvSpPr/>
          <p:nvPr/>
        </p:nvSpPr>
        <p:spPr>
          <a:xfrm>
            <a:off x="256032" y="384048"/>
            <a:ext cx="8595360" cy="749808"/>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Gure Defentsak Probatu Ditugu:</a:t>
            </a:r>
            <a:endParaRPr lang="en-US" sz="2500" dirty="0"/>
          </a:p>
          <a:p>
            <a:pPr indent="0" marL="0">
              <a:buNone/>
            </a:pPr>
            <a:r>
              <a:rPr lang="en-US" sz="2500" b="1" dirty="0">
                <a:solidFill>
                  <a:srgbClr val="FFFFFF"/>
                </a:solidFill>
                <a:latin typeface="Georgia" pitchFamily="34" charset="0"/>
                <a:ea typeface="Georgia" pitchFamily="34" charset="-122"/>
                <a:cs typeface="Georgia" pitchFamily="34" charset="-120"/>
              </a:rPr>
              <a:t>Pentesting eta WiFi Auditoriaren Emaitzak</a:t>
            </a:r>
            <a:endParaRPr lang="en-US" sz="2500" dirty="0"/>
          </a:p>
        </p:txBody>
      </p:sp>
      <p:sp>
        <p:nvSpPr>
          <p:cNvPr id="5" name="Shape 3"/>
          <p:cNvSpPr/>
          <p:nvPr/>
        </p:nvSpPr>
        <p:spPr>
          <a:xfrm>
            <a:off x="256032" y="1280160"/>
            <a:ext cx="4069080" cy="1554480"/>
          </a:xfrm>
          <a:prstGeom prst="rect">
            <a:avLst/>
          </a:prstGeom>
          <a:solidFill>
            <a:srgbClr val="1A2B3C"/>
          </a:solidFill>
          <a:ln w="12700">
            <a:solidFill>
              <a:srgbClr val="16A34A"/>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56032" y="1280160"/>
            <a:ext cx="91440" cy="1554480"/>
          </a:xfrm>
          <a:prstGeom prst="rect">
            <a:avLst/>
          </a:prstGeom>
          <a:solidFill>
            <a:srgbClr val="16A34A"/>
          </a:solidFill>
          <a:ln w="12700">
            <a:solidFill>
              <a:srgbClr val="16A34A"/>
            </a:solidFill>
            <a:prstDash val="solid"/>
          </a:ln>
        </p:spPr>
      </p:sp>
      <p:sp>
        <p:nvSpPr>
          <p:cNvPr id="7" name="Text 5"/>
          <p:cNvSpPr/>
          <p:nvPr/>
        </p:nvSpPr>
        <p:spPr>
          <a:xfrm>
            <a:off x="420624" y="1389888"/>
            <a:ext cx="1005840" cy="914400"/>
          </a:xfrm>
          <a:prstGeom prst="rect">
            <a:avLst/>
          </a:prstGeom>
          <a:noFill/>
          <a:ln/>
        </p:spPr>
        <p:txBody>
          <a:bodyPr wrap="square" rtlCol="0" anchor="ctr"/>
          <a:lstStyle/>
          <a:p>
            <a:pPr indent="0" marL="0">
              <a:buNone/>
            </a:pPr>
            <a:r>
              <a:rPr lang="en-US" sz="5600" b="1" dirty="0">
                <a:solidFill>
                  <a:srgbClr val="16A34A"/>
                </a:solidFill>
                <a:latin typeface="Georgia" pitchFamily="34" charset="0"/>
                <a:ea typeface="Georgia" pitchFamily="34" charset="-122"/>
                <a:cs typeface="Georgia" pitchFamily="34" charset="-120"/>
              </a:rPr>
              <a:t>0</a:t>
            </a:r>
            <a:endParaRPr lang="en-US" sz="5600" dirty="0"/>
          </a:p>
        </p:txBody>
      </p:sp>
      <p:sp>
        <p:nvSpPr>
          <p:cNvPr id="8" name="Text 6"/>
          <p:cNvSpPr/>
          <p:nvPr/>
        </p:nvSpPr>
        <p:spPr>
          <a:xfrm>
            <a:off x="1517904" y="1463040"/>
            <a:ext cx="2697480" cy="50292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Arazo Kritiko</a:t>
            </a:r>
            <a:endParaRPr lang="en-US" sz="1700" dirty="0"/>
          </a:p>
        </p:txBody>
      </p:sp>
      <p:sp>
        <p:nvSpPr>
          <p:cNvPr id="9" name="Text 7"/>
          <p:cNvSpPr/>
          <p:nvPr/>
        </p:nvSpPr>
        <p:spPr>
          <a:xfrm>
            <a:off x="1517904" y="2057400"/>
            <a:ext cx="269748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CVSS 9.0+ — Sektorearen gailurrean</a:t>
            </a:r>
            <a:endParaRPr lang="en-US" sz="1100" dirty="0"/>
          </a:p>
        </p:txBody>
      </p:sp>
      <p:sp>
        <p:nvSpPr>
          <p:cNvPr id="10" name="Shape 8"/>
          <p:cNvSpPr/>
          <p:nvPr/>
        </p:nvSpPr>
        <p:spPr>
          <a:xfrm>
            <a:off x="4572000" y="1280160"/>
            <a:ext cx="4069080" cy="1554480"/>
          </a:xfrm>
          <a:prstGeom prst="rect">
            <a:avLst/>
          </a:prstGeom>
          <a:solidFill>
            <a:srgbClr val="1A2B3C"/>
          </a:solidFill>
          <a:ln w="12700">
            <a:solidFill>
              <a:srgbClr val="F97316"/>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572000" y="1280160"/>
            <a:ext cx="91440" cy="1554480"/>
          </a:xfrm>
          <a:prstGeom prst="rect">
            <a:avLst/>
          </a:prstGeom>
          <a:solidFill>
            <a:srgbClr val="F97316"/>
          </a:solidFill>
          <a:ln w="12700">
            <a:solidFill>
              <a:srgbClr val="F97316"/>
            </a:solidFill>
            <a:prstDash val="solid"/>
          </a:ln>
        </p:spPr>
      </p:sp>
      <p:sp>
        <p:nvSpPr>
          <p:cNvPr id="12" name="Text 10"/>
          <p:cNvSpPr/>
          <p:nvPr/>
        </p:nvSpPr>
        <p:spPr>
          <a:xfrm>
            <a:off x="4736592" y="1389888"/>
            <a:ext cx="1005840" cy="914400"/>
          </a:xfrm>
          <a:prstGeom prst="rect">
            <a:avLst/>
          </a:prstGeom>
          <a:noFill/>
          <a:ln/>
        </p:spPr>
        <p:txBody>
          <a:bodyPr wrap="square" rtlCol="0" anchor="ctr"/>
          <a:lstStyle/>
          <a:p>
            <a:pPr indent="0" marL="0">
              <a:buNone/>
            </a:pPr>
            <a:r>
              <a:rPr lang="en-US" sz="5600" b="1" dirty="0">
                <a:solidFill>
                  <a:srgbClr val="F97316"/>
                </a:solidFill>
                <a:latin typeface="Georgia" pitchFamily="34" charset="0"/>
                <a:ea typeface="Georgia" pitchFamily="34" charset="-122"/>
                <a:cs typeface="Georgia" pitchFamily="34" charset="-120"/>
              </a:rPr>
              <a:t>2</a:t>
            </a:r>
            <a:endParaRPr lang="en-US" sz="5600" dirty="0"/>
          </a:p>
        </p:txBody>
      </p:sp>
      <p:sp>
        <p:nvSpPr>
          <p:cNvPr id="13" name="Text 11"/>
          <p:cNvSpPr/>
          <p:nvPr/>
        </p:nvSpPr>
        <p:spPr>
          <a:xfrm>
            <a:off x="5833872" y="1463040"/>
            <a:ext cx="2697480" cy="50292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Arazo Garrantzitsu</a:t>
            </a:r>
            <a:endParaRPr lang="en-US" sz="1700" dirty="0"/>
          </a:p>
        </p:txBody>
      </p:sp>
      <p:sp>
        <p:nvSpPr>
          <p:cNvPr id="14" name="Text 12"/>
          <p:cNvSpPr/>
          <p:nvPr/>
        </p:nvSpPr>
        <p:spPr>
          <a:xfrm>
            <a:off x="5833872" y="2057400"/>
            <a:ext cx="269748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CVSS 7.5-7.8 — Biok konponduta</a:t>
            </a:r>
            <a:endParaRPr lang="en-US" sz="1100" dirty="0"/>
          </a:p>
        </p:txBody>
      </p:sp>
      <p:sp>
        <p:nvSpPr>
          <p:cNvPr id="15" name="Shape 13"/>
          <p:cNvSpPr/>
          <p:nvPr/>
        </p:nvSpPr>
        <p:spPr>
          <a:xfrm>
            <a:off x="256032" y="2999232"/>
            <a:ext cx="4069080" cy="1554480"/>
          </a:xfrm>
          <a:prstGeom prst="rect">
            <a:avLst/>
          </a:prstGeom>
          <a:solidFill>
            <a:srgbClr val="1A2B3C"/>
          </a:solidFill>
          <a:ln w="12700">
            <a:solidFill>
              <a:srgbClr val="0EA5E9"/>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256032" y="2999232"/>
            <a:ext cx="91440" cy="1554480"/>
          </a:xfrm>
          <a:prstGeom prst="rect">
            <a:avLst/>
          </a:prstGeom>
          <a:solidFill>
            <a:srgbClr val="0EA5E9"/>
          </a:solidFill>
          <a:ln w="12700">
            <a:solidFill>
              <a:srgbClr val="0EA5E9"/>
            </a:solidFill>
            <a:prstDash val="solid"/>
          </a:ln>
        </p:spPr>
      </p:sp>
      <p:sp>
        <p:nvSpPr>
          <p:cNvPr id="17" name="Text 15"/>
          <p:cNvSpPr/>
          <p:nvPr/>
        </p:nvSpPr>
        <p:spPr>
          <a:xfrm>
            <a:off x="420624" y="3108960"/>
            <a:ext cx="1005840" cy="914400"/>
          </a:xfrm>
          <a:prstGeom prst="rect">
            <a:avLst/>
          </a:prstGeom>
          <a:noFill/>
          <a:ln/>
        </p:spPr>
        <p:txBody>
          <a:bodyPr wrap="square" rtlCol="0" anchor="ctr"/>
          <a:lstStyle/>
          <a:p>
            <a:pPr indent="0" marL="0">
              <a:buNone/>
            </a:pPr>
            <a:r>
              <a:rPr lang="en-US" sz="5600" b="1" dirty="0">
                <a:solidFill>
                  <a:srgbClr val="0EA5E9"/>
                </a:solidFill>
                <a:latin typeface="Georgia" pitchFamily="34" charset="0"/>
                <a:ea typeface="Georgia" pitchFamily="34" charset="-122"/>
                <a:cs typeface="Georgia" pitchFamily="34" charset="-120"/>
              </a:rPr>
              <a:t>4</a:t>
            </a:r>
            <a:endParaRPr lang="en-US" sz="5600" dirty="0"/>
          </a:p>
        </p:txBody>
      </p:sp>
      <p:sp>
        <p:nvSpPr>
          <p:cNvPr id="18" name="Text 16"/>
          <p:cNvSpPr/>
          <p:nvPr/>
        </p:nvSpPr>
        <p:spPr>
          <a:xfrm>
            <a:off x="1517904" y="3182112"/>
            <a:ext cx="2697480" cy="50292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Arazo Ertain</a:t>
            </a:r>
            <a:endParaRPr lang="en-US" sz="1700" dirty="0"/>
          </a:p>
        </p:txBody>
      </p:sp>
      <p:sp>
        <p:nvSpPr>
          <p:cNvPr id="19" name="Text 17"/>
          <p:cNvSpPr/>
          <p:nvPr/>
        </p:nvSpPr>
        <p:spPr>
          <a:xfrm>
            <a:off x="1517904" y="3776472"/>
            <a:ext cx="269748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CVSS 5.3-6.5 — Guztiak kontrolpean</a:t>
            </a:r>
            <a:endParaRPr lang="en-US" sz="1100" dirty="0"/>
          </a:p>
        </p:txBody>
      </p:sp>
      <p:sp>
        <p:nvSpPr>
          <p:cNvPr id="20" name="Shape 18"/>
          <p:cNvSpPr/>
          <p:nvPr/>
        </p:nvSpPr>
        <p:spPr>
          <a:xfrm>
            <a:off x="4572000" y="2999232"/>
            <a:ext cx="4069080" cy="1554480"/>
          </a:xfrm>
          <a:prstGeom prst="rect">
            <a:avLst/>
          </a:prstGeom>
          <a:solidFill>
            <a:srgbClr val="1A2B3C"/>
          </a:solidFill>
          <a:ln w="12700">
            <a:solidFill>
              <a:srgbClr val="64748B"/>
            </a:solidFill>
            <a:prstDash val="solid"/>
          </a:ln>
          <a:effectLst>
            <a:outerShdw sx="100000" sy="100000" kx="0" ky="0" algn="bl" rotWithShape="0" blurRad="101600" dist="38100" dir="8100000">
              <a:srgbClr val="000000">
                <a:alpha val="15000"/>
              </a:srgbClr>
            </a:outerShdw>
          </a:effectLst>
        </p:spPr>
      </p:sp>
      <p:sp>
        <p:nvSpPr>
          <p:cNvPr id="21" name="Shape 19"/>
          <p:cNvSpPr/>
          <p:nvPr/>
        </p:nvSpPr>
        <p:spPr>
          <a:xfrm>
            <a:off x="4572000" y="2999232"/>
            <a:ext cx="91440" cy="1554480"/>
          </a:xfrm>
          <a:prstGeom prst="rect">
            <a:avLst/>
          </a:prstGeom>
          <a:solidFill>
            <a:srgbClr val="64748B"/>
          </a:solidFill>
          <a:ln w="12700">
            <a:solidFill>
              <a:srgbClr val="64748B"/>
            </a:solidFill>
            <a:prstDash val="solid"/>
          </a:ln>
        </p:spPr>
      </p:sp>
      <p:sp>
        <p:nvSpPr>
          <p:cNvPr id="22" name="Text 20"/>
          <p:cNvSpPr/>
          <p:nvPr/>
        </p:nvSpPr>
        <p:spPr>
          <a:xfrm>
            <a:off x="4736592" y="3108960"/>
            <a:ext cx="1005840" cy="914400"/>
          </a:xfrm>
          <a:prstGeom prst="rect">
            <a:avLst/>
          </a:prstGeom>
          <a:noFill/>
          <a:ln/>
        </p:spPr>
        <p:txBody>
          <a:bodyPr wrap="square" rtlCol="0" anchor="ctr"/>
          <a:lstStyle/>
          <a:p>
            <a:pPr indent="0" marL="0">
              <a:buNone/>
            </a:pPr>
            <a:r>
              <a:rPr lang="en-US" sz="5600" b="1" dirty="0">
                <a:solidFill>
                  <a:srgbClr val="64748B"/>
                </a:solidFill>
                <a:latin typeface="Georgia" pitchFamily="34" charset="0"/>
                <a:ea typeface="Georgia" pitchFamily="34" charset="-122"/>
                <a:cs typeface="Georgia" pitchFamily="34" charset="-120"/>
              </a:rPr>
              <a:t>3</a:t>
            </a:r>
            <a:endParaRPr lang="en-US" sz="5600" dirty="0"/>
          </a:p>
        </p:txBody>
      </p:sp>
      <p:sp>
        <p:nvSpPr>
          <p:cNvPr id="23" name="Text 21"/>
          <p:cNvSpPr/>
          <p:nvPr/>
        </p:nvSpPr>
        <p:spPr>
          <a:xfrm>
            <a:off x="5833872" y="3182112"/>
            <a:ext cx="2697480" cy="50292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Arazo Txiki</a:t>
            </a:r>
            <a:endParaRPr lang="en-US" sz="1700" dirty="0"/>
          </a:p>
        </p:txBody>
      </p:sp>
      <p:sp>
        <p:nvSpPr>
          <p:cNvPr id="24" name="Text 22"/>
          <p:cNvSpPr/>
          <p:nvPr/>
        </p:nvSpPr>
        <p:spPr>
          <a:xfrm>
            <a:off x="5833872" y="3776472"/>
            <a:ext cx="2697480" cy="5029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CVSS 3.1-4.3 — Dokumentatuta</a:t>
            </a:r>
            <a:endParaRPr lang="en-US" sz="1100" dirty="0"/>
          </a:p>
        </p:txBody>
      </p:sp>
      <p:sp>
        <p:nvSpPr>
          <p:cNvPr id="25" name="Shape 23"/>
          <p:cNvSpPr/>
          <p:nvPr/>
        </p:nvSpPr>
        <p:spPr>
          <a:xfrm>
            <a:off x="256032" y="4599432"/>
            <a:ext cx="8631936" cy="384048"/>
          </a:xfrm>
          <a:prstGeom prst="rect">
            <a:avLst/>
          </a:prstGeom>
          <a:solidFill>
            <a:srgbClr val="1A2B3C"/>
          </a:solidFill>
          <a:ln w="6350">
            <a:solidFill>
              <a:srgbClr val="C8A96E"/>
            </a:solidFill>
            <a:prstDash val="solid"/>
          </a:ln>
        </p:spPr>
      </p:sp>
      <p:sp>
        <p:nvSpPr>
          <p:cNvPr id="26" name="Text 24"/>
          <p:cNvSpPr/>
          <p:nvPr/>
        </p:nvSpPr>
        <p:spPr>
          <a:xfrm>
            <a:off x="365760" y="4626864"/>
            <a:ext cx="8412480" cy="329184"/>
          </a:xfrm>
          <a:prstGeom prst="rect">
            <a:avLst/>
          </a:prstGeom>
          <a:noFill/>
          <a:ln/>
        </p:spPr>
        <p:txBody>
          <a:bodyPr wrap="square" rtlCol="0" anchor="ctr"/>
          <a:lstStyle/>
          <a:p>
            <a:pPr indent="0" marL="0">
              <a:buNone/>
            </a:pPr>
            <a:r>
              <a:rPr lang="en-US" sz="1000" dirty="0">
                <a:solidFill>
                  <a:srgbClr val="C8A96E"/>
                </a:solidFill>
                <a:latin typeface="Calibri" pitchFamily="34" charset="0"/>
                <a:ea typeface="Calibri" pitchFamily="34" charset="-122"/>
                <a:cs typeface="Calibri" pitchFamily="34" charset="-120"/>
              </a:rPr>
              <a:t>WiFi Auditoria (PTES metodologia): 4 eszénario probatu (WPA2-PSK, WPA3-SAE, Open, Hidden SSID). Gomendio nagusia: WPA3-Enterprise + 802.1X + RADIUS zerbitzaria.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04 · ERASOEN AURKAKO PREBENTZIOA</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Begiak Beti Irekita: Wazuh SIEM eta Denbora Errealeko Monitorizazioa</a:t>
            </a:r>
            <a:endParaRPr lang="en-US" sz="2400" dirty="0"/>
          </a:p>
        </p:txBody>
      </p:sp>
      <p:sp>
        <p:nvSpPr>
          <p:cNvPr id="5" name="Text 3"/>
          <p:cNvSpPr/>
          <p:nvPr/>
        </p:nvSpPr>
        <p:spPr>
          <a:xfrm>
            <a:off x="274320" y="1170432"/>
            <a:ext cx="4160520" cy="274320"/>
          </a:xfrm>
          <a:prstGeom prst="rect">
            <a:avLst/>
          </a:prstGeom>
          <a:noFill/>
          <a:ln/>
        </p:spPr>
        <p:txBody>
          <a:bodyPr wrap="square" rtlCol="0" anchor="ctr"/>
          <a:lstStyle/>
          <a:p>
            <a:pPr indent="0" marL="0">
              <a:buNone/>
            </a:pPr>
            <a:r>
              <a:rPr lang="en-US" sz="1200" b="1" spc="200" kern="0" dirty="0">
                <a:solidFill>
                  <a:srgbClr val="0F2D4A"/>
                </a:solidFill>
                <a:latin typeface="Calibri" pitchFamily="34" charset="0"/>
                <a:ea typeface="Calibri" pitchFamily="34" charset="-122"/>
                <a:cs typeface="Calibri" pitchFamily="34" charset="-120"/>
              </a:rPr>
              <a:t>SIEM SISTEMAREN BALIOA</a:t>
            </a:r>
            <a:endParaRPr lang="en-US" sz="1200" dirty="0"/>
          </a:p>
        </p:txBody>
      </p:sp>
      <p:sp>
        <p:nvSpPr>
          <p:cNvPr id="6" name="Shape 4"/>
          <p:cNvSpPr/>
          <p:nvPr/>
        </p:nvSpPr>
        <p:spPr>
          <a:xfrm>
            <a:off x="274320" y="1591056"/>
            <a:ext cx="347472" cy="347472"/>
          </a:xfrm>
          <a:prstGeom prst="ellipse">
            <a:avLst/>
          </a:prstGeom>
          <a:solidFill>
            <a:srgbClr val="0F2D4A"/>
          </a:solidFill>
          <a:ln w="12700">
            <a:solidFill>
              <a:srgbClr val="0F2D4A"/>
            </a:solidFill>
            <a:prstDash val="solid"/>
          </a:ln>
        </p:spPr>
      </p:sp>
      <p:sp>
        <p:nvSpPr>
          <p:cNvPr id="7" name="Text 5"/>
          <p:cNvSpPr/>
          <p:nvPr/>
        </p:nvSpPr>
        <p:spPr>
          <a:xfrm>
            <a:off x="274320" y="1572768"/>
            <a:ext cx="347472" cy="347472"/>
          </a:xfrm>
          <a:prstGeom prst="rect">
            <a:avLst/>
          </a:prstGeom>
          <a:noFill/>
          <a:ln/>
        </p:spPr>
        <p:txBody>
          <a:bodyPr wrap="square" rtlCol="0" anchor="ctr"/>
          <a:lstStyle/>
          <a:p>
            <a:pPr algn="ctr" indent="0" marL="0">
              <a:buNone/>
            </a:pPr>
            <a:r>
              <a:rPr lang="en-US" sz="1300" b="1" dirty="0">
                <a:solidFill>
                  <a:srgbClr val="C8A96E"/>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731520" y="1536192"/>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Denbora errealeko monitorizazioa</a:t>
            </a:r>
            <a:endParaRPr lang="en-US" sz="1300" dirty="0"/>
          </a:p>
        </p:txBody>
      </p:sp>
      <p:sp>
        <p:nvSpPr>
          <p:cNvPr id="9" name="Text 7"/>
          <p:cNvSpPr/>
          <p:nvPr/>
        </p:nvSpPr>
        <p:spPr>
          <a:xfrm>
            <a:off x="731520" y="1810512"/>
            <a:ext cx="3657600" cy="384048"/>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Suebakia, zerbitzariak, web-aplikazioa eta OT gailuak aldi berean ikusten ditu</a:t>
            </a:r>
            <a:endParaRPr lang="en-US" sz="1000" dirty="0"/>
          </a:p>
        </p:txBody>
      </p:sp>
      <p:sp>
        <p:nvSpPr>
          <p:cNvPr id="10" name="Shape 8"/>
          <p:cNvSpPr/>
          <p:nvPr/>
        </p:nvSpPr>
        <p:spPr>
          <a:xfrm>
            <a:off x="274320" y="2350008"/>
            <a:ext cx="347472" cy="347472"/>
          </a:xfrm>
          <a:prstGeom prst="ellipse">
            <a:avLst/>
          </a:prstGeom>
          <a:solidFill>
            <a:srgbClr val="0F2D4A"/>
          </a:solidFill>
          <a:ln w="12700">
            <a:solidFill>
              <a:srgbClr val="0F2D4A"/>
            </a:solidFill>
            <a:prstDash val="solid"/>
          </a:ln>
        </p:spPr>
      </p:sp>
      <p:sp>
        <p:nvSpPr>
          <p:cNvPr id="11" name="Text 9"/>
          <p:cNvSpPr/>
          <p:nvPr/>
        </p:nvSpPr>
        <p:spPr>
          <a:xfrm>
            <a:off x="274320" y="2331720"/>
            <a:ext cx="347472" cy="347472"/>
          </a:xfrm>
          <a:prstGeom prst="rect">
            <a:avLst/>
          </a:prstGeom>
          <a:noFill/>
          <a:ln/>
        </p:spPr>
        <p:txBody>
          <a:bodyPr wrap="square" rtlCol="0" anchor="ctr"/>
          <a:lstStyle/>
          <a:p>
            <a:pPr algn="ctr" indent="0" marL="0">
              <a:buNone/>
            </a:pPr>
            <a:r>
              <a:rPr lang="en-US" sz="1300" b="1" dirty="0">
                <a:solidFill>
                  <a:srgbClr val="C8A96E"/>
                </a:solidFill>
                <a:latin typeface="Georgia" pitchFamily="34" charset="0"/>
                <a:ea typeface="Georgia" pitchFamily="34" charset="-122"/>
                <a:cs typeface="Georgia" pitchFamily="34" charset="-120"/>
              </a:rPr>
              <a:t>2</a:t>
            </a:r>
            <a:endParaRPr lang="en-US" sz="1300" dirty="0"/>
          </a:p>
        </p:txBody>
      </p:sp>
      <p:sp>
        <p:nvSpPr>
          <p:cNvPr id="12" name="Text 10"/>
          <p:cNvSpPr/>
          <p:nvPr/>
        </p:nvSpPr>
        <p:spPr>
          <a:xfrm>
            <a:off x="731520" y="2295144"/>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Alerta automatikoak</a:t>
            </a:r>
            <a:endParaRPr lang="en-US" sz="1300" dirty="0"/>
          </a:p>
        </p:txBody>
      </p:sp>
      <p:sp>
        <p:nvSpPr>
          <p:cNvPr id="13" name="Text 11"/>
          <p:cNvSpPr/>
          <p:nvPr/>
        </p:nvSpPr>
        <p:spPr>
          <a:xfrm>
            <a:off x="731520" y="2569464"/>
            <a:ext cx="3657600" cy="384048"/>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5 saiakera huts / minutu: blokeo automatikoa. Eskaner berria: jakinarazpen berehalakoa</a:t>
            </a:r>
            <a:endParaRPr lang="en-US" sz="1000" dirty="0"/>
          </a:p>
        </p:txBody>
      </p:sp>
      <p:sp>
        <p:nvSpPr>
          <p:cNvPr id="14" name="Shape 12"/>
          <p:cNvSpPr/>
          <p:nvPr/>
        </p:nvSpPr>
        <p:spPr>
          <a:xfrm>
            <a:off x="274320" y="3108960"/>
            <a:ext cx="347472" cy="347472"/>
          </a:xfrm>
          <a:prstGeom prst="ellipse">
            <a:avLst/>
          </a:prstGeom>
          <a:solidFill>
            <a:srgbClr val="0F2D4A"/>
          </a:solidFill>
          <a:ln w="12700">
            <a:solidFill>
              <a:srgbClr val="0F2D4A"/>
            </a:solidFill>
            <a:prstDash val="solid"/>
          </a:ln>
        </p:spPr>
      </p:sp>
      <p:sp>
        <p:nvSpPr>
          <p:cNvPr id="15" name="Text 13"/>
          <p:cNvSpPr/>
          <p:nvPr/>
        </p:nvSpPr>
        <p:spPr>
          <a:xfrm>
            <a:off x="274320" y="3090672"/>
            <a:ext cx="347472" cy="347472"/>
          </a:xfrm>
          <a:prstGeom prst="rect">
            <a:avLst/>
          </a:prstGeom>
          <a:noFill/>
          <a:ln/>
        </p:spPr>
        <p:txBody>
          <a:bodyPr wrap="square" rtlCol="0" anchor="ctr"/>
          <a:lstStyle/>
          <a:p>
            <a:pPr algn="ctr" indent="0" marL="0">
              <a:buNone/>
            </a:pPr>
            <a:r>
              <a:rPr lang="en-US" sz="1300" b="1" dirty="0">
                <a:solidFill>
                  <a:srgbClr val="C8A96E"/>
                </a:solidFill>
                <a:latin typeface="Georgia" pitchFamily="34" charset="0"/>
                <a:ea typeface="Georgia" pitchFamily="34" charset="-122"/>
                <a:cs typeface="Georgia" pitchFamily="34" charset="-120"/>
              </a:rPr>
              <a:t>3</a:t>
            </a:r>
            <a:endParaRPr lang="en-US" sz="1300" dirty="0"/>
          </a:p>
        </p:txBody>
      </p:sp>
      <p:sp>
        <p:nvSpPr>
          <p:cNvPr id="16" name="Text 14"/>
          <p:cNvSpPr/>
          <p:nvPr/>
        </p:nvSpPr>
        <p:spPr>
          <a:xfrm>
            <a:off x="731520" y="3054096"/>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FIM (File Integrity Monitoring)</a:t>
            </a:r>
            <a:endParaRPr lang="en-US" sz="1300" dirty="0"/>
          </a:p>
        </p:txBody>
      </p:sp>
      <p:sp>
        <p:nvSpPr>
          <p:cNvPr id="17" name="Text 15"/>
          <p:cNvSpPr/>
          <p:nvPr/>
        </p:nvSpPr>
        <p:spPr>
          <a:xfrm>
            <a:off x="731520" y="3328416"/>
            <a:ext cx="3657600" cy="384048"/>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Edozein fitxategi kritikoren aldaketa detektatzen eta jakinarazten du segundotan</a:t>
            </a:r>
            <a:endParaRPr lang="en-US" sz="1000" dirty="0"/>
          </a:p>
        </p:txBody>
      </p:sp>
      <p:sp>
        <p:nvSpPr>
          <p:cNvPr id="18" name="Shape 16"/>
          <p:cNvSpPr/>
          <p:nvPr/>
        </p:nvSpPr>
        <p:spPr>
          <a:xfrm>
            <a:off x="274320" y="3867912"/>
            <a:ext cx="347472" cy="347472"/>
          </a:xfrm>
          <a:prstGeom prst="ellipse">
            <a:avLst/>
          </a:prstGeom>
          <a:solidFill>
            <a:srgbClr val="0F2D4A"/>
          </a:solidFill>
          <a:ln w="12700">
            <a:solidFill>
              <a:srgbClr val="0F2D4A"/>
            </a:solidFill>
            <a:prstDash val="solid"/>
          </a:ln>
        </p:spPr>
      </p:sp>
      <p:sp>
        <p:nvSpPr>
          <p:cNvPr id="19" name="Text 17"/>
          <p:cNvSpPr/>
          <p:nvPr/>
        </p:nvSpPr>
        <p:spPr>
          <a:xfrm>
            <a:off x="274320" y="3849624"/>
            <a:ext cx="347472" cy="347472"/>
          </a:xfrm>
          <a:prstGeom prst="rect">
            <a:avLst/>
          </a:prstGeom>
          <a:noFill/>
          <a:ln/>
        </p:spPr>
        <p:txBody>
          <a:bodyPr wrap="square" rtlCol="0" anchor="ctr"/>
          <a:lstStyle/>
          <a:p>
            <a:pPr algn="ctr" indent="0" marL="0">
              <a:buNone/>
            </a:pPr>
            <a:r>
              <a:rPr lang="en-US" sz="1300" b="1" dirty="0">
                <a:solidFill>
                  <a:srgbClr val="C8A96E"/>
                </a:solidFill>
                <a:latin typeface="Georgia" pitchFamily="34" charset="0"/>
                <a:ea typeface="Georgia" pitchFamily="34" charset="-122"/>
                <a:cs typeface="Georgia" pitchFamily="34" charset="-120"/>
              </a:rPr>
              <a:t>4</a:t>
            </a:r>
            <a:endParaRPr lang="en-US" sz="1300" dirty="0"/>
          </a:p>
        </p:txBody>
      </p:sp>
      <p:sp>
        <p:nvSpPr>
          <p:cNvPr id="20" name="Text 18"/>
          <p:cNvSpPr/>
          <p:nvPr/>
        </p:nvSpPr>
        <p:spPr>
          <a:xfrm>
            <a:off x="731520" y="3813048"/>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Kibana panel bisuala (port 5601)</a:t>
            </a:r>
            <a:endParaRPr lang="en-US" sz="1300" dirty="0"/>
          </a:p>
        </p:txBody>
      </p:sp>
      <p:sp>
        <p:nvSpPr>
          <p:cNvPr id="21" name="Text 19"/>
          <p:cNvSpPr/>
          <p:nvPr/>
        </p:nvSpPr>
        <p:spPr>
          <a:xfrm>
            <a:off x="731520" y="4087368"/>
            <a:ext cx="3657600" cy="384048"/>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Incidenteak kolore bidez sailkatuta, joerak grafikoetan, erantzuteko pista argiak</a:t>
            </a:r>
            <a:endParaRPr lang="en-US" sz="1000" dirty="0"/>
          </a:p>
        </p:txBody>
      </p:sp>
      <p:sp>
        <p:nvSpPr>
          <p:cNvPr id="22" name="Shape 20"/>
          <p:cNvSpPr/>
          <p:nvPr/>
        </p:nvSpPr>
        <p:spPr>
          <a:xfrm>
            <a:off x="4617720" y="1152144"/>
            <a:ext cx="0" cy="3520440"/>
          </a:xfrm>
          <a:prstGeom prst="line">
            <a:avLst/>
          </a:prstGeom>
          <a:noFill/>
          <a:ln w="12700">
            <a:solidFill>
              <a:srgbClr val="E2E8F0"/>
            </a:solidFill>
            <a:prstDash val="solid"/>
          </a:ln>
        </p:spPr>
      </p:sp>
      <p:sp>
        <p:nvSpPr>
          <p:cNvPr id="23" name="Text 21"/>
          <p:cNvSpPr/>
          <p:nvPr/>
        </p:nvSpPr>
        <p:spPr>
          <a:xfrm>
            <a:off x="4754880" y="1170432"/>
            <a:ext cx="4114800" cy="274320"/>
          </a:xfrm>
          <a:prstGeom prst="rect">
            <a:avLst/>
          </a:prstGeom>
          <a:noFill/>
          <a:ln/>
        </p:spPr>
        <p:txBody>
          <a:bodyPr wrap="square" rtlCol="0" anchor="ctr"/>
          <a:lstStyle/>
          <a:p>
            <a:pPr indent="0" marL="0">
              <a:buNone/>
            </a:pPr>
            <a:r>
              <a:rPr lang="en-US" sz="1200" b="1" spc="200" kern="0" dirty="0">
                <a:solidFill>
                  <a:srgbClr val="0F2D4A"/>
                </a:solidFill>
                <a:latin typeface="Calibri" pitchFamily="34" charset="0"/>
                <a:ea typeface="Calibri" pitchFamily="34" charset="-122"/>
                <a:cs typeface="Calibri" pitchFamily="34" charset="-120"/>
              </a:rPr>
              <a:t>ALERTA ARAUAK (ADIBIDEAK)</a:t>
            </a:r>
            <a:endParaRPr lang="en-US" sz="1200" dirty="0"/>
          </a:p>
        </p:txBody>
      </p:sp>
      <p:sp>
        <p:nvSpPr>
          <p:cNvPr id="24" name="Shape 22"/>
          <p:cNvSpPr/>
          <p:nvPr/>
        </p:nvSpPr>
        <p:spPr>
          <a:xfrm>
            <a:off x="4754880" y="1536192"/>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4754880" y="1536192"/>
            <a:ext cx="91440" cy="667512"/>
          </a:xfrm>
          <a:prstGeom prst="rect">
            <a:avLst/>
          </a:prstGeom>
          <a:solidFill>
            <a:srgbClr val="DC2626"/>
          </a:solidFill>
          <a:ln w="12700">
            <a:solidFill>
              <a:srgbClr val="DC2626"/>
            </a:solidFill>
            <a:prstDash val="solid"/>
          </a:ln>
        </p:spPr>
      </p:sp>
      <p:sp>
        <p:nvSpPr>
          <p:cNvPr id="26" name="Text 24"/>
          <p:cNvSpPr/>
          <p:nvPr/>
        </p:nvSpPr>
        <p:spPr>
          <a:xfrm>
            <a:off x="4892040" y="1591056"/>
            <a:ext cx="1463040" cy="256032"/>
          </a:xfrm>
          <a:prstGeom prst="rect">
            <a:avLst/>
          </a:prstGeom>
          <a:noFill/>
          <a:ln/>
        </p:spPr>
        <p:txBody>
          <a:bodyPr wrap="square" rtlCol="0" anchor="ctr"/>
          <a:lstStyle/>
          <a:p>
            <a:pPr indent="0" marL="0">
              <a:buNone/>
            </a:pPr>
            <a:r>
              <a:rPr lang="en-US" sz="900" b="1" spc="100" kern="0" dirty="0">
                <a:solidFill>
                  <a:srgbClr val="DC2626"/>
                </a:solidFill>
                <a:latin typeface="Calibri" pitchFamily="34" charset="0"/>
                <a:ea typeface="Calibri" pitchFamily="34" charset="-122"/>
                <a:cs typeface="Calibri" pitchFamily="34" charset="-120"/>
              </a:rPr>
              <a:t>KRITIKOA</a:t>
            </a:r>
            <a:endParaRPr lang="en-US" sz="900" dirty="0"/>
          </a:p>
        </p:txBody>
      </p:sp>
      <p:sp>
        <p:nvSpPr>
          <p:cNvPr id="27" name="Text 25"/>
          <p:cNvSpPr/>
          <p:nvPr/>
        </p:nvSpPr>
        <p:spPr>
          <a:xfrm>
            <a:off x="4892040" y="1865376"/>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Pribilegioaren eskalada detektatua</a:t>
            </a:r>
            <a:endParaRPr lang="en-US" sz="1200" dirty="0"/>
          </a:p>
        </p:txBody>
      </p:sp>
      <p:sp>
        <p:nvSpPr>
          <p:cNvPr id="28" name="Shape 26"/>
          <p:cNvSpPr/>
          <p:nvPr/>
        </p:nvSpPr>
        <p:spPr>
          <a:xfrm>
            <a:off x="4754880" y="2331720"/>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9" name="Shape 27"/>
          <p:cNvSpPr/>
          <p:nvPr/>
        </p:nvSpPr>
        <p:spPr>
          <a:xfrm>
            <a:off x="4754880" y="2331720"/>
            <a:ext cx="91440" cy="667512"/>
          </a:xfrm>
          <a:prstGeom prst="rect">
            <a:avLst/>
          </a:prstGeom>
          <a:solidFill>
            <a:srgbClr val="F97316"/>
          </a:solidFill>
          <a:ln w="12700">
            <a:solidFill>
              <a:srgbClr val="F97316"/>
            </a:solidFill>
            <a:prstDash val="solid"/>
          </a:ln>
        </p:spPr>
      </p:sp>
      <p:sp>
        <p:nvSpPr>
          <p:cNvPr id="30" name="Text 28"/>
          <p:cNvSpPr/>
          <p:nvPr/>
        </p:nvSpPr>
        <p:spPr>
          <a:xfrm>
            <a:off x="4892040" y="2386584"/>
            <a:ext cx="1463040" cy="256032"/>
          </a:xfrm>
          <a:prstGeom prst="rect">
            <a:avLst/>
          </a:prstGeom>
          <a:noFill/>
          <a:ln/>
        </p:spPr>
        <p:txBody>
          <a:bodyPr wrap="square" rtlCol="0" anchor="ctr"/>
          <a:lstStyle/>
          <a:p>
            <a:pPr indent="0" marL="0">
              <a:buNone/>
            </a:pPr>
            <a:r>
              <a:rPr lang="en-US" sz="900" b="1" spc="100" kern="0" dirty="0">
                <a:solidFill>
                  <a:srgbClr val="F97316"/>
                </a:solidFill>
                <a:latin typeface="Calibri" pitchFamily="34" charset="0"/>
                <a:ea typeface="Calibri" pitchFamily="34" charset="-122"/>
                <a:cs typeface="Calibri" pitchFamily="34" charset="-120"/>
              </a:rPr>
              <a:t>ALTUA</a:t>
            </a:r>
            <a:endParaRPr lang="en-US" sz="900" dirty="0"/>
          </a:p>
        </p:txBody>
      </p:sp>
      <p:sp>
        <p:nvSpPr>
          <p:cNvPr id="31" name="Text 29"/>
          <p:cNvSpPr/>
          <p:nvPr/>
        </p:nvSpPr>
        <p:spPr>
          <a:xfrm>
            <a:off x="4892040" y="2660904"/>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Brute-force erasoa (5 huts. / minutu)</a:t>
            </a:r>
            <a:endParaRPr lang="en-US" sz="1200" dirty="0"/>
          </a:p>
        </p:txBody>
      </p:sp>
      <p:sp>
        <p:nvSpPr>
          <p:cNvPr id="32" name="Shape 30"/>
          <p:cNvSpPr/>
          <p:nvPr/>
        </p:nvSpPr>
        <p:spPr>
          <a:xfrm>
            <a:off x="4754880" y="3127248"/>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33" name="Shape 31"/>
          <p:cNvSpPr/>
          <p:nvPr/>
        </p:nvSpPr>
        <p:spPr>
          <a:xfrm>
            <a:off x="4754880" y="3127248"/>
            <a:ext cx="91440" cy="667512"/>
          </a:xfrm>
          <a:prstGeom prst="rect">
            <a:avLst/>
          </a:prstGeom>
          <a:solidFill>
            <a:srgbClr val="0EA5E9"/>
          </a:solidFill>
          <a:ln w="12700">
            <a:solidFill>
              <a:srgbClr val="0EA5E9"/>
            </a:solidFill>
            <a:prstDash val="solid"/>
          </a:ln>
        </p:spPr>
      </p:sp>
      <p:sp>
        <p:nvSpPr>
          <p:cNvPr id="34" name="Text 32"/>
          <p:cNvSpPr/>
          <p:nvPr/>
        </p:nvSpPr>
        <p:spPr>
          <a:xfrm>
            <a:off x="4892040" y="3182112"/>
            <a:ext cx="1463040" cy="256032"/>
          </a:xfrm>
          <a:prstGeom prst="rect">
            <a:avLst/>
          </a:prstGeom>
          <a:noFill/>
          <a:ln/>
        </p:spPr>
        <p:txBody>
          <a:bodyPr wrap="square" rtlCol="0" anchor="ctr"/>
          <a:lstStyle/>
          <a:p>
            <a:pPr indent="0" marL="0">
              <a:buNone/>
            </a:pPr>
            <a:r>
              <a:rPr lang="en-US" sz="900" b="1" spc="100" kern="0" dirty="0">
                <a:solidFill>
                  <a:srgbClr val="0EA5E9"/>
                </a:solidFill>
                <a:latin typeface="Calibri" pitchFamily="34" charset="0"/>
                <a:ea typeface="Calibri" pitchFamily="34" charset="-122"/>
                <a:cs typeface="Calibri" pitchFamily="34" charset="-120"/>
              </a:rPr>
              <a:t>ERTAINA</a:t>
            </a:r>
            <a:endParaRPr lang="en-US" sz="900" dirty="0"/>
          </a:p>
        </p:txBody>
      </p:sp>
      <p:sp>
        <p:nvSpPr>
          <p:cNvPr id="35" name="Text 33"/>
          <p:cNvSpPr/>
          <p:nvPr/>
        </p:nvSpPr>
        <p:spPr>
          <a:xfrm>
            <a:off x="4892040" y="3456432"/>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Eskaner berria OT sarean detektatua</a:t>
            </a:r>
            <a:endParaRPr lang="en-US" sz="1200" dirty="0"/>
          </a:p>
        </p:txBody>
      </p:sp>
      <p:sp>
        <p:nvSpPr>
          <p:cNvPr id="36" name="Shape 34"/>
          <p:cNvSpPr/>
          <p:nvPr/>
        </p:nvSpPr>
        <p:spPr>
          <a:xfrm>
            <a:off x="4754880" y="3922776"/>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37" name="Shape 35"/>
          <p:cNvSpPr/>
          <p:nvPr/>
        </p:nvSpPr>
        <p:spPr>
          <a:xfrm>
            <a:off x="4754880" y="3922776"/>
            <a:ext cx="91440" cy="667512"/>
          </a:xfrm>
          <a:prstGeom prst="rect">
            <a:avLst/>
          </a:prstGeom>
          <a:solidFill>
            <a:srgbClr val="16A34A"/>
          </a:solidFill>
          <a:ln w="12700">
            <a:solidFill>
              <a:srgbClr val="16A34A"/>
            </a:solidFill>
            <a:prstDash val="solid"/>
          </a:ln>
        </p:spPr>
      </p:sp>
      <p:sp>
        <p:nvSpPr>
          <p:cNvPr id="38" name="Text 36"/>
          <p:cNvSpPr/>
          <p:nvPr/>
        </p:nvSpPr>
        <p:spPr>
          <a:xfrm>
            <a:off x="4892040" y="3977640"/>
            <a:ext cx="1463040" cy="256032"/>
          </a:xfrm>
          <a:prstGeom prst="rect">
            <a:avLst/>
          </a:prstGeom>
          <a:noFill/>
          <a:ln/>
        </p:spPr>
        <p:txBody>
          <a:bodyPr wrap="square" rtlCol="0" anchor="ctr"/>
          <a:lstStyle/>
          <a:p>
            <a:pPr indent="0" marL="0">
              <a:buNone/>
            </a:pPr>
            <a:r>
              <a:rPr lang="en-US" sz="900" b="1" spc="100" kern="0" dirty="0">
                <a:solidFill>
                  <a:srgbClr val="16A34A"/>
                </a:solidFill>
                <a:latin typeface="Calibri" pitchFamily="34" charset="0"/>
                <a:ea typeface="Calibri" pitchFamily="34" charset="-122"/>
                <a:cs typeface="Calibri" pitchFamily="34" charset="-120"/>
              </a:rPr>
              <a:t>BAXUA</a:t>
            </a:r>
            <a:endParaRPr lang="en-US" sz="900" dirty="0"/>
          </a:p>
        </p:txBody>
      </p:sp>
      <p:sp>
        <p:nvSpPr>
          <p:cNvPr id="39" name="Text 37"/>
          <p:cNvSpPr/>
          <p:nvPr/>
        </p:nvSpPr>
        <p:spPr>
          <a:xfrm>
            <a:off x="4892040" y="4251960"/>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Port-eskanerrak kanpotik detektatuta</a:t>
            </a:r>
            <a:endParaRPr lang="en-US" sz="1200" dirty="0"/>
          </a:p>
        </p:txBody>
      </p:sp>
      <p:sp>
        <p:nvSpPr>
          <p:cNvPr id="40" name="Shape 38"/>
          <p:cNvSpPr/>
          <p:nvPr/>
        </p:nvSpPr>
        <p:spPr>
          <a:xfrm>
            <a:off x="0" y="4937760"/>
            <a:ext cx="9144000" cy="205740"/>
          </a:xfrm>
          <a:prstGeom prst="rect">
            <a:avLst/>
          </a:prstGeom>
          <a:solidFill>
            <a:srgbClr val="0F2D4A"/>
          </a:solidFill>
          <a:ln w="12700">
            <a:solidFill>
              <a:srgbClr val="0F2D4A"/>
            </a:solidFill>
            <a:prstDash val="solid"/>
          </a:ln>
        </p:spPr>
      </p:sp>
      <p:sp>
        <p:nvSpPr>
          <p:cNvPr id="41" name="Text 39"/>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42" name="Text 40"/>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04 · ERASOEN AURKAKO PREBENTZIOA</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Tranpak Erasotzaileentzat eta Plan Aktiboa Erantzuteko</a:t>
            </a:r>
            <a:endParaRPr lang="en-US" sz="2400" dirty="0"/>
          </a:p>
        </p:txBody>
      </p:sp>
      <p:sp>
        <p:nvSpPr>
          <p:cNvPr id="5" name="Text 3"/>
          <p:cNvSpPr/>
          <p:nvPr/>
        </p:nvSpPr>
        <p:spPr>
          <a:xfrm>
            <a:off x="274320" y="1170432"/>
            <a:ext cx="4160520" cy="274320"/>
          </a:xfrm>
          <a:prstGeom prst="rect">
            <a:avLst/>
          </a:prstGeom>
          <a:noFill/>
          <a:ln/>
        </p:spPr>
        <p:txBody>
          <a:bodyPr wrap="square" rtlCol="0" anchor="ctr"/>
          <a:lstStyle/>
          <a:p>
            <a:pPr indent="0" marL="0">
              <a:buNone/>
            </a:pPr>
            <a:r>
              <a:rPr lang="en-US" sz="1200" b="1" spc="200" kern="0" dirty="0">
                <a:solidFill>
                  <a:srgbClr val="0F2D4A"/>
                </a:solidFill>
                <a:latin typeface="Calibri" pitchFamily="34" charset="0"/>
                <a:ea typeface="Calibri" pitchFamily="34" charset="-122"/>
                <a:cs typeface="Calibri" pitchFamily="34" charset="-120"/>
              </a:rPr>
              <a:t>HONEYPOT ESTRATEGIA</a:t>
            </a:r>
            <a:endParaRPr lang="en-US" sz="1200" dirty="0"/>
          </a:p>
        </p:txBody>
      </p:sp>
      <p:sp>
        <p:nvSpPr>
          <p:cNvPr id="6" name="Shape 4"/>
          <p:cNvSpPr/>
          <p:nvPr/>
        </p:nvSpPr>
        <p:spPr>
          <a:xfrm>
            <a:off x="274320" y="1508760"/>
            <a:ext cx="4160520" cy="2697480"/>
          </a:xfrm>
          <a:prstGeom prst="rect">
            <a:avLst/>
          </a:prstGeom>
          <a:solidFill>
            <a:srgbClr val="1A2B3C"/>
          </a:solidFill>
          <a:ln w="12700">
            <a:solidFill>
              <a:srgbClr val="F97316"/>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411480" y="1664208"/>
            <a:ext cx="1051560" cy="566928"/>
          </a:xfrm>
          <a:prstGeom prst="rect">
            <a:avLst/>
          </a:prstGeom>
          <a:solidFill>
            <a:srgbClr val="F97316"/>
          </a:solidFill>
          <a:ln w="12700">
            <a:solidFill>
              <a:srgbClr val="F97316"/>
            </a:solidFill>
            <a:prstDash val="solid"/>
          </a:ln>
        </p:spPr>
      </p:sp>
      <p:sp>
        <p:nvSpPr>
          <p:cNvPr id="8" name="Text 6"/>
          <p:cNvSpPr/>
          <p:nvPr/>
        </p:nvSpPr>
        <p:spPr>
          <a:xfrm>
            <a:off x="411480" y="1664208"/>
            <a:ext cx="1051560"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Cowrie</a:t>
            </a:r>
            <a:endParaRPr lang="en-US" sz="1200" dirty="0"/>
          </a:p>
        </p:txBody>
      </p:sp>
      <p:sp>
        <p:nvSpPr>
          <p:cNvPr id="9" name="Text 7"/>
          <p:cNvSpPr/>
          <p:nvPr/>
        </p:nvSpPr>
        <p:spPr>
          <a:xfrm>
            <a:off x="1572768" y="1664208"/>
            <a:ext cx="2743200" cy="566928"/>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SSH/Telnet tranpa. Saiakera guztiak grabatu,</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erabiltzaile+pasahitz patroiak analizatu</a:t>
            </a:r>
            <a:endParaRPr lang="en-US" sz="1000" dirty="0"/>
          </a:p>
        </p:txBody>
      </p:sp>
      <p:sp>
        <p:nvSpPr>
          <p:cNvPr id="10" name="Shape 8"/>
          <p:cNvSpPr/>
          <p:nvPr/>
        </p:nvSpPr>
        <p:spPr>
          <a:xfrm>
            <a:off x="411480" y="2468880"/>
            <a:ext cx="1051560" cy="566928"/>
          </a:xfrm>
          <a:prstGeom prst="rect">
            <a:avLst/>
          </a:prstGeom>
          <a:solidFill>
            <a:srgbClr val="F97316"/>
          </a:solidFill>
          <a:ln w="12700">
            <a:solidFill>
              <a:srgbClr val="F97316"/>
            </a:solidFill>
            <a:prstDash val="solid"/>
          </a:ln>
        </p:spPr>
      </p:sp>
      <p:sp>
        <p:nvSpPr>
          <p:cNvPr id="11" name="Text 9"/>
          <p:cNvSpPr/>
          <p:nvPr/>
        </p:nvSpPr>
        <p:spPr>
          <a:xfrm>
            <a:off x="411480" y="2468880"/>
            <a:ext cx="1051560"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Conpot</a:t>
            </a:r>
            <a:endParaRPr lang="en-US" sz="1200" dirty="0"/>
          </a:p>
        </p:txBody>
      </p:sp>
      <p:sp>
        <p:nvSpPr>
          <p:cNvPr id="12" name="Text 10"/>
          <p:cNvSpPr/>
          <p:nvPr/>
        </p:nvSpPr>
        <p:spPr>
          <a:xfrm>
            <a:off x="1572768" y="2468880"/>
            <a:ext cx="2743200" cy="566928"/>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OT/ICS simulakroa. Modbus TCP baimendua.</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Industria-erasotzaileak erakarri eta detektatu</a:t>
            </a:r>
            <a:endParaRPr lang="en-US" sz="1000" dirty="0"/>
          </a:p>
        </p:txBody>
      </p:sp>
      <p:sp>
        <p:nvSpPr>
          <p:cNvPr id="13" name="Shape 11"/>
          <p:cNvSpPr/>
          <p:nvPr/>
        </p:nvSpPr>
        <p:spPr>
          <a:xfrm>
            <a:off x="411480" y="3273552"/>
            <a:ext cx="1051560" cy="566928"/>
          </a:xfrm>
          <a:prstGeom prst="rect">
            <a:avLst/>
          </a:prstGeom>
          <a:solidFill>
            <a:srgbClr val="F97316"/>
          </a:solidFill>
          <a:ln w="12700">
            <a:solidFill>
              <a:srgbClr val="F97316"/>
            </a:solidFill>
            <a:prstDash val="solid"/>
          </a:ln>
        </p:spPr>
      </p:sp>
      <p:sp>
        <p:nvSpPr>
          <p:cNvPr id="14" name="Text 12"/>
          <p:cNvSpPr/>
          <p:nvPr/>
        </p:nvSpPr>
        <p:spPr>
          <a:xfrm>
            <a:off x="411480" y="3273552"/>
            <a:ext cx="1051560"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T-Pot</a:t>
            </a:r>
            <a:endParaRPr lang="en-US" sz="1200" dirty="0"/>
          </a:p>
        </p:txBody>
      </p:sp>
      <p:sp>
        <p:nvSpPr>
          <p:cNvPr id="15" name="Text 13"/>
          <p:cNvSpPr/>
          <p:nvPr/>
        </p:nvSpPr>
        <p:spPr>
          <a:xfrm>
            <a:off x="1572768" y="3273552"/>
            <a:ext cx="2743200" cy="566928"/>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Plataforma orokor. GeoIP jatorria, malware-</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laginen bilketa eta analisi automatikoa</a:t>
            </a:r>
            <a:endParaRPr lang="en-US" sz="1000" dirty="0"/>
          </a:p>
        </p:txBody>
      </p:sp>
      <p:sp>
        <p:nvSpPr>
          <p:cNvPr id="16" name="Text 14"/>
          <p:cNvSpPr/>
          <p:nvPr/>
        </p:nvSpPr>
        <p:spPr>
          <a:xfrm>
            <a:off x="411480" y="4133088"/>
            <a:ext cx="3886200" cy="256032"/>
          </a:xfrm>
          <a:prstGeom prst="rect">
            <a:avLst/>
          </a:prstGeom>
          <a:noFill/>
          <a:ln/>
        </p:spPr>
        <p:txBody>
          <a:bodyPr wrap="square" rtlCol="0" anchor="ctr"/>
          <a:lstStyle/>
          <a:p>
            <a:pPr indent="0" marL="0">
              <a:buNone/>
            </a:pPr>
            <a:r>
              <a:rPr lang="en-US" sz="1000" i="1" dirty="0">
                <a:solidFill>
                  <a:srgbClr val="C8A96E"/>
                </a:solidFill>
                <a:latin typeface="Calibri" pitchFamily="34" charset="0"/>
                <a:ea typeface="Calibri" pitchFamily="34" charset="-122"/>
                <a:cs typeface="Calibri" pitchFamily="34" charset="-120"/>
              </a:rPr>
              <a:t>Sare isolatua: 172.16.99.0/24  |  Produktioan eraginik ez</a:t>
            </a:r>
            <a:endParaRPr lang="en-US" sz="1000" dirty="0"/>
          </a:p>
        </p:txBody>
      </p:sp>
      <p:sp>
        <p:nvSpPr>
          <p:cNvPr id="17" name="Shape 15"/>
          <p:cNvSpPr/>
          <p:nvPr/>
        </p:nvSpPr>
        <p:spPr>
          <a:xfrm>
            <a:off x="4617720" y="1152144"/>
            <a:ext cx="0" cy="3520440"/>
          </a:xfrm>
          <a:prstGeom prst="line">
            <a:avLst/>
          </a:prstGeom>
          <a:noFill/>
          <a:ln w="12700">
            <a:solidFill>
              <a:srgbClr val="E2E8F0"/>
            </a:solidFill>
            <a:prstDash val="solid"/>
          </a:ln>
        </p:spPr>
      </p:sp>
      <p:sp>
        <p:nvSpPr>
          <p:cNvPr id="18" name="Text 16"/>
          <p:cNvSpPr/>
          <p:nvPr/>
        </p:nvSpPr>
        <p:spPr>
          <a:xfrm>
            <a:off x="4754880" y="1170432"/>
            <a:ext cx="4114800" cy="274320"/>
          </a:xfrm>
          <a:prstGeom prst="rect">
            <a:avLst/>
          </a:prstGeom>
          <a:noFill/>
          <a:ln/>
        </p:spPr>
        <p:txBody>
          <a:bodyPr wrap="square" rtlCol="0" anchor="ctr"/>
          <a:lstStyle/>
          <a:p>
            <a:pPr indent="0" marL="0">
              <a:buNone/>
            </a:pPr>
            <a:r>
              <a:rPr lang="en-US" sz="1200" b="1" spc="200" kern="0" dirty="0">
                <a:solidFill>
                  <a:srgbClr val="0F2D4A"/>
                </a:solidFill>
                <a:latin typeface="Calibri" pitchFamily="34" charset="0"/>
                <a:ea typeface="Calibri" pitchFamily="34" charset="-122"/>
                <a:cs typeface="Calibri" pitchFamily="34" charset="-120"/>
              </a:rPr>
              <a:t>INCIDENT RESPONSE PLANA</a:t>
            </a:r>
            <a:endParaRPr lang="en-US" sz="1200" dirty="0"/>
          </a:p>
        </p:txBody>
      </p:sp>
      <p:sp>
        <p:nvSpPr>
          <p:cNvPr id="19" name="Shape 17"/>
          <p:cNvSpPr/>
          <p:nvPr/>
        </p:nvSpPr>
        <p:spPr>
          <a:xfrm>
            <a:off x="4754880" y="1536192"/>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0" name="Shape 18"/>
          <p:cNvSpPr/>
          <p:nvPr/>
        </p:nvSpPr>
        <p:spPr>
          <a:xfrm>
            <a:off x="4754880" y="1536192"/>
            <a:ext cx="91440" cy="667512"/>
          </a:xfrm>
          <a:prstGeom prst="rect">
            <a:avLst/>
          </a:prstGeom>
          <a:solidFill>
            <a:srgbClr val="DC2626"/>
          </a:solidFill>
          <a:ln w="12700">
            <a:solidFill>
              <a:srgbClr val="DC2626"/>
            </a:solidFill>
            <a:prstDash val="solid"/>
          </a:ln>
        </p:spPr>
      </p:sp>
      <p:sp>
        <p:nvSpPr>
          <p:cNvPr id="21" name="Text 19"/>
          <p:cNvSpPr/>
          <p:nvPr/>
        </p:nvSpPr>
        <p:spPr>
          <a:xfrm>
            <a:off x="4892040" y="1581912"/>
            <a:ext cx="1097280" cy="256032"/>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0-24 h</a:t>
            </a:r>
            <a:endParaRPr lang="en-US" sz="1100" dirty="0"/>
          </a:p>
        </p:txBody>
      </p:sp>
      <p:sp>
        <p:nvSpPr>
          <p:cNvPr id="22" name="Text 20"/>
          <p:cNvSpPr/>
          <p:nvPr/>
        </p:nvSpPr>
        <p:spPr>
          <a:xfrm>
            <a:off x="4892040" y="1865376"/>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Detekzioa eta lehenengo albistea</a:t>
            </a:r>
            <a:endParaRPr lang="en-US" sz="1200" dirty="0"/>
          </a:p>
        </p:txBody>
      </p:sp>
      <p:sp>
        <p:nvSpPr>
          <p:cNvPr id="23" name="Shape 21"/>
          <p:cNvSpPr/>
          <p:nvPr/>
        </p:nvSpPr>
        <p:spPr>
          <a:xfrm>
            <a:off x="4754880" y="2331720"/>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4" name="Shape 22"/>
          <p:cNvSpPr/>
          <p:nvPr/>
        </p:nvSpPr>
        <p:spPr>
          <a:xfrm>
            <a:off x="4754880" y="2331720"/>
            <a:ext cx="91440" cy="667512"/>
          </a:xfrm>
          <a:prstGeom prst="rect">
            <a:avLst/>
          </a:prstGeom>
          <a:solidFill>
            <a:srgbClr val="F97316"/>
          </a:solidFill>
          <a:ln w="12700">
            <a:solidFill>
              <a:srgbClr val="F97316"/>
            </a:solidFill>
            <a:prstDash val="solid"/>
          </a:ln>
        </p:spPr>
      </p:sp>
      <p:sp>
        <p:nvSpPr>
          <p:cNvPr id="25" name="Text 23"/>
          <p:cNvSpPr/>
          <p:nvPr/>
        </p:nvSpPr>
        <p:spPr>
          <a:xfrm>
            <a:off x="4892040" y="2377440"/>
            <a:ext cx="1097280" cy="256032"/>
          </a:xfrm>
          <a:prstGeom prst="rect">
            <a:avLst/>
          </a:prstGeom>
          <a:noFill/>
          <a:ln/>
        </p:spPr>
        <p:txBody>
          <a:bodyPr wrap="square"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24-72 h</a:t>
            </a:r>
            <a:endParaRPr lang="en-US" sz="1100" dirty="0"/>
          </a:p>
        </p:txBody>
      </p:sp>
      <p:sp>
        <p:nvSpPr>
          <p:cNvPr id="26" name="Text 24"/>
          <p:cNvSpPr/>
          <p:nvPr/>
        </p:nvSpPr>
        <p:spPr>
          <a:xfrm>
            <a:off x="4892040" y="2660904"/>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Analisi zehatza + NIS2 txosten ofiziala</a:t>
            </a:r>
            <a:endParaRPr lang="en-US" sz="1200" dirty="0"/>
          </a:p>
        </p:txBody>
      </p:sp>
      <p:sp>
        <p:nvSpPr>
          <p:cNvPr id="27" name="Shape 25"/>
          <p:cNvSpPr/>
          <p:nvPr/>
        </p:nvSpPr>
        <p:spPr>
          <a:xfrm>
            <a:off x="4754880" y="3127248"/>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8" name="Shape 26"/>
          <p:cNvSpPr/>
          <p:nvPr/>
        </p:nvSpPr>
        <p:spPr>
          <a:xfrm>
            <a:off x="4754880" y="3127248"/>
            <a:ext cx="91440" cy="667512"/>
          </a:xfrm>
          <a:prstGeom prst="rect">
            <a:avLst/>
          </a:prstGeom>
          <a:solidFill>
            <a:srgbClr val="0EA5E9"/>
          </a:solidFill>
          <a:ln w="12700">
            <a:solidFill>
              <a:srgbClr val="0EA5E9"/>
            </a:solidFill>
            <a:prstDash val="solid"/>
          </a:ln>
        </p:spPr>
      </p:sp>
      <p:sp>
        <p:nvSpPr>
          <p:cNvPr id="29" name="Text 27"/>
          <p:cNvSpPr/>
          <p:nvPr/>
        </p:nvSpPr>
        <p:spPr>
          <a:xfrm>
            <a:off x="4892040" y="3172968"/>
            <a:ext cx="1097280" cy="256032"/>
          </a:xfrm>
          <a:prstGeom prst="rect">
            <a:avLst/>
          </a:prstGeom>
          <a:noFill/>
          <a:ln/>
        </p:spPr>
        <p:txBody>
          <a:bodyPr wrap="square"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72 h+</a:t>
            </a:r>
            <a:endParaRPr lang="en-US" sz="1100" dirty="0"/>
          </a:p>
        </p:txBody>
      </p:sp>
      <p:sp>
        <p:nvSpPr>
          <p:cNvPr id="30" name="Text 28"/>
          <p:cNvSpPr/>
          <p:nvPr/>
        </p:nvSpPr>
        <p:spPr>
          <a:xfrm>
            <a:off x="4892040" y="3456432"/>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Konponketa eta sistema-berreskurapena</a:t>
            </a:r>
            <a:endParaRPr lang="en-US" sz="1200" dirty="0"/>
          </a:p>
        </p:txBody>
      </p:sp>
      <p:sp>
        <p:nvSpPr>
          <p:cNvPr id="31" name="Shape 29"/>
          <p:cNvSpPr/>
          <p:nvPr/>
        </p:nvSpPr>
        <p:spPr>
          <a:xfrm>
            <a:off x="4754880" y="3922776"/>
            <a:ext cx="4114800" cy="6675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32" name="Shape 30"/>
          <p:cNvSpPr/>
          <p:nvPr/>
        </p:nvSpPr>
        <p:spPr>
          <a:xfrm>
            <a:off x="4754880" y="3922776"/>
            <a:ext cx="91440" cy="667512"/>
          </a:xfrm>
          <a:prstGeom prst="rect">
            <a:avLst/>
          </a:prstGeom>
          <a:solidFill>
            <a:srgbClr val="16A34A"/>
          </a:solidFill>
          <a:ln w="12700">
            <a:solidFill>
              <a:srgbClr val="16A34A"/>
            </a:solidFill>
            <a:prstDash val="solid"/>
          </a:ln>
        </p:spPr>
      </p:sp>
      <p:sp>
        <p:nvSpPr>
          <p:cNvPr id="33" name="Text 31"/>
          <p:cNvSpPr/>
          <p:nvPr/>
        </p:nvSpPr>
        <p:spPr>
          <a:xfrm>
            <a:off x="4892040" y="3968496"/>
            <a:ext cx="1097280" cy="256032"/>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Post</a:t>
            </a:r>
            <a:endParaRPr lang="en-US" sz="1100" dirty="0"/>
          </a:p>
        </p:txBody>
      </p:sp>
      <p:sp>
        <p:nvSpPr>
          <p:cNvPr id="34" name="Text 32"/>
          <p:cNvSpPr/>
          <p:nvPr/>
        </p:nvSpPr>
        <p:spPr>
          <a:xfrm>
            <a:off x="4892040" y="4251960"/>
            <a:ext cx="388620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Forentse-analisia + Ikaskuntzak dokumentatu</a:t>
            </a:r>
            <a:endParaRPr lang="en-US" sz="1200" dirty="0"/>
          </a:p>
        </p:txBody>
      </p:sp>
      <p:sp>
        <p:nvSpPr>
          <p:cNvPr id="35" name="Text 33"/>
          <p:cNvSpPr/>
          <p:nvPr/>
        </p:nvSpPr>
        <p:spPr>
          <a:xfrm>
            <a:off x="4754880" y="4718304"/>
            <a:ext cx="4114800" cy="256032"/>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Forentse-analisia: log-ak, memoria-argazkiak eta artefaktuen azterketa</a:t>
            </a:r>
            <a:endParaRPr lang="en-US" sz="900" dirty="0"/>
          </a:p>
        </p:txBody>
      </p:sp>
      <p:sp>
        <p:nvSpPr>
          <p:cNvPr id="36" name="Shape 34"/>
          <p:cNvSpPr/>
          <p:nvPr/>
        </p:nvSpPr>
        <p:spPr>
          <a:xfrm>
            <a:off x="0" y="4937760"/>
            <a:ext cx="9144000" cy="205740"/>
          </a:xfrm>
          <a:prstGeom prst="rect">
            <a:avLst/>
          </a:prstGeom>
          <a:solidFill>
            <a:srgbClr val="0F2D4A"/>
          </a:solidFill>
          <a:ln w="12700">
            <a:solidFill>
              <a:srgbClr val="0F2D4A"/>
            </a:solidFill>
            <a:prstDash val="solid"/>
          </a:ln>
        </p:spPr>
      </p:sp>
      <p:sp>
        <p:nvSpPr>
          <p:cNvPr id="37" name="Text 35"/>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38" name="Text 36"/>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2D4A"/>
          </a:solidFill>
          <a:ln w="12700">
            <a:solidFill>
              <a:srgbClr val="0F2D4A"/>
            </a:solidFill>
            <a:prstDash val="solid"/>
          </a:ln>
        </p:spPr>
      </p:sp>
      <p:sp>
        <p:nvSpPr>
          <p:cNvPr id="3" name="Text 1"/>
          <p:cNvSpPr/>
          <p:nvPr/>
        </p:nvSpPr>
        <p:spPr>
          <a:xfrm>
            <a:off x="457200" y="73152"/>
            <a:ext cx="8229600" cy="23774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05 · BETETZE LEGALA ETA ETORKIZUNA</a:t>
            </a:r>
            <a:endParaRPr lang="en-US" sz="1000" dirty="0"/>
          </a:p>
        </p:txBody>
      </p:sp>
      <p:sp>
        <p:nvSpPr>
          <p:cNvPr id="4" name="Text 2"/>
          <p:cNvSpPr/>
          <p:nvPr/>
        </p:nvSpPr>
        <p:spPr>
          <a:xfrm>
            <a:off x="457200" y="34747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Lege-Betetzea: NIS2 Direktiba, RGPD eta IEC 62443</a:t>
            </a:r>
            <a:endParaRPr lang="en-US" sz="2400" dirty="0"/>
          </a:p>
        </p:txBody>
      </p:sp>
      <p:sp>
        <p:nvSpPr>
          <p:cNvPr id="5" name="Shape 3"/>
          <p:cNvSpPr/>
          <p:nvPr/>
        </p:nvSpPr>
        <p:spPr>
          <a:xfrm>
            <a:off x="274320" y="1152144"/>
            <a:ext cx="2761488" cy="36393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274320" y="1152144"/>
            <a:ext cx="2761488" cy="438912"/>
          </a:xfrm>
          <a:prstGeom prst="rect">
            <a:avLst/>
          </a:prstGeom>
          <a:solidFill>
            <a:srgbClr val="0EA5E9"/>
          </a:solidFill>
          <a:ln w="12700">
            <a:solidFill>
              <a:srgbClr val="0EA5E9"/>
            </a:solidFill>
            <a:prstDash val="solid"/>
          </a:ln>
        </p:spPr>
      </p:sp>
      <p:sp>
        <p:nvSpPr>
          <p:cNvPr id="7" name="Text 5"/>
          <p:cNvSpPr/>
          <p:nvPr/>
        </p:nvSpPr>
        <p:spPr>
          <a:xfrm>
            <a:off x="365760" y="1161288"/>
            <a:ext cx="2578608" cy="420624"/>
          </a:xfrm>
          <a:prstGeom prst="rect">
            <a:avLst/>
          </a:prstGeom>
          <a:noFill/>
          <a:ln/>
        </p:spPr>
        <p:txBody>
          <a:bodyPr wrap="square"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NIS2 DIREKTIBA</a:t>
            </a:r>
            <a:endParaRPr lang="en-US" sz="1300" dirty="0"/>
          </a:p>
        </p:txBody>
      </p:sp>
      <p:sp>
        <p:nvSpPr>
          <p:cNvPr id="8" name="Shape 6"/>
          <p:cNvSpPr/>
          <p:nvPr/>
        </p:nvSpPr>
        <p:spPr>
          <a:xfrm>
            <a:off x="365760" y="1664208"/>
            <a:ext cx="2578608" cy="301752"/>
          </a:xfrm>
          <a:prstGeom prst="rect">
            <a:avLst/>
          </a:prstGeom>
          <a:solidFill>
            <a:srgbClr val="F97316">
              <a:alpha val="14000"/>
            </a:srgbClr>
          </a:solidFill>
          <a:ln w="6350">
            <a:solidFill>
              <a:srgbClr val="F97316"/>
            </a:solidFill>
            <a:prstDash val="solid"/>
          </a:ln>
        </p:spPr>
      </p:sp>
      <p:sp>
        <p:nvSpPr>
          <p:cNvPr id="9" name="Text 7"/>
          <p:cNvSpPr/>
          <p:nvPr/>
        </p:nvSpPr>
        <p:spPr>
          <a:xfrm>
            <a:off x="411480" y="1682496"/>
            <a:ext cx="2487168" cy="256032"/>
          </a:xfrm>
          <a:prstGeom prst="rect">
            <a:avLst/>
          </a:prstGeom>
          <a:noFill/>
          <a:ln/>
        </p:spPr>
        <p:txBody>
          <a:bodyPr wrap="square"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60% · Helburua: 2026ko Urria</a:t>
            </a:r>
            <a:endParaRPr lang="en-US" sz="1000" dirty="0"/>
          </a:p>
        </p:txBody>
      </p:sp>
      <p:sp>
        <p:nvSpPr>
          <p:cNvPr id="10" name="Text 8"/>
          <p:cNvSpPr/>
          <p:nvPr/>
        </p:nvSpPr>
        <p:spPr>
          <a:xfrm>
            <a:off x="384048" y="2048256"/>
            <a:ext cx="2542032" cy="438912"/>
          </a:xfrm>
          <a:prstGeom prst="rect">
            <a:avLst/>
          </a:prstGeom>
          <a:noFill/>
          <a:ln/>
        </p:spPr>
        <p:txBody>
          <a:bodyPr wrap="square"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Enpresa 'GARRANTZITSUA' gisa sailkatua (Art. 3)</a:t>
            </a:r>
            <a:endParaRPr lang="en-US" sz="1000" dirty="0"/>
          </a:p>
        </p:txBody>
      </p:sp>
      <p:sp>
        <p:nvSpPr>
          <p:cNvPr id="11" name="Text 9"/>
          <p:cNvSpPr/>
          <p:nvPr/>
        </p:nvSpPr>
        <p:spPr>
          <a:xfrm>
            <a:off x="384048" y="2560320"/>
            <a:ext cx="2542032" cy="438912"/>
          </a:xfrm>
          <a:prstGeom prst="rect">
            <a:avLst/>
          </a:prstGeom>
          <a:noFill/>
          <a:ln/>
        </p:spPr>
        <p:txBody>
          <a:bodyPr wrap="square"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24 h: Lehenengo jakinarazpena autoritate eskudunari</a:t>
            </a:r>
            <a:endParaRPr lang="en-US" sz="1000" dirty="0"/>
          </a:p>
        </p:txBody>
      </p:sp>
      <p:sp>
        <p:nvSpPr>
          <p:cNvPr id="12" name="Text 10"/>
          <p:cNvSpPr/>
          <p:nvPr/>
        </p:nvSpPr>
        <p:spPr>
          <a:xfrm>
            <a:off x="384048" y="3072384"/>
            <a:ext cx="2542032" cy="438912"/>
          </a:xfrm>
          <a:prstGeom prst="rect">
            <a:avLst/>
          </a:prstGeom>
          <a:noFill/>
          <a:ln/>
        </p:spPr>
        <p:txBody>
          <a:bodyPr wrap="square"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72 h: Txosten osoa incidente larriari buruz</a:t>
            </a:r>
            <a:endParaRPr lang="en-US" sz="1000" dirty="0"/>
          </a:p>
        </p:txBody>
      </p:sp>
      <p:sp>
        <p:nvSpPr>
          <p:cNvPr id="13" name="Text 11"/>
          <p:cNvSpPr/>
          <p:nvPr/>
        </p:nvSpPr>
        <p:spPr>
          <a:xfrm>
            <a:off x="384048" y="3584448"/>
            <a:ext cx="2542032" cy="438912"/>
          </a:xfrm>
          <a:prstGeom prst="rect">
            <a:avLst/>
          </a:prstGeom>
          <a:noFill/>
          <a:ln/>
        </p:spPr>
        <p:txBody>
          <a:bodyPr wrap="square"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Hornidura-kate segurtasuna (Art. 21.2.e)</a:t>
            </a:r>
            <a:endParaRPr lang="en-US" sz="1000" dirty="0"/>
          </a:p>
        </p:txBody>
      </p:sp>
      <p:sp>
        <p:nvSpPr>
          <p:cNvPr id="14" name="Text 12"/>
          <p:cNvSpPr/>
          <p:nvPr/>
        </p:nvSpPr>
        <p:spPr>
          <a:xfrm>
            <a:off x="384048" y="4096512"/>
            <a:ext cx="2542032" cy="438912"/>
          </a:xfrm>
          <a:prstGeom prst="rect">
            <a:avLst/>
          </a:prstGeom>
          <a:noFill/>
          <a:ln/>
        </p:spPr>
        <p:txBody>
          <a:bodyPr wrap="square"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Q4 2026: Betetze osoa planifikatua</a:t>
            </a:r>
            <a:endParaRPr lang="en-US" sz="1000" dirty="0"/>
          </a:p>
        </p:txBody>
      </p:sp>
      <p:sp>
        <p:nvSpPr>
          <p:cNvPr id="15" name="Shape 13"/>
          <p:cNvSpPr/>
          <p:nvPr/>
        </p:nvSpPr>
        <p:spPr>
          <a:xfrm>
            <a:off x="3182112" y="1152144"/>
            <a:ext cx="2761488" cy="36393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16" name="Shape 14"/>
          <p:cNvSpPr/>
          <p:nvPr/>
        </p:nvSpPr>
        <p:spPr>
          <a:xfrm>
            <a:off x="3182112" y="1152144"/>
            <a:ext cx="2761488" cy="438912"/>
          </a:xfrm>
          <a:prstGeom prst="rect">
            <a:avLst/>
          </a:prstGeom>
          <a:solidFill>
            <a:srgbClr val="16A34A"/>
          </a:solidFill>
          <a:ln w="12700">
            <a:solidFill>
              <a:srgbClr val="16A34A"/>
            </a:solidFill>
            <a:prstDash val="solid"/>
          </a:ln>
        </p:spPr>
      </p:sp>
      <p:sp>
        <p:nvSpPr>
          <p:cNvPr id="17" name="Text 15"/>
          <p:cNvSpPr/>
          <p:nvPr/>
        </p:nvSpPr>
        <p:spPr>
          <a:xfrm>
            <a:off x="3273552" y="1161288"/>
            <a:ext cx="2578608" cy="420624"/>
          </a:xfrm>
          <a:prstGeom prst="rect">
            <a:avLst/>
          </a:prstGeom>
          <a:noFill/>
          <a:ln/>
        </p:spPr>
        <p:txBody>
          <a:bodyPr wrap="square"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RGPD / GDPR</a:t>
            </a:r>
            <a:endParaRPr lang="en-US" sz="1300" dirty="0"/>
          </a:p>
        </p:txBody>
      </p:sp>
      <p:sp>
        <p:nvSpPr>
          <p:cNvPr id="18" name="Shape 16"/>
          <p:cNvSpPr/>
          <p:nvPr/>
        </p:nvSpPr>
        <p:spPr>
          <a:xfrm>
            <a:off x="3273552" y="1664208"/>
            <a:ext cx="2578608" cy="301752"/>
          </a:xfrm>
          <a:prstGeom prst="rect">
            <a:avLst/>
          </a:prstGeom>
          <a:solidFill>
            <a:srgbClr val="16A34A">
              <a:alpha val="14000"/>
            </a:srgbClr>
          </a:solidFill>
          <a:ln w="6350">
            <a:solidFill>
              <a:srgbClr val="16A34A"/>
            </a:solidFill>
            <a:prstDash val="solid"/>
          </a:ln>
        </p:spPr>
      </p:sp>
      <p:sp>
        <p:nvSpPr>
          <p:cNvPr id="19" name="Text 17"/>
          <p:cNvSpPr/>
          <p:nvPr/>
        </p:nvSpPr>
        <p:spPr>
          <a:xfrm>
            <a:off x="3319272" y="1682496"/>
            <a:ext cx="2487168" cy="256032"/>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100% · Beteta</a:t>
            </a:r>
            <a:endParaRPr lang="en-US" sz="1000" dirty="0"/>
          </a:p>
        </p:txBody>
      </p:sp>
      <p:sp>
        <p:nvSpPr>
          <p:cNvPr id="20" name="Text 18"/>
          <p:cNvSpPr/>
          <p:nvPr/>
        </p:nvSpPr>
        <p:spPr>
          <a:xfrm>
            <a:off x="3291840" y="2048256"/>
            <a:ext cx="2542032" cy="438912"/>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DPIA ebaluazioak (RRHH portala + OT sistemak)</a:t>
            </a:r>
            <a:endParaRPr lang="en-US" sz="1000" dirty="0"/>
          </a:p>
        </p:txBody>
      </p:sp>
      <p:sp>
        <p:nvSpPr>
          <p:cNvPr id="21" name="Text 19"/>
          <p:cNvSpPr/>
          <p:nvPr/>
        </p:nvSpPr>
        <p:spPr>
          <a:xfrm>
            <a:off x="3291840" y="2560320"/>
            <a:ext cx="2542032" cy="438912"/>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Datu-tratamendu erregistroa (RoPA) osatuta</a:t>
            </a:r>
            <a:endParaRPr lang="en-US" sz="1000" dirty="0"/>
          </a:p>
        </p:txBody>
      </p:sp>
      <p:sp>
        <p:nvSpPr>
          <p:cNvPr id="22" name="Text 20"/>
          <p:cNvSpPr/>
          <p:nvPr/>
        </p:nvSpPr>
        <p:spPr>
          <a:xfrm>
            <a:off x="3291840" y="3072384"/>
            <a:ext cx="2542032" cy="438912"/>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Eskubide-prozedurak dokumentatuta (ARCO+)</a:t>
            </a:r>
            <a:endParaRPr lang="en-US" sz="1000" dirty="0"/>
          </a:p>
        </p:txBody>
      </p:sp>
      <p:sp>
        <p:nvSpPr>
          <p:cNvPr id="23" name="Text 21"/>
          <p:cNvSpPr/>
          <p:nvPr/>
        </p:nvSpPr>
        <p:spPr>
          <a:xfrm>
            <a:off x="3291840" y="3584448"/>
            <a:ext cx="2542032" cy="438912"/>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Datuen babesa diseinutik bertatik (Privacy by Design)</a:t>
            </a:r>
            <a:endParaRPr lang="en-US" sz="1000" dirty="0"/>
          </a:p>
        </p:txBody>
      </p:sp>
      <p:sp>
        <p:nvSpPr>
          <p:cNvPr id="24" name="Text 22"/>
          <p:cNvSpPr/>
          <p:nvPr/>
        </p:nvSpPr>
        <p:spPr>
          <a:xfrm>
            <a:off x="3291840" y="4096512"/>
            <a:ext cx="2542032" cy="438912"/>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Cookie politika eta uko egiteko aukerak aktibo</a:t>
            </a:r>
            <a:endParaRPr lang="en-US" sz="1000" dirty="0"/>
          </a:p>
        </p:txBody>
      </p:sp>
      <p:sp>
        <p:nvSpPr>
          <p:cNvPr id="25" name="Shape 23"/>
          <p:cNvSpPr/>
          <p:nvPr/>
        </p:nvSpPr>
        <p:spPr>
          <a:xfrm>
            <a:off x="6089904" y="1152144"/>
            <a:ext cx="2761488" cy="363931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10000"/>
              </a:srgbClr>
            </a:outerShdw>
          </a:effectLst>
        </p:spPr>
      </p:sp>
      <p:sp>
        <p:nvSpPr>
          <p:cNvPr id="26" name="Shape 24"/>
          <p:cNvSpPr/>
          <p:nvPr/>
        </p:nvSpPr>
        <p:spPr>
          <a:xfrm>
            <a:off x="6089904" y="1152144"/>
            <a:ext cx="2761488" cy="438912"/>
          </a:xfrm>
          <a:prstGeom prst="rect">
            <a:avLst/>
          </a:prstGeom>
          <a:solidFill>
            <a:srgbClr val="F97316"/>
          </a:solidFill>
          <a:ln w="12700">
            <a:solidFill>
              <a:srgbClr val="F97316"/>
            </a:solidFill>
            <a:prstDash val="solid"/>
          </a:ln>
        </p:spPr>
      </p:sp>
      <p:sp>
        <p:nvSpPr>
          <p:cNvPr id="27" name="Text 25"/>
          <p:cNvSpPr/>
          <p:nvPr/>
        </p:nvSpPr>
        <p:spPr>
          <a:xfrm>
            <a:off x="6181344" y="1161288"/>
            <a:ext cx="2578608" cy="420624"/>
          </a:xfrm>
          <a:prstGeom prst="rect">
            <a:avLst/>
          </a:prstGeom>
          <a:noFill/>
          <a:ln/>
        </p:spPr>
        <p:txBody>
          <a:bodyPr wrap="square"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IEC 62443</a:t>
            </a:r>
            <a:endParaRPr lang="en-US" sz="1300" dirty="0"/>
          </a:p>
        </p:txBody>
      </p:sp>
      <p:sp>
        <p:nvSpPr>
          <p:cNvPr id="28" name="Shape 26"/>
          <p:cNvSpPr/>
          <p:nvPr/>
        </p:nvSpPr>
        <p:spPr>
          <a:xfrm>
            <a:off x="6181344" y="1664208"/>
            <a:ext cx="2578608" cy="301752"/>
          </a:xfrm>
          <a:prstGeom prst="rect">
            <a:avLst/>
          </a:prstGeom>
          <a:solidFill>
            <a:srgbClr val="0EA5E9">
              <a:alpha val="14000"/>
            </a:srgbClr>
          </a:solidFill>
          <a:ln w="6350">
            <a:solidFill>
              <a:srgbClr val="0EA5E9"/>
            </a:solidFill>
            <a:prstDash val="solid"/>
          </a:ln>
        </p:spPr>
      </p:sp>
      <p:sp>
        <p:nvSpPr>
          <p:cNvPr id="29" name="Text 27"/>
          <p:cNvSpPr/>
          <p:nvPr/>
        </p:nvSpPr>
        <p:spPr>
          <a:xfrm>
            <a:off x="6227064" y="1682496"/>
            <a:ext cx="2487168" cy="256032"/>
          </a:xfrm>
          <a:prstGeom prst="rect">
            <a:avLst/>
          </a:prstGeom>
          <a:noFill/>
          <a:ln/>
        </p:spPr>
        <p:txBody>
          <a:bodyPr wrap="square" rtlCol="0" anchor="ctr"/>
          <a:lstStyle/>
          <a:p>
            <a:pPr indent="0" marL="0">
              <a:buNone/>
            </a:pPr>
            <a:r>
              <a:rPr lang="en-US" sz="1000" b="1" dirty="0">
                <a:solidFill>
                  <a:srgbClr val="0EA5E9"/>
                </a:solidFill>
                <a:latin typeface="Calibri" pitchFamily="34" charset="0"/>
                <a:ea typeface="Calibri" pitchFamily="34" charset="-122"/>
                <a:cs typeface="Calibri" pitchFamily="34" charset="-120"/>
              </a:rPr>
              <a:t>70% · SL2 Lortuta</a:t>
            </a:r>
            <a:endParaRPr lang="en-US" sz="1000" dirty="0"/>
          </a:p>
        </p:txBody>
      </p:sp>
      <p:sp>
        <p:nvSpPr>
          <p:cNvPr id="30" name="Text 28"/>
          <p:cNvSpPr/>
          <p:nvPr/>
        </p:nvSpPr>
        <p:spPr>
          <a:xfrm>
            <a:off x="6199632" y="2048256"/>
            <a:ext cx="2542032" cy="438912"/>
          </a:xfrm>
          <a:prstGeom prst="rect">
            <a:avLst/>
          </a:prstGeom>
          <a:noFill/>
          <a:ln/>
        </p:spPr>
        <p:txBody>
          <a:bodyPr wrap="square"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Purdue Eredua (0-5 mailak) ezarrita OT sisteman</a:t>
            </a:r>
            <a:endParaRPr lang="en-US" sz="1000" dirty="0"/>
          </a:p>
        </p:txBody>
      </p:sp>
      <p:sp>
        <p:nvSpPr>
          <p:cNvPr id="31" name="Text 29"/>
          <p:cNvSpPr/>
          <p:nvPr/>
        </p:nvSpPr>
        <p:spPr>
          <a:xfrm>
            <a:off x="6199632" y="2560320"/>
            <a:ext cx="2542032" cy="438912"/>
          </a:xfrm>
          <a:prstGeom prst="rect">
            <a:avLst/>
          </a:prstGeom>
          <a:noFill/>
          <a:ln/>
        </p:spPr>
        <p:txBody>
          <a:bodyPr wrap="square"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Zona / Konduit segmentazioa (IT/OT bereiztea)</a:t>
            </a:r>
            <a:endParaRPr lang="en-US" sz="1000" dirty="0"/>
          </a:p>
        </p:txBody>
      </p:sp>
      <p:sp>
        <p:nvSpPr>
          <p:cNvPr id="32" name="Text 30"/>
          <p:cNvSpPr/>
          <p:nvPr/>
        </p:nvSpPr>
        <p:spPr>
          <a:xfrm>
            <a:off x="6199632" y="3072384"/>
            <a:ext cx="2542032" cy="438912"/>
          </a:xfrm>
          <a:prstGeom prst="rect">
            <a:avLst/>
          </a:prstGeom>
          <a:noFill/>
          <a:ln/>
        </p:spPr>
        <p:txBody>
          <a:bodyPr wrap="square"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SL 2 lortua: autentifikazioa + auditoria aktibo</a:t>
            </a:r>
            <a:endParaRPr lang="en-US" sz="1000" dirty="0"/>
          </a:p>
        </p:txBody>
      </p:sp>
      <p:sp>
        <p:nvSpPr>
          <p:cNvPr id="33" name="Text 31"/>
          <p:cNvSpPr/>
          <p:nvPr/>
        </p:nvSpPr>
        <p:spPr>
          <a:xfrm>
            <a:off x="6199632" y="3584448"/>
            <a:ext cx="2542032" cy="438912"/>
          </a:xfrm>
          <a:prstGeom prst="rect">
            <a:avLst/>
          </a:prstGeom>
          <a:noFill/>
          <a:ln/>
        </p:spPr>
        <p:txBody>
          <a:bodyPr wrap="square"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Data Diode: telemetria uni-norabidekoa</a:t>
            </a:r>
            <a:endParaRPr lang="en-US" sz="1000" dirty="0"/>
          </a:p>
        </p:txBody>
      </p:sp>
      <p:sp>
        <p:nvSpPr>
          <p:cNvPr id="34" name="Text 32"/>
          <p:cNvSpPr/>
          <p:nvPr/>
        </p:nvSpPr>
        <p:spPr>
          <a:xfrm>
            <a:off x="6199632" y="4096512"/>
            <a:ext cx="2542032" cy="438912"/>
          </a:xfrm>
          <a:prstGeom prst="rect">
            <a:avLst/>
          </a:prstGeom>
          <a:noFill/>
          <a:ln/>
        </p:spPr>
        <p:txBody>
          <a:bodyPr wrap="square"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  </a:t>
            </a:r>
            <a:pPr indent="0" marL="0">
              <a:buNone/>
            </a:pPr>
            <a:r>
              <a:rPr lang="en-US" sz="1000" dirty="0">
                <a:solidFill>
                  <a:srgbClr val="1E293B"/>
                </a:solidFill>
                <a:latin typeface="Calibri" pitchFamily="34" charset="0"/>
                <a:ea typeface="Calibri" pitchFamily="34" charset="-122"/>
                <a:cs typeface="Calibri" pitchFamily="34" charset="-120"/>
              </a:rPr>
              <a:t>SL 3 bidea (sistema kritikoak): Q3 2026</a:t>
            </a:r>
            <a:endParaRPr lang="en-US" sz="1000" dirty="0"/>
          </a:p>
        </p:txBody>
      </p:sp>
      <p:sp>
        <p:nvSpPr>
          <p:cNvPr id="35" name="Shape 33"/>
          <p:cNvSpPr/>
          <p:nvPr/>
        </p:nvSpPr>
        <p:spPr>
          <a:xfrm>
            <a:off x="274320" y="4663440"/>
            <a:ext cx="8595360" cy="219456"/>
          </a:xfrm>
          <a:prstGeom prst="rect">
            <a:avLst/>
          </a:prstGeom>
          <a:solidFill>
            <a:srgbClr val="0F2D4A"/>
          </a:solidFill>
          <a:ln w="12700">
            <a:solidFill>
              <a:srgbClr val="0F2D4A"/>
            </a:solidFill>
            <a:prstDash val="solid"/>
          </a:ln>
        </p:spPr>
      </p:sp>
      <p:sp>
        <p:nvSpPr>
          <p:cNvPr id="36" name="Text 34"/>
          <p:cNvSpPr/>
          <p:nvPr/>
        </p:nvSpPr>
        <p:spPr>
          <a:xfrm>
            <a:off x="365760" y="4681728"/>
            <a:ext cx="8412480" cy="182880"/>
          </a:xfrm>
          <a:prstGeom prst="rect">
            <a:avLst/>
          </a:prstGeom>
          <a:noFill/>
          <a:ln/>
        </p:spPr>
        <p:txBody>
          <a:bodyPr wrap="square" rtlCol="0" anchor="ctr"/>
          <a:lstStyle/>
          <a:p>
            <a:pPr algn="ctr" indent="0" marL="0">
              <a:buNone/>
            </a:pPr>
            <a:r>
              <a:rPr lang="en-US" sz="1000" dirty="0">
                <a:solidFill>
                  <a:srgbClr val="C8A96E"/>
                </a:solidFill>
                <a:latin typeface="Calibri" pitchFamily="34" charset="0"/>
                <a:ea typeface="Calibri" pitchFamily="34" charset="-122"/>
                <a:cs typeface="Calibri" pitchFamily="34" charset="-120"/>
              </a:rPr>
              <a:t>ISO 27001:2022 — 87 / 93 kontrol aktibo (93% betetzea)    ·    OWASP Top 10 — A01-A09 mitigazioak dokumentatuta</a:t>
            </a:r>
            <a:endParaRPr lang="en-US" sz="1000" dirty="0"/>
          </a:p>
        </p:txBody>
      </p:sp>
      <p:sp>
        <p:nvSpPr>
          <p:cNvPr id="37" name="Shape 35"/>
          <p:cNvSpPr/>
          <p:nvPr/>
        </p:nvSpPr>
        <p:spPr>
          <a:xfrm>
            <a:off x="0" y="4937760"/>
            <a:ext cx="9144000" cy="205740"/>
          </a:xfrm>
          <a:prstGeom prst="rect">
            <a:avLst/>
          </a:prstGeom>
          <a:solidFill>
            <a:srgbClr val="0F2D4A"/>
          </a:solidFill>
          <a:ln w="12700">
            <a:solidFill>
              <a:srgbClr val="0F2D4A"/>
            </a:solidFill>
            <a:prstDash val="solid"/>
          </a:ln>
        </p:spPr>
      </p:sp>
      <p:sp>
        <p:nvSpPr>
          <p:cNvPr id="38" name="Text 36"/>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39" name="Text 37"/>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D4A"/>
        </a:solidFill>
      </p:bgPr>
    </p:bg>
    <p:spTree>
      <p:nvGrpSpPr>
        <p:cNvPr id="1" name=""/>
        <p:cNvGrpSpPr/>
        <p:nvPr/>
      </p:nvGrpSpPr>
      <p:grpSpPr>
        <a:xfrm>
          <a:off x="0" y="0"/>
          <a:ext cx="0" cy="0"/>
          <a:chOff x="0" y="0"/>
          <a:chExt cx="0" cy="0"/>
        </a:xfrm>
      </p:grpSpPr>
      <p:sp>
        <p:nvSpPr>
          <p:cNvPr id="2" name="Shape 0"/>
          <p:cNvSpPr/>
          <p:nvPr/>
        </p:nvSpPr>
        <p:spPr>
          <a:xfrm>
            <a:off x="0" y="0"/>
            <a:ext cx="9144000" cy="512064"/>
          </a:xfrm>
          <a:prstGeom prst="rect">
            <a:avLst/>
          </a:prstGeom>
          <a:solidFill>
            <a:srgbClr val="1A3F63"/>
          </a:solidFill>
          <a:ln w="12700">
            <a:solidFill>
              <a:srgbClr val="1A3F63"/>
            </a:solidFill>
            <a:prstDash val="solid"/>
          </a:ln>
        </p:spPr>
      </p:sp>
      <p:sp>
        <p:nvSpPr>
          <p:cNvPr id="3" name="Text 1"/>
          <p:cNvSpPr/>
          <p:nvPr/>
        </p:nvSpPr>
        <p:spPr>
          <a:xfrm>
            <a:off x="411480" y="91440"/>
            <a:ext cx="8321040" cy="329184"/>
          </a:xfrm>
          <a:prstGeom prst="rect">
            <a:avLst/>
          </a:prstGeom>
          <a:noFill/>
          <a:ln/>
        </p:spPr>
        <p:txBody>
          <a:bodyPr wrap="square" rtlCol="0" anchor="ctr"/>
          <a:lstStyle/>
          <a:p>
            <a:pPr indent="0" marL="0">
              <a:buNone/>
            </a:pPr>
            <a:r>
              <a:rPr lang="en-US" sz="1000" b="1" spc="200" kern="0" dirty="0">
                <a:solidFill>
                  <a:srgbClr val="C8A96E"/>
                </a:solidFill>
                <a:latin typeface="Calibri" pitchFamily="34" charset="0"/>
                <a:ea typeface="Calibri" pitchFamily="34" charset="-122"/>
                <a:cs typeface="Calibri" pitchFamily="34" charset="-120"/>
              </a:rPr>
              <a:t>05 · BETETZE LEGALA ETA ETORKIZUNA</a:t>
            </a:r>
            <a:endParaRPr lang="en-US" sz="1000" dirty="0"/>
          </a:p>
        </p:txBody>
      </p:sp>
      <p:sp>
        <p:nvSpPr>
          <p:cNvPr id="4" name="Text 2"/>
          <p:cNvSpPr/>
          <p:nvPr/>
        </p:nvSpPr>
        <p:spPr>
          <a:xfrm>
            <a:off x="411480" y="603504"/>
            <a:ext cx="832104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Balio Ekonomikoa eta Etorkizunerako Bide-orria</a:t>
            </a:r>
            <a:endParaRPr lang="en-US" sz="2600" dirty="0"/>
          </a:p>
        </p:txBody>
      </p:sp>
      <p:sp>
        <p:nvSpPr>
          <p:cNvPr id="5" name="Text 3"/>
          <p:cNvSpPr/>
          <p:nvPr/>
        </p:nvSpPr>
        <p:spPr>
          <a:xfrm>
            <a:off x="411480" y="1353312"/>
            <a:ext cx="3886200" cy="274320"/>
          </a:xfrm>
          <a:prstGeom prst="rect">
            <a:avLst/>
          </a:prstGeom>
          <a:noFill/>
          <a:ln/>
        </p:spPr>
        <p:txBody>
          <a:bodyPr wrap="square" rtlCol="0" anchor="ctr"/>
          <a:lstStyle/>
          <a:p>
            <a:pPr indent="0" marL="0">
              <a:buNone/>
            </a:pPr>
            <a:r>
              <a:rPr lang="en-US" sz="1100" b="1" spc="100" kern="0" dirty="0">
                <a:solidFill>
                  <a:srgbClr val="C8A96E"/>
                </a:solidFill>
                <a:latin typeface="Calibri" pitchFamily="34" charset="0"/>
                <a:ea typeface="Calibri" pitchFamily="34" charset="-122"/>
                <a:cs typeface="Calibri" pitchFamily="34" charset="-120"/>
              </a:rPr>
              <a:t>ZERGATIK MEREZI DU INBERTSIO HONEK?</a:t>
            </a:r>
            <a:endParaRPr lang="en-US" sz="1100" dirty="0"/>
          </a:p>
        </p:txBody>
      </p:sp>
      <p:sp>
        <p:nvSpPr>
          <p:cNvPr id="6" name="Shape 4"/>
          <p:cNvSpPr/>
          <p:nvPr/>
        </p:nvSpPr>
        <p:spPr>
          <a:xfrm>
            <a:off x="411480" y="1719072"/>
            <a:ext cx="1828800" cy="1234440"/>
          </a:xfrm>
          <a:prstGeom prst="rect">
            <a:avLst/>
          </a:prstGeom>
          <a:solidFill>
            <a:srgbClr val="1A3F63"/>
          </a:solidFill>
          <a:ln w="12700">
            <a:solidFill>
              <a:srgbClr val="DC2626"/>
            </a:solidFill>
            <a:prstDash val="solid"/>
          </a:ln>
        </p:spPr>
      </p:sp>
      <p:sp>
        <p:nvSpPr>
          <p:cNvPr id="7" name="Text 5"/>
          <p:cNvSpPr/>
          <p:nvPr/>
        </p:nvSpPr>
        <p:spPr>
          <a:xfrm>
            <a:off x="411480" y="1783080"/>
            <a:ext cx="1828800" cy="640080"/>
          </a:xfrm>
          <a:prstGeom prst="rect">
            <a:avLst/>
          </a:prstGeom>
          <a:noFill/>
          <a:ln/>
        </p:spPr>
        <p:txBody>
          <a:bodyPr wrap="square" rtlCol="0" anchor="ctr"/>
          <a:lstStyle/>
          <a:p>
            <a:pPr algn="ctr" indent="0" marL="0">
              <a:buNone/>
            </a:pPr>
            <a:r>
              <a:rPr lang="en-US" sz="2800" b="1" dirty="0">
                <a:solidFill>
                  <a:srgbClr val="DC2626"/>
                </a:solidFill>
                <a:latin typeface="Georgia" pitchFamily="34" charset="0"/>
                <a:ea typeface="Georgia" pitchFamily="34" charset="-122"/>
                <a:cs typeface="Georgia" pitchFamily="34" charset="-120"/>
              </a:rPr>
              <a:t>10M€+</a:t>
            </a:r>
            <a:endParaRPr lang="en-US" sz="2800" dirty="0"/>
          </a:p>
        </p:txBody>
      </p:sp>
      <p:sp>
        <p:nvSpPr>
          <p:cNvPr id="8" name="Text 6"/>
          <p:cNvSpPr/>
          <p:nvPr/>
        </p:nvSpPr>
        <p:spPr>
          <a:xfrm>
            <a:off x="475488" y="2450592"/>
            <a:ext cx="1709928" cy="438912"/>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NIS2 zigor posibla (%2 fakturazioa)</a:t>
            </a:r>
            <a:endParaRPr lang="en-US" sz="1000" dirty="0"/>
          </a:p>
        </p:txBody>
      </p:sp>
      <p:sp>
        <p:nvSpPr>
          <p:cNvPr id="9" name="Shape 7"/>
          <p:cNvSpPr/>
          <p:nvPr/>
        </p:nvSpPr>
        <p:spPr>
          <a:xfrm>
            <a:off x="2377440" y="1719072"/>
            <a:ext cx="1828800" cy="1234440"/>
          </a:xfrm>
          <a:prstGeom prst="rect">
            <a:avLst/>
          </a:prstGeom>
          <a:solidFill>
            <a:srgbClr val="1A3F63"/>
          </a:solidFill>
          <a:ln w="12700">
            <a:solidFill>
              <a:srgbClr val="0EA5E9"/>
            </a:solidFill>
            <a:prstDash val="solid"/>
          </a:ln>
        </p:spPr>
      </p:sp>
      <p:sp>
        <p:nvSpPr>
          <p:cNvPr id="10" name="Text 8"/>
          <p:cNvSpPr/>
          <p:nvPr/>
        </p:nvSpPr>
        <p:spPr>
          <a:xfrm>
            <a:off x="2377440" y="1783080"/>
            <a:ext cx="1828800" cy="640080"/>
          </a:xfrm>
          <a:prstGeom prst="rect">
            <a:avLst/>
          </a:prstGeom>
          <a:noFill/>
          <a:ln/>
        </p:spPr>
        <p:txBody>
          <a:bodyPr wrap="square" rtlCol="0" anchor="ctr"/>
          <a:lstStyle/>
          <a:p>
            <a:pPr algn="ctr" indent="0" marL="0">
              <a:buNone/>
            </a:pPr>
            <a:r>
              <a:rPr lang="en-US" sz="2800" b="1" dirty="0">
                <a:solidFill>
                  <a:srgbClr val="0EA5E9"/>
                </a:solidFill>
                <a:latin typeface="Georgia" pitchFamily="34" charset="0"/>
                <a:ea typeface="Georgia" pitchFamily="34" charset="-122"/>
                <a:cs typeface="Georgia" pitchFamily="34" charset="-120"/>
              </a:rPr>
              <a:t>24/7</a:t>
            </a:r>
            <a:endParaRPr lang="en-US" sz="2800" dirty="0"/>
          </a:p>
        </p:txBody>
      </p:sp>
      <p:sp>
        <p:nvSpPr>
          <p:cNvPr id="11" name="Text 9"/>
          <p:cNvSpPr/>
          <p:nvPr/>
        </p:nvSpPr>
        <p:spPr>
          <a:xfrm>
            <a:off x="2441448" y="2450592"/>
            <a:ext cx="1709928" cy="438912"/>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SIEM monitorizazioa aktibo</a:t>
            </a:r>
            <a:endParaRPr lang="en-US" sz="1000" dirty="0"/>
          </a:p>
        </p:txBody>
      </p:sp>
      <p:sp>
        <p:nvSpPr>
          <p:cNvPr id="12" name="Shape 10"/>
          <p:cNvSpPr/>
          <p:nvPr/>
        </p:nvSpPr>
        <p:spPr>
          <a:xfrm>
            <a:off x="411480" y="3090672"/>
            <a:ext cx="1828800" cy="1234440"/>
          </a:xfrm>
          <a:prstGeom prst="rect">
            <a:avLst/>
          </a:prstGeom>
          <a:solidFill>
            <a:srgbClr val="1A3F63"/>
          </a:solidFill>
          <a:ln w="12700">
            <a:solidFill>
              <a:srgbClr val="16A34A"/>
            </a:solidFill>
            <a:prstDash val="solid"/>
          </a:ln>
        </p:spPr>
      </p:sp>
      <p:sp>
        <p:nvSpPr>
          <p:cNvPr id="13" name="Text 11"/>
          <p:cNvSpPr/>
          <p:nvPr/>
        </p:nvSpPr>
        <p:spPr>
          <a:xfrm>
            <a:off x="411480" y="3154680"/>
            <a:ext cx="1828800" cy="640080"/>
          </a:xfrm>
          <a:prstGeom prst="rect">
            <a:avLst/>
          </a:prstGeom>
          <a:noFill/>
          <a:ln/>
        </p:spPr>
        <p:txBody>
          <a:bodyPr wrap="square" rtlCol="0" anchor="ctr"/>
          <a:lstStyle/>
          <a:p>
            <a:pPr algn="ctr" indent="0" marL="0">
              <a:buNone/>
            </a:pPr>
            <a:r>
              <a:rPr lang="en-US" sz="2800" b="1" dirty="0">
                <a:solidFill>
                  <a:srgbClr val="16A34A"/>
                </a:solidFill>
                <a:latin typeface="Georgia" pitchFamily="34" charset="0"/>
                <a:ea typeface="Georgia" pitchFamily="34" charset="-122"/>
                <a:cs typeface="Georgia" pitchFamily="34" charset="-120"/>
              </a:rPr>
              <a:t>100%</a:t>
            </a:r>
            <a:endParaRPr lang="en-US" sz="2800" dirty="0"/>
          </a:p>
        </p:txBody>
      </p:sp>
      <p:sp>
        <p:nvSpPr>
          <p:cNvPr id="14" name="Text 12"/>
          <p:cNvSpPr/>
          <p:nvPr/>
        </p:nvSpPr>
        <p:spPr>
          <a:xfrm>
            <a:off x="475488" y="3822192"/>
            <a:ext cx="1709928" cy="438912"/>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RGPD betetzea — isun-arriskua zero</a:t>
            </a:r>
            <a:endParaRPr lang="en-US" sz="1000" dirty="0"/>
          </a:p>
        </p:txBody>
      </p:sp>
      <p:sp>
        <p:nvSpPr>
          <p:cNvPr id="15" name="Shape 13"/>
          <p:cNvSpPr/>
          <p:nvPr/>
        </p:nvSpPr>
        <p:spPr>
          <a:xfrm>
            <a:off x="2377440" y="3090672"/>
            <a:ext cx="1828800" cy="1234440"/>
          </a:xfrm>
          <a:prstGeom prst="rect">
            <a:avLst/>
          </a:prstGeom>
          <a:solidFill>
            <a:srgbClr val="1A3F63"/>
          </a:solidFill>
          <a:ln w="12700">
            <a:solidFill>
              <a:srgbClr val="F97316"/>
            </a:solidFill>
            <a:prstDash val="solid"/>
          </a:ln>
        </p:spPr>
      </p:sp>
      <p:sp>
        <p:nvSpPr>
          <p:cNvPr id="16" name="Text 14"/>
          <p:cNvSpPr/>
          <p:nvPr/>
        </p:nvSpPr>
        <p:spPr>
          <a:xfrm>
            <a:off x="2377440" y="3154680"/>
            <a:ext cx="1828800" cy="640080"/>
          </a:xfrm>
          <a:prstGeom prst="rect">
            <a:avLst/>
          </a:prstGeom>
          <a:noFill/>
          <a:ln/>
        </p:spPr>
        <p:txBody>
          <a:bodyPr wrap="square" rtlCol="0" anchor="ctr"/>
          <a:lstStyle/>
          <a:p>
            <a:pPr algn="ctr" indent="0" marL="0">
              <a:buNone/>
            </a:pPr>
            <a:r>
              <a:rPr lang="en-US" sz="2800" b="1" dirty="0">
                <a:solidFill>
                  <a:srgbClr val="F97316"/>
                </a:solidFill>
                <a:latin typeface="Georgia" pitchFamily="34" charset="0"/>
                <a:ea typeface="Georgia" pitchFamily="34" charset="-122"/>
                <a:cs typeface="Georgia" pitchFamily="34" charset="-120"/>
              </a:rPr>
              <a:t>0</a:t>
            </a:r>
            <a:endParaRPr lang="en-US" sz="2800" dirty="0"/>
          </a:p>
        </p:txBody>
      </p:sp>
      <p:sp>
        <p:nvSpPr>
          <p:cNvPr id="17" name="Text 15"/>
          <p:cNvSpPr/>
          <p:nvPr/>
        </p:nvSpPr>
        <p:spPr>
          <a:xfrm>
            <a:off x="2441448" y="3822192"/>
            <a:ext cx="1709928" cy="438912"/>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Arazo kritiko aurkitua pentesting-ean</a:t>
            </a:r>
            <a:endParaRPr lang="en-US" sz="1000" dirty="0"/>
          </a:p>
        </p:txBody>
      </p:sp>
      <p:sp>
        <p:nvSpPr>
          <p:cNvPr id="18" name="Shape 16"/>
          <p:cNvSpPr/>
          <p:nvPr/>
        </p:nvSpPr>
        <p:spPr>
          <a:xfrm>
            <a:off x="4526280" y="1325880"/>
            <a:ext cx="0" cy="3337560"/>
          </a:xfrm>
          <a:prstGeom prst="line">
            <a:avLst/>
          </a:prstGeom>
          <a:noFill/>
          <a:ln w="12700">
            <a:solidFill>
              <a:srgbClr val="1A3F63"/>
            </a:solidFill>
            <a:prstDash val="solid"/>
          </a:ln>
        </p:spPr>
      </p:sp>
      <p:sp>
        <p:nvSpPr>
          <p:cNvPr id="19" name="Text 17"/>
          <p:cNvSpPr/>
          <p:nvPr/>
        </p:nvSpPr>
        <p:spPr>
          <a:xfrm>
            <a:off x="4709160" y="1353312"/>
            <a:ext cx="4114800" cy="274320"/>
          </a:xfrm>
          <a:prstGeom prst="rect">
            <a:avLst/>
          </a:prstGeom>
          <a:noFill/>
          <a:ln/>
        </p:spPr>
        <p:txBody>
          <a:bodyPr wrap="square" rtlCol="0" anchor="ctr"/>
          <a:lstStyle/>
          <a:p>
            <a:pPr indent="0" marL="0">
              <a:buNone/>
            </a:pPr>
            <a:r>
              <a:rPr lang="en-US" sz="1100" b="1" spc="100" kern="0" dirty="0">
                <a:solidFill>
                  <a:srgbClr val="C8A96E"/>
                </a:solidFill>
                <a:latin typeface="Calibri" pitchFamily="34" charset="0"/>
                <a:ea typeface="Calibri" pitchFamily="34" charset="-122"/>
                <a:cs typeface="Calibri" pitchFamily="34" charset="-120"/>
              </a:rPr>
              <a:t>BIDE-ORRIA 2026</a:t>
            </a:r>
            <a:endParaRPr lang="en-US" sz="1100" dirty="0"/>
          </a:p>
        </p:txBody>
      </p:sp>
      <p:sp>
        <p:nvSpPr>
          <p:cNvPr id="20" name="Shape 18"/>
          <p:cNvSpPr/>
          <p:nvPr/>
        </p:nvSpPr>
        <p:spPr>
          <a:xfrm>
            <a:off x="4681728" y="1773936"/>
            <a:ext cx="310896" cy="310896"/>
          </a:xfrm>
          <a:prstGeom prst="ellipse">
            <a:avLst/>
          </a:prstGeom>
          <a:solidFill>
            <a:srgbClr val="16A34A"/>
          </a:solidFill>
          <a:ln w="12700">
            <a:solidFill>
              <a:srgbClr val="16A34A"/>
            </a:solidFill>
            <a:prstDash val="solid"/>
          </a:ln>
        </p:spPr>
      </p:sp>
      <p:sp>
        <p:nvSpPr>
          <p:cNvPr id="21" name="Text 19"/>
          <p:cNvSpPr/>
          <p:nvPr/>
        </p:nvSpPr>
        <p:spPr>
          <a:xfrm>
            <a:off x="4681728" y="1755648"/>
            <a:ext cx="310896" cy="310896"/>
          </a:xfrm>
          <a:prstGeom prst="rect">
            <a:avLst/>
          </a:prstGeom>
          <a:noFill/>
          <a:ln/>
        </p:spPr>
        <p:txBody>
          <a:bodyPr wrap="square" rtlCol="0" anchor="ctr"/>
          <a:lstStyle/>
          <a:p>
            <a:pPr algn="ctr" indent="0" marL="0">
              <a:buNone/>
            </a:pPr>
            <a:r>
              <a:rPr lang="en-US" sz="1100" b="1" dirty="0">
                <a:solidFill>
                  <a:srgbClr val="0F2D4A"/>
                </a:solidFill>
                <a:latin typeface="Calibri" pitchFamily="34" charset="0"/>
                <a:ea typeface="Calibri" pitchFamily="34" charset="-122"/>
                <a:cs typeface="Calibri" pitchFamily="34" charset="-120"/>
              </a:rPr>
              <a:t>V</a:t>
            </a:r>
            <a:endParaRPr lang="en-US" sz="1100" dirty="0"/>
          </a:p>
        </p:txBody>
      </p:sp>
      <p:sp>
        <p:nvSpPr>
          <p:cNvPr id="22" name="Text 20"/>
          <p:cNvSpPr/>
          <p:nvPr/>
        </p:nvSpPr>
        <p:spPr>
          <a:xfrm>
            <a:off x="5074920" y="1737360"/>
            <a:ext cx="1188720" cy="274320"/>
          </a:xfrm>
          <a:prstGeom prst="rect">
            <a:avLst/>
          </a:prstGeom>
          <a:noFill/>
          <a:ln/>
        </p:spPr>
        <p:txBody>
          <a:bodyPr wrap="square"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Q1 2026</a:t>
            </a:r>
            <a:endParaRPr lang="en-US" sz="1300" dirty="0"/>
          </a:p>
        </p:txBody>
      </p:sp>
      <p:sp>
        <p:nvSpPr>
          <p:cNvPr id="23" name="Text 21"/>
          <p:cNvSpPr/>
          <p:nvPr/>
        </p:nvSpPr>
        <p:spPr>
          <a:xfrm>
            <a:off x="5074920" y="2029968"/>
            <a:ext cx="3749040" cy="420624"/>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Gap analisia (done) · MFA %100 · NIS2 hasiera</a:t>
            </a:r>
            <a:endParaRPr lang="en-US" sz="1000" dirty="0"/>
          </a:p>
        </p:txBody>
      </p:sp>
      <p:sp>
        <p:nvSpPr>
          <p:cNvPr id="24" name="Shape 22"/>
          <p:cNvSpPr/>
          <p:nvPr/>
        </p:nvSpPr>
        <p:spPr>
          <a:xfrm>
            <a:off x="4681728" y="2596896"/>
            <a:ext cx="310896" cy="310896"/>
          </a:xfrm>
          <a:prstGeom prst="ellipse">
            <a:avLst/>
          </a:prstGeom>
          <a:solidFill>
            <a:srgbClr val="C8A96E"/>
          </a:solidFill>
          <a:ln w="12700">
            <a:solidFill>
              <a:srgbClr val="C8A96E"/>
            </a:solidFill>
            <a:prstDash val="solid"/>
          </a:ln>
        </p:spPr>
      </p:sp>
      <p:sp>
        <p:nvSpPr>
          <p:cNvPr id="25" name="Text 23"/>
          <p:cNvSpPr/>
          <p:nvPr/>
        </p:nvSpPr>
        <p:spPr>
          <a:xfrm>
            <a:off x="4681728" y="2578608"/>
            <a:ext cx="310896" cy="310896"/>
          </a:xfrm>
          <a:prstGeom prst="rect">
            <a:avLst/>
          </a:prstGeom>
          <a:noFill/>
          <a:ln/>
        </p:spPr>
        <p:txBody>
          <a:bodyPr wrap="square" rtlCol="0" anchor="ctr"/>
          <a:lstStyle/>
          <a:p>
            <a:pPr algn="ctr" indent="0" marL="0">
              <a:buNone/>
            </a:pPr>
            <a:r>
              <a:rPr lang="en-US" sz="1100" b="1" dirty="0">
                <a:solidFill>
                  <a:srgbClr val="0F2D4A"/>
                </a:solidFill>
                <a:latin typeface="Calibri" pitchFamily="34" charset="0"/>
                <a:ea typeface="Calibri" pitchFamily="34" charset="-122"/>
                <a:cs typeface="Calibri" pitchFamily="34" charset="-120"/>
              </a:rPr>
              <a:t>2</a:t>
            </a:r>
            <a:endParaRPr lang="en-US" sz="1100" dirty="0"/>
          </a:p>
        </p:txBody>
      </p:sp>
      <p:sp>
        <p:nvSpPr>
          <p:cNvPr id="26" name="Text 24"/>
          <p:cNvSpPr/>
          <p:nvPr/>
        </p:nvSpPr>
        <p:spPr>
          <a:xfrm>
            <a:off x="5074920" y="2560320"/>
            <a:ext cx="1188720" cy="274320"/>
          </a:xfrm>
          <a:prstGeom prst="rect">
            <a:avLst/>
          </a:prstGeom>
          <a:noFill/>
          <a:ln/>
        </p:spPr>
        <p:txBody>
          <a:bodyPr wrap="square" rtlCol="0" anchor="ctr"/>
          <a:lstStyle/>
          <a:p>
            <a:pPr indent="0" marL="0">
              <a:buNone/>
            </a:pPr>
            <a:r>
              <a:rPr lang="en-US" sz="1300" b="1" dirty="0">
                <a:solidFill>
                  <a:srgbClr val="C8A96E"/>
                </a:solidFill>
                <a:latin typeface="Calibri" pitchFamily="34" charset="0"/>
                <a:ea typeface="Calibri" pitchFamily="34" charset="-122"/>
                <a:cs typeface="Calibri" pitchFamily="34" charset="-120"/>
              </a:rPr>
              <a:t>Q2 2026</a:t>
            </a:r>
            <a:endParaRPr lang="en-US" sz="1300" dirty="0"/>
          </a:p>
        </p:txBody>
      </p:sp>
      <p:sp>
        <p:nvSpPr>
          <p:cNvPr id="27" name="Text 25"/>
          <p:cNvSpPr/>
          <p:nvPr/>
        </p:nvSpPr>
        <p:spPr>
          <a:xfrm>
            <a:off x="5074920" y="2852928"/>
            <a:ext cx="3749040" cy="420624"/>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EDR zabalkundea · SIEM 24/7 · CSIRT taldea · Vendors</a:t>
            </a:r>
            <a:endParaRPr lang="en-US" sz="1000" dirty="0"/>
          </a:p>
        </p:txBody>
      </p:sp>
      <p:sp>
        <p:nvSpPr>
          <p:cNvPr id="28" name="Shape 26"/>
          <p:cNvSpPr/>
          <p:nvPr/>
        </p:nvSpPr>
        <p:spPr>
          <a:xfrm>
            <a:off x="4681728" y="3419856"/>
            <a:ext cx="310896" cy="310896"/>
          </a:xfrm>
          <a:prstGeom prst="ellipse">
            <a:avLst/>
          </a:prstGeom>
          <a:solidFill>
            <a:srgbClr val="C8A96E"/>
          </a:solidFill>
          <a:ln w="12700">
            <a:solidFill>
              <a:srgbClr val="C8A96E"/>
            </a:solidFill>
            <a:prstDash val="solid"/>
          </a:ln>
        </p:spPr>
      </p:sp>
      <p:sp>
        <p:nvSpPr>
          <p:cNvPr id="29" name="Text 27"/>
          <p:cNvSpPr/>
          <p:nvPr/>
        </p:nvSpPr>
        <p:spPr>
          <a:xfrm>
            <a:off x="4681728" y="3401568"/>
            <a:ext cx="310896" cy="310896"/>
          </a:xfrm>
          <a:prstGeom prst="rect">
            <a:avLst/>
          </a:prstGeom>
          <a:noFill/>
          <a:ln/>
        </p:spPr>
        <p:txBody>
          <a:bodyPr wrap="square" rtlCol="0" anchor="ctr"/>
          <a:lstStyle/>
          <a:p>
            <a:pPr algn="ctr" indent="0" marL="0">
              <a:buNone/>
            </a:pPr>
            <a:r>
              <a:rPr lang="en-US" sz="1100" b="1" dirty="0">
                <a:solidFill>
                  <a:srgbClr val="0F2D4A"/>
                </a:solidFill>
                <a:latin typeface="Calibri" pitchFamily="34" charset="0"/>
                <a:ea typeface="Calibri" pitchFamily="34" charset="-122"/>
                <a:cs typeface="Calibri" pitchFamily="34" charset="-120"/>
              </a:rPr>
              <a:t>3</a:t>
            </a:r>
            <a:endParaRPr lang="en-US" sz="1100" dirty="0"/>
          </a:p>
        </p:txBody>
      </p:sp>
      <p:sp>
        <p:nvSpPr>
          <p:cNvPr id="30" name="Text 28"/>
          <p:cNvSpPr/>
          <p:nvPr/>
        </p:nvSpPr>
        <p:spPr>
          <a:xfrm>
            <a:off x="5074920" y="3383280"/>
            <a:ext cx="1188720" cy="274320"/>
          </a:xfrm>
          <a:prstGeom prst="rect">
            <a:avLst/>
          </a:prstGeom>
          <a:noFill/>
          <a:ln/>
        </p:spPr>
        <p:txBody>
          <a:bodyPr wrap="square" rtlCol="0" anchor="ctr"/>
          <a:lstStyle/>
          <a:p>
            <a:pPr indent="0" marL="0">
              <a:buNone/>
            </a:pPr>
            <a:r>
              <a:rPr lang="en-US" sz="1300" b="1" dirty="0">
                <a:solidFill>
                  <a:srgbClr val="C8A96E"/>
                </a:solidFill>
                <a:latin typeface="Calibri" pitchFamily="34" charset="0"/>
                <a:ea typeface="Calibri" pitchFamily="34" charset="-122"/>
                <a:cs typeface="Calibri" pitchFamily="34" charset="-120"/>
              </a:rPr>
              <a:t>Q3 2026</a:t>
            </a:r>
            <a:endParaRPr lang="en-US" sz="1300" dirty="0"/>
          </a:p>
        </p:txBody>
      </p:sp>
      <p:sp>
        <p:nvSpPr>
          <p:cNvPr id="31" name="Text 29"/>
          <p:cNvSpPr/>
          <p:nvPr/>
        </p:nvSpPr>
        <p:spPr>
          <a:xfrm>
            <a:off x="5074920" y="3675888"/>
            <a:ext cx="3749040" cy="420624"/>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IEC 62443 SL3 · BCP probak · Pentest urtekoa</a:t>
            </a:r>
            <a:endParaRPr lang="en-US" sz="1000" dirty="0"/>
          </a:p>
        </p:txBody>
      </p:sp>
      <p:sp>
        <p:nvSpPr>
          <p:cNvPr id="32" name="Shape 30"/>
          <p:cNvSpPr/>
          <p:nvPr/>
        </p:nvSpPr>
        <p:spPr>
          <a:xfrm>
            <a:off x="4681728" y="4242816"/>
            <a:ext cx="310896" cy="310896"/>
          </a:xfrm>
          <a:prstGeom prst="ellipse">
            <a:avLst/>
          </a:prstGeom>
          <a:solidFill>
            <a:srgbClr val="C8A96E"/>
          </a:solidFill>
          <a:ln w="12700">
            <a:solidFill>
              <a:srgbClr val="C8A96E"/>
            </a:solidFill>
            <a:prstDash val="solid"/>
          </a:ln>
        </p:spPr>
      </p:sp>
      <p:sp>
        <p:nvSpPr>
          <p:cNvPr id="33" name="Text 31"/>
          <p:cNvSpPr/>
          <p:nvPr/>
        </p:nvSpPr>
        <p:spPr>
          <a:xfrm>
            <a:off x="4681728" y="4224528"/>
            <a:ext cx="310896" cy="310896"/>
          </a:xfrm>
          <a:prstGeom prst="rect">
            <a:avLst/>
          </a:prstGeom>
          <a:noFill/>
          <a:ln/>
        </p:spPr>
        <p:txBody>
          <a:bodyPr wrap="square" rtlCol="0" anchor="ctr"/>
          <a:lstStyle/>
          <a:p>
            <a:pPr algn="ctr" indent="0" marL="0">
              <a:buNone/>
            </a:pPr>
            <a:r>
              <a:rPr lang="en-US" sz="1100" b="1" dirty="0">
                <a:solidFill>
                  <a:srgbClr val="0F2D4A"/>
                </a:solidFill>
                <a:latin typeface="Calibri" pitchFamily="34" charset="0"/>
                <a:ea typeface="Calibri" pitchFamily="34" charset="-122"/>
                <a:cs typeface="Calibri" pitchFamily="34" charset="-120"/>
              </a:rPr>
              <a:t>4</a:t>
            </a:r>
            <a:endParaRPr lang="en-US" sz="1100" dirty="0"/>
          </a:p>
        </p:txBody>
      </p:sp>
      <p:sp>
        <p:nvSpPr>
          <p:cNvPr id="34" name="Text 32"/>
          <p:cNvSpPr/>
          <p:nvPr/>
        </p:nvSpPr>
        <p:spPr>
          <a:xfrm>
            <a:off x="5074920" y="4206240"/>
            <a:ext cx="1188720" cy="274320"/>
          </a:xfrm>
          <a:prstGeom prst="rect">
            <a:avLst/>
          </a:prstGeom>
          <a:noFill/>
          <a:ln/>
        </p:spPr>
        <p:txBody>
          <a:bodyPr wrap="square" rtlCol="0" anchor="ctr"/>
          <a:lstStyle/>
          <a:p>
            <a:pPr indent="0" marL="0">
              <a:buNone/>
            </a:pPr>
            <a:r>
              <a:rPr lang="en-US" sz="1300" b="1" dirty="0">
                <a:solidFill>
                  <a:srgbClr val="C8A96E"/>
                </a:solidFill>
                <a:latin typeface="Calibri" pitchFamily="34" charset="0"/>
                <a:ea typeface="Calibri" pitchFamily="34" charset="-122"/>
                <a:cs typeface="Calibri" pitchFamily="34" charset="-120"/>
              </a:rPr>
              <a:t>Q4 2026</a:t>
            </a:r>
            <a:endParaRPr lang="en-US" sz="1300" dirty="0"/>
          </a:p>
        </p:txBody>
      </p:sp>
      <p:sp>
        <p:nvSpPr>
          <p:cNvPr id="35" name="Text 33"/>
          <p:cNvSpPr/>
          <p:nvPr/>
        </p:nvSpPr>
        <p:spPr>
          <a:xfrm>
            <a:off x="5074920" y="4498848"/>
            <a:ext cx="3749040" cy="420624"/>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NIS2 BETETZE OSOA (Urria 17) · ISO 27001 auditoria</a:t>
            </a:r>
            <a:endParaRPr lang="en-US" sz="1000" dirty="0"/>
          </a:p>
        </p:txBody>
      </p:sp>
      <p:sp>
        <p:nvSpPr>
          <p:cNvPr id="36" name="Shape 34"/>
          <p:cNvSpPr/>
          <p:nvPr/>
        </p:nvSpPr>
        <p:spPr>
          <a:xfrm>
            <a:off x="0" y="4937760"/>
            <a:ext cx="9144000" cy="205740"/>
          </a:xfrm>
          <a:prstGeom prst="rect">
            <a:avLst/>
          </a:prstGeom>
          <a:solidFill>
            <a:srgbClr val="0A1E30"/>
          </a:solidFill>
          <a:ln w="12700">
            <a:solidFill>
              <a:srgbClr val="0A1E30"/>
            </a:solidFill>
            <a:prstDash val="solid"/>
          </a:ln>
        </p:spPr>
      </p:sp>
      <p:sp>
        <p:nvSpPr>
          <p:cNvPr id="37" name="Text 35"/>
          <p:cNvSpPr/>
          <p:nvPr/>
        </p:nvSpPr>
        <p:spPr>
          <a:xfrm>
            <a:off x="274320" y="4946904"/>
            <a:ext cx="8595360" cy="182880"/>
          </a:xfrm>
          <a:prstGeom prst="rect">
            <a:avLst/>
          </a:prstGeom>
          <a:noFill/>
          <a:ln/>
        </p:spPr>
        <p:txBody>
          <a:bodyPr wrap="square" rtlCol="0" anchor="ctr"/>
          <a:lstStyle/>
          <a:p>
            <a:pPr indent="0" marL="0">
              <a:buNone/>
            </a:pPr>
            <a:r>
              <a:rPr lang="en-US" sz="900" dirty="0">
                <a:solidFill>
                  <a:srgbClr val="C8A96E"/>
                </a:solidFill>
                <a:latin typeface="Calibri" pitchFamily="34" charset="0"/>
                <a:ea typeface="Calibri" pitchFamily="34" charset="-122"/>
                <a:cs typeface="Calibri" pitchFamily="34" charset="-120"/>
              </a:rPr>
              <a:t>Zabala Gailetak · Zibersegurtasun Entrega 2026</a:t>
            </a:r>
            <a:endParaRPr lang="en-US" sz="900" dirty="0"/>
          </a:p>
        </p:txBody>
      </p:sp>
      <p:sp>
        <p:nvSpPr>
          <p:cNvPr id="38" name="Text 36"/>
          <p:cNvSpPr/>
          <p:nvPr/>
        </p:nvSpPr>
        <p:spPr>
          <a:xfrm>
            <a:off x="274320" y="4946904"/>
            <a:ext cx="8595360" cy="18288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D4A"/>
        </a:solidFill>
      </p:bgPr>
    </p:bg>
    <p:spTree>
      <p:nvGrpSpPr>
        <p:cNvPr id="1" name=""/>
        <p:cNvGrpSpPr/>
        <p:nvPr/>
      </p:nvGrpSpPr>
      <p:grpSpPr>
        <a:xfrm>
          <a:off x="0" y="0"/>
          <a:ext cx="0" cy="0"/>
          <a:chOff x="0" y="0"/>
          <a:chExt cx="0" cy="0"/>
        </a:xfrm>
      </p:grpSpPr>
      <p:sp>
        <p:nvSpPr>
          <p:cNvPr id="2" name="Shape 0"/>
          <p:cNvSpPr/>
          <p:nvPr/>
        </p:nvSpPr>
        <p:spPr>
          <a:xfrm>
            <a:off x="6675120" y="0"/>
            <a:ext cx="2468880" cy="5143500"/>
          </a:xfrm>
          <a:prstGeom prst="rect">
            <a:avLst/>
          </a:prstGeom>
          <a:solidFill>
            <a:srgbClr val="1A3F63"/>
          </a:solidFill>
          <a:ln w="12700">
            <a:solidFill>
              <a:srgbClr val="1A3F63"/>
            </a:solidFill>
            <a:prstDash val="solid"/>
          </a:ln>
        </p:spPr>
      </p:sp>
      <p:sp>
        <p:nvSpPr>
          <p:cNvPr id="3" name="Shape 1"/>
          <p:cNvSpPr/>
          <p:nvPr/>
        </p:nvSpPr>
        <p:spPr>
          <a:xfrm>
            <a:off x="8851392" y="0"/>
            <a:ext cx="292608" cy="5143500"/>
          </a:xfrm>
          <a:prstGeom prst="rect">
            <a:avLst/>
          </a:prstGeom>
          <a:solidFill>
            <a:srgbClr val="C8A96E"/>
          </a:solidFill>
          <a:ln w="12700">
            <a:solidFill>
              <a:srgbClr val="C8A96E"/>
            </a:solidFill>
            <a:prstDash val="solid"/>
          </a:ln>
        </p:spPr>
      </p:sp>
      <p:sp>
        <p:nvSpPr>
          <p:cNvPr id="4" name="Shape 2"/>
          <p:cNvSpPr/>
          <p:nvPr/>
        </p:nvSpPr>
        <p:spPr>
          <a:xfrm>
            <a:off x="0" y="4681728"/>
            <a:ext cx="6675120" cy="54864"/>
          </a:xfrm>
          <a:prstGeom prst="rect">
            <a:avLst/>
          </a:prstGeom>
          <a:solidFill>
            <a:srgbClr val="C8A96E"/>
          </a:solidFill>
          <a:ln w="12700">
            <a:solidFill>
              <a:srgbClr val="C8A96E"/>
            </a:solidFill>
            <a:prstDash val="solid"/>
          </a:ln>
        </p:spPr>
      </p:sp>
      <p:sp>
        <p:nvSpPr>
          <p:cNvPr id="5" name="Text 3"/>
          <p:cNvSpPr/>
          <p:nvPr/>
        </p:nvSpPr>
        <p:spPr>
          <a:xfrm>
            <a:off x="457200" y="384048"/>
            <a:ext cx="6035040" cy="274320"/>
          </a:xfrm>
          <a:prstGeom prst="rect">
            <a:avLst/>
          </a:prstGeom>
          <a:noFill/>
          <a:ln/>
        </p:spPr>
        <p:txBody>
          <a:bodyPr wrap="square" rtlCol="0" anchor="ctr"/>
          <a:lstStyle/>
          <a:p>
            <a:pPr indent="0" marL="0">
              <a:buNone/>
            </a:pPr>
            <a:r>
              <a:rPr lang="en-US" sz="1000" b="1" spc="300" kern="0" dirty="0">
                <a:solidFill>
                  <a:srgbClr val="C8A96E"/>
                </a:solidFill>
                <a:latin typeface="Calibri" pitchFamily="34" charset="0"/>
                <a:ea typeface="Calibri" pitchFamily="34" charset="-122"/>
                <a:cs typeface="Calibri" pitchFamily="34" charset="-120"/>
              </a:rPr>
              <a:t>06 · ONDORIOAK ETA GALDERAK</a:t>
            </a:r>
            <a:endParaRPr lang="en-US" sz="1000" dirty="0"/>
          </a:p>
        </p:txBody>
      </p:sp>
      <p:sp>
        <p:nvSpPr>
          <p:cNvPr id="6" name="Text 4"/>
          <p:cNvSpPr/>
          <p:nvPr/>
        </p:nvSpPr>
        <p:spPr>
          <a:xfrm>
            <a:off x="457200" y="749808"/>
            <a:ext cx="6035040" cy="1115568"/>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Zabala Gailetak,</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Seguru eta Etorkizunerako Prest</a:t>
            </a:r>
            <a:endParaRPr lang="en-US" sz="3400" dirty="0"/>
          </a:p>
        </p:txBody>
      </p:sp>
      <p:sp>
        <p:nvSpPr>
          <p:cNvPr id="7" name="Shape 5"/>
          <p:cNvSpPr/>
          <p:nvPr/>
        </p:nvSpPr>
        <p:spPr>
          <a:xfrm>
            <a:off x="457200" y="1993392"/>
            <a:ext cx="1645920" cy="54864"/>
          </a:xfrm>
          <a:prstGeom prst="rect">
            <a:avLst/>
          </a:prstGeom>
          <a:solidFill>
            <a:srgbClr val="C8A96E"/>
          </a:solidFill>
          <a:ln w="12700">
            <a:solidFill>
              <a:srgbClr val="C8A96E"/>
            </a:solidFill>
            <a:prstDash val="solid"/>
          </a:ln>
        </p:spPr>
      </p:sp>
      <p:sp>
        <p:nvSpPr>
          <p:cNvPr id="8" name="Shape 6"/>
          <p:cNvSpPr/>
          <p:nvPr/>
        </p:nvSpPr>
        <p:spPr>
          <a:xfrm>
            <a:off x="457200" y="2194560"/>
            <a:ext cx="201168" cy="201168"/>
          </a:xfrm>
          <a:prstGeom prst="ellipse">
            <a:avLst/>
          </a:prstGeom>
          <a:solidFill>
            <a:srgbClr val="C8A96E"/>
          </a:solidFill>
          <a:ln w="12700">
            <a:solidFill>
              <a:srgbClr val="C8A96E"/>
            </a:solidFill>
            <a:prstDash val="solid"/>
          </a:ln>
        </p:spPr>
      </p:sp>
      <p:sp>
        <p:nvSpPr>
          <p:cNvPr id="9" name="Text 7"/>
          <p:cNvSpPr/>
          <p:nvPr/>
        </p:nvSpPr>
        <p:spPr>
          <a:xfrm>
            <a:off x="804672" y="2167128"/>
            <a:ext cx="5687568" cy="310896"/>
          </a:xfrm>
          <a:prstGeom prst="rect">
            <a:avLst/>
          </a:prstGeom>
          <a:noFill/>
          <a:ln/>
        </p:spPr>
        <p:txBody>
          <a:bodyPr wrap="square" rtlCol="0" anchor="ctr"/>
          <a:lstStyle/>
          <a:p>
            <a:pPr indent="0" marL="0">
              <a:buNone/>
            </a:pPr>
            <a:r>
              <a:rPr lang="en-US" sz="1200" dirty="0">
                <a:solidFill>
                  <a:srgbClr val="D4E4F7"/>
                </a:solidFill>
                <a:latin typeface="Calibri" pitchFamily="34" charset="0"/>
                <a:ea typeface="Calibri" pitchFamily="34" charset="-122"/>
                <a:cs typeface="Calibri" pitchFamily="34" charset="-120"/>
              </a:rPr>
              <a:t>Zero Trust + 5 VLAN segmentazio → OT sarea erabat babestuta</a:t>
            </a:r>
            <a:endParaRPr lang="en-US" sz="1200" dirty="0"/>
          </a:p>
        </p:txBody>
      </p:sp>
      <p:sp>
        <p:nvSpPr>
          <p:cNvPr id="10" name="Shape 8"/>
          <p:cNvSpPr/>
          <p:nvPr/>
        </p:nvSpPr>
        <p:spPr>
          <a:xfrm>
            <a:off x="457200" y="2743200"/>
            <a:ext cx="201168" cy="201168"/>
          </a:xfrm>
          <a:prstGeom prst="ellipse">
            <a:avLst/>
          </a:prstGeom>
          <a:solidFill>
            <a:srgbClr val="C8A96E"/>
          </a:solidFill>
          <a:ln w="12700">
            <a:solidFill>
              <a:srgbClr val="C8A96E"/>
            </a:solidFill>
            <a:prstDash val="solid"/>
          </a:ln>
        </p:spPr>
      </p:sp>
      <p:sp>
        <p:nvSpPr>
          <p:cNvPr id="11" name="Text 9"/>
          <p:cNvSpPr/>
          <p:nvPr/>
        </p:nvSpPr>
        <p:spPr>
          <a:xfrm>
            <a:off x="804672" y="2715768"/>
            <a:ext cx="5687568" cy="310896"/>
          </a:xfrm>
          <a:prstGeom prst="rect">
            <a:avLst/>
          </a:prstGeom>
          <a:noFill/>
          <a:ln/>
        </p:spPr>
        <p:txBody>
          <a:bodyPr wrap="square" rtlCol="0" anchor="ctr"/>
          <a:lstStyle/>
          <a:p>
            <a:pPr indent="0" marL="0">
              <a:buNone/>
            </a:pPr>
            <a:r>
              <a:rPr lang="en-US" sz="1200" dirty="0">
                <a:solidFill>
                  <a:srgbClr val="D4E4F7"/>
                </a:solidFill>
                <a:latin typeface="Calibri" pitchFamily="34" charset="0"/>
                <a:ea typeface="Calibri" pitchFamily="34" charset="-122"/>
                <a:cs typeface="Calibri" pitchFamily="34" charset="-120"/>
              </a:rPr>
              <a:t>Pentesting: 0 arazo kritiko — Aurkikuntzak guztiak konponduta</a:t>
            </a:r>
            <a:endParaRPr lang="en-US" sz="1200" dirty="0"/>
          </a:p>
        </p:txBody>
      </p:sp>
      <p:sp>
        <p:nvSpPr>
          <p:cNvPr id="12" name="Shape 10"/>
          <p:cNvSpPr/>
          <p:nvPr/>
        </p:nvSpPr>
        <p:spPr>
          <a:xfrm>
            <a:off x="457200" y="3291840"/>
            <a:ext cx="201168" cy="201168"/>
          </a:xfrm>
          <a:prstGeom prst="ellipse">
            <a:avLst/>
          </a:prstGeom>
          <a:solidFill>
            <a:srgbClr val="C8A96E"/>
          </a:solidFill>
          <a:ln w="12700">
            <a:solidFill>
              <a:srgbClr val="C8A96E"/>
            </a:solidFill>
            <a:prstDash val="solid"/>
          </a:ln>
        </p:spPr>
      </p:sp>
      <p:sp>
        <p:nvSpPr>
          <p:cNvPr id="13" name="Text 11"/>
          <p:cNvSpPr/>
          <p:nvPr/>
        </p:nvSpPr>
        <p:spPr>
          <a:xfrm>
            <a:off x="804672" y="3264408"/>
            <a:ext cx="5687568" cy="310896"/>
          </a:xfrm>
          <a:prstGeom prst="rect">
            <a:avLst/>
          </a:prstGeom>
          <a:noFill/>
          <a:ln/>
        </p:spPr>
        <p:txBody>
          <a:bodyPr wrap="square" rtlCol="0" anchor="ctr"/>
          <a:lstStyle/>
          <a:p>
            <a:pPr indent="0" marL="0">
              <a:buNone/>
            </a:pPr>
            <a:r>
              <a:rPr lang="en-US" sz="1200" dirty="0">
                <a:solidFill>
                  <a:srgbClr val="D4E4F7"/>
                </a:solidFill>
                <a:latin typeface="Calibri" pitchFamily="34" charset="0"/>
                <a:ea typeface="Calibri" pitchFamily="34" charset="-122"/>
                <a:cs typeface="Calibri" pitchFamily="34" charset="-120"/>
              </a:rPr>
              <a:t>Wazuh SIEM + Honeypots: Monitorizazioa 24/7, incidenteekiko prest</a:t>
            </a:r>
            <a:endParaRPr lang="en-US" sz="1200" dirty="0"/>
          </a:p>
        </p:txBody>
      </p:sp>
      <p:sp>
        <p:nvSpPr>
          <p:cNvPr id="14" name="Shape 12"/>
          <p:cNvSpPr/>
          <p:nvPr/>
        </p:nvSpPr>
        <p:spPr>
          <a:xfrm>
            <a:off x="457200" y="3840480"/>
            <a:ext cx="201168" cy="201168"/>
          </a:xfrm>
          <a:prstGeom prst="ellipse">
            <a:avLst/>
          </a:prstGeom>
          <a:solidFill>
            <a:srgbClr val="C8A96E"/>
          </a:solidFill>
          <a:ln w="12700">
            <a:solidFill>
              <a:srgbClr val="C8A96E"/>
            </a:solidFill>
            <a:prstDash val="solid"/>
          </a:ln>
        </p:spPr>
      </p:sp>
      <p:sp>
        <p:nvSpPr>
          <p:cNvPr id="15" name="Text 13"/>
          <p:cNvSpPr/>
          <p:nvPr/>
        </p:nvSpPr>
        <p:spPr>
          <a:xfrm>
            <a:off x="804672" y="3813048"/>
            <a:ext cx="5687568" cy="310896"/>
          </a:xfrm>
          <a:prstGeom prst="rect">
            <a:avLst/>
          </a:prstGeom>
          <a:noFill/>
          <a:ln/>
        </p:spPr>
        <p:txBody>
          <a:bodyPr wrap="square" rtlCol="0" anchor="ctr"/>
          <a:lstStyle/>
          <a:p>
            <a:pPr indent="0" marL="0">
              <a:buNone/>
            </a:pPr>
            <a:r>
              <a:rPr lang="en-US" sz="1200" dirty="0">
                <a:solidFill>
                  <a:srgbClr val="D4E4F7"/>
                </a:solidFill>
                <a:latin typeface="Calibri" pitchFamily="34" charset="0"/>
                <a:ea typeface="Calibri" pitchFamily="34" charset="-122"/>
                <a:cs typeface="Calibri" pitchFamily="34" charset="-120"/>
              </a:rPr>
              <a:t>RGPD %100 · ISO 27001 %93 · NIS2 bidean (2026ko Urria)</a:t>
            </a:r>
            <a:endParaRPr lang="en-US" sz="1200" dirty="0"/>
          </a:p>
        </p:txBody>
      </p:sp>
      <p:sp>
        <p:nvSpPr>
          <p:cNvPr id="16" name="Text 14"/>
          <p:cNvSpPr/>
          <p:nvPr/>
        </p:nvSpPr>
        <p:spPr>
          <a:xfrm>
            <a:off x="457200" y="4754880"/>
            <a:ext cx="603504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Zibersegurtasun Aholkularitza Taldea  ·  2026ko Otsaila</a:t>
            </a:r>
            <a:endParaRPr lang="en-US" sz="1000" dirty="0"/>
          </a:p>
        </p:txBody>
      </p:sp>
      <p:sp>
        <p:nvSpPr>
          <p:cNvPr id="17" name="Text 15"/>
          <p:cNvSpPr/>
          <p:nvPr/>
        </p:nvSpPr>
        <p:spPr>
          <a:xfrm>
            <a:off x="6784848" y="1554480"/>
            <a:ext cx="1965960" cy="475488"/>
          </a:xfrm>
          <a:prstGeom prst="rect">
            <a:avLst/>
          </a:prstGeom>
          <a:noFill/>
          <a:ln/>
        </p:spPr>
        <p:txBody>
          <a:bodyPr wrap="square" rtlCol="0" anchor="ctr"/>
          <a:lstStyle/>
          <a:p>
            <a:pPr algn="ctr" indent="0" marL="0">
              <a:buNone/>
            </a:pPr>
            <a:r>
              <a:rPr lang="en-US" sz="2400" b="1" dirty="0">
                <a:solidFill>
                  <a:srgbClr val="C8A96E"/>
                </a:solidFill>
                <a:latin typeface="Georgia" pitchFamily="34" charset="0"/>
                <a:ea typeface="Georgia" pitchFamily="34" charset="-122"/>
                <a:cs typeface="Georgia" pitchFamily="34" charset="-120"/>
              </a:rPr>
              <a:t>GALDERAK?</a:t>
            </a:r>
            <a:endParaRPr lang="en-US" sz="2400" dirty="0"/>
          </a:p>
        </p:txBody>
      </p:sp>
      <p:sp>
        <p:nvSpPr>
          <p:cNvPr id="18" name="Text 16"/>
          <p:cNvSpPr/>
          <p:nvPr/>
        </p:nvSpPr>
        <p:spPr>
          <a:xfrm>
            <a:off x="6784848" y="2121408"/>
            <a:ext cx="1965960" cy="2194560"/>
          </a:xfrm>
          <a:prstGeom prst="rect">
            <a:avLst/>
          </a:prstGeom>
          <a:noFill/>
          <a:ln/>
        </p:spPr>
        <p:txBody>
          <a:bodyPr wrap="square" rtlCol="0" anchor="ctr"/>
          <a:lstStyle/>
          <a:p>
            <a:pPr algn="ctr" indent="0" marL="0">
              <a:buNone/>
            </a:pPr>
            <a:r>
              <a:rPr lang="en-US" sz="1300" dirty="0">
                <a:solidFill>
                  <a:srgbClr val="B0C4D8"/>
                </a:solidFill>
                <a:latin typeface="Calibri" pitchFamily="34" charset="0"/>
                <a:ea typeface="Calibri" pitchFamily="34" charset="-122"/>
                <a:cs typeface="Calibri" pitchFamily="34" charset="-120"/>
              </a:rPr>
              <a:t>Zuzendaritza</a:t>
            </a:r>
            <a:endParaRPr lang="en-US" sz="1300" dirty="0"/>
          </a:p>
          <a:p>
            <a:pPr algn="ctr" indent="0" marL="0">
              <a:buNone/>
            </a:pPr>
            <a:r>
              <a:rPr lang="en-US" sz="1300" dirty="0">
                <a:solidFill>
                  <a:srgbClr val="B0C4D8"/>
                </a:solidFill>
                <a:latin typeface="Calibri" pitchFamily="34" charset="0"/>
                <a:ea typeface="Calibri" pitchFamily="34" charset="-122"/>
                <a:cs typeface="Calibri" pitchFamily="34" charset="-120"/>
              </a:rPr>
              <a:t>Batzordeak eta</a:t>
            </a:r>
            <a:endParaRPr lang="en-US" sz="1300" dirty="0"/>
          </a:p>
          <a:p>
            <a:pPr algn="ctr" indent="0" marL="0">
              <a:buNone/>
            </a:pPr>
            <a:r>
              <a:rPr lang="en-US" sz="1300" dirty="0">
                <a:solidFill>
                  <a:srgbClr val="B0C4D8"/>
                </a:solidFill>
                <a:latin typeface="Calibri" pitchFamily="34" charset="0"/>
                <a:ea typeface="Calibri" pitchFamily="34" charset="-122"/>
                <a:cs typeface="Calibri" pitchFamily="34" charset="-120"/>
              </a:rPr>
              <a:t>CEO jaunak</a:t>
            </a:r>
            <a:endParaRPr lang="en-US" sz="1300" dirty="0"/>
          </a:p>
          <a:p>
            <a:pPr algn="ctr" indent="0" marL="0">
              <a:buNone/>
            </a:pPr>
            <a:r>
              <a:rPr lang="en-US" sz="1300" dirty="0">
                <a:solidFill>
                  <a:srgbClr val="B0C4D8"/>
                </a:solidFill>
                <a:latin typeface="Calibri" pitchFamily="34" charset="0"/>
                <a:ea typeface="Calibri" pitchFamily="34" charset="-122"/>
                <a:cs typeface="Calibri" pitchFamily="34" charset="-120"/>
              </a:rPr>
              <a:t>nahi dituzten</a:t>
            </a:r>
            <a:endParaRPr lang="en-US" sz="1300" dirty="0"/>
          </a:p>
          <a:p>
            <a:pPr algn="ctr" indent="0" marL="0">
              <a:buNone/>
            </a:pPr>
            <a:r>
              <a:rPr lang="en-US" sz="1300" dirty="0">
                <a:solidFill>
                  <a:srgbClr val="B0C4D8"/>
                </a:solidFill>
                <a:latin typeface="Calibri" pitchFamily="34" charset="0"/>
                <a:ea typeface="Calibri" pitchFamily="34" charset="-122"/>
                <a:cs typeface="Calibri" pitchFamily="34" charset="-120"/>
              </a:rPr>
              <a:t>galderak</a:t>
            </a:r>
            <a:endParaRPr lang="en-US" sz="1300" dirty="0"/>
          </a:p>
          <a:p>
            <a:pPr algn="ctr" indent="0" marL="0">
              <a:buNone/>
            </a:pPr>
            <a:r>
              <a:rPr lang="en-US" sz="1300" dirty="0">
                <a:solidFill>
                  <a:srgbClr val="B0C4D8"/>
                </a:solidFill>
                <a:latin typeface="Calibri" pitchFamily="34" charset="0"/>
                <a:ea typeface="Calibri" pitchFamily="34" charset="-122"/>
                <a:cs typeface="Calibri" pitchFamily="34" charset="-120"/>
              </a:rPr>
              <a:t>jasotzeko</a:t>
            </a:r>
            <a:endParaRPr lang="en-US" sz="1300" dirty="0"/>
          </a:p>
          <a:p>
            <a:pPr algn="ctr" indent="0" marL="0">
              <a:buNone/>
            </a:pPr>
            <a:r>
              <a:rPr lang="en-US" sz="1300" dirty="0">
                <a:solidFill>
                  <a:srgbClr val="B0C4D8"/>
                </a:solidFill>
                <a:latin typeface="Calibri" pitchFamily="34" charset="0"/>
                <a:ea typeface="Calibri" pitchFamily="34" charset="-122"/>
                <a:cs typeface="Calibri" pitchFamily="34" charset="-120"/>
              </a:rPr>
              <a:t>prest gaude.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Zabala Gailetak - Zibersegurtasun Entrega Nagusia 2026</dc:title>
  <dc:subject>PptxGenJS Presentation</dc:subject>
  <dc:creator>Zibersegurtasun Aholkularitza Taldea</dc:creator>
  <cp:lastModifiedBy>Zibersegurtasun Aholkularitza Taldea</cp:lastModifiedBy>
  <cp:revision>1</cp:revision>
  <dcterms:created xsi:type="dcterms:W3CDTF">2026-02-23T12:16:40Z</dcterms:created>
  <dcterms:modified xsi:type="dcterms:W3CDTF">2026-02-23T12:16:40Z</dcterms:modified>
</cp:coreProperties>
</file>