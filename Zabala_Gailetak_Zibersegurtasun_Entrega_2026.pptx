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slides/slide14.xml" ContentType="application/vnd.openxmlformats-officedocument.presentationml.slide+xml"/>
  <Override PartName="/ppt/slides/slide6.xml" ContentType="application/vnd.openxmlformats-officedocument.presentationml.slide+xml"/>
  <Override PartName="/ppt/slides/slide12.xml" ContentType="application/vnd.openxmlformats-officedocument.presentationml.slide+xml"/>
  <Override PartName="/ppt/slides/slide1.xml" ContentType="application/vnd.openxmlformats-officedocument.presentationml.slide+xml"/>
  <Override PartName="/ppt/slides/slide3.xml" ContentType="application/vnd.openxmlformats-officedocument.presentationml.slide+xml"/>
  <Override PartName="/ppt/slides/slide5.xml" ContentType="application/vnd.openxmlformats-officedocument.presentationml.slide+xml"/>
  <Override PartName="/ppt/slides/slide2.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3.xml" ContentType="application/vnd.openxmlformats-officedocument.presentationml.slide+xml"/>
  <Override PartName="/ppt/slides/slide4.xml" ContentType="application/vnd.openxmlformats-officedocument.presentationml.slide+xml"/>
  <Override PartName="/ppt/slides/slide9.xml" ContentType="application/vnd.openxmlformats-officedocument.presentationml.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10.xml" ContentType="application/vnd.openxmlformats-officedocument.presentationml.notesSlide+xml"/>
  <Override PartName="/ppt/notesSlides/notesSlide13.xml" ContentType="application/vnd.openxmlformats-officedocument.presentationml.notesSlide+xml"/>
  <Override PartName="/ppt/notesSlides/notesSlide1.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12.xml" ContentType="application/vnd.openxmlformats-officedocument.presentationml.notesSlide+xml"/>
  <Override PartName="/ppt/notesSlides/notesSlide5.xml" ContentType="application/vnd.openxmlformats-officedocument.presentationml.notesSlide+xml"/>
  <Override PartName="/ppt/notesSlides/notesSlide9.xml" ContentType="application/vnd.openxmlformats-officedocument.presentationml.notesSlide+xml"/>
  <Override PartName="/ppt/notesSlides/notesSlide7.xml" ContentType="application/vnd.openxmlformats-officedocument.presentationml.notesSlide+xml"/>
  <Override PartName="/ppt/notesSlides/notesSlide3.xml" ContentType="application/vnd.openxmlformats-officedocument.presentationml.notesSlide+xml"/>
  <Override PartName="/ppt/notesSlides/notesSlide8.xml" ContentType="application/vnd.openxmlformats-officedocument.presentationml.notesSlide+xml"/>
  <Override PartName="/ppt/notesSlides/notesSlide1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Lst>
  <p:sldSz cx="9144000" cy="5143500"/>
  <p:notesSz cx="51435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533520" y="764280"/>
            <a:ext cx="6704640" cy="3771360"/>
          </a:xfrm>
          <a:prstGeom prst="rect">
            <a:avLst/>
          </a:prstGeom>
          <a:noFill/>
          <a:ln w="0">
            <a:noFill/>
          </a:ln>
        </p:spPr>
        <p:txBody>
          <a:bodyPr lIns="0" tIns="0" rIns="0" bIns="0" anchor="ctr">
            <a:noAutofit/>
          </a:bodyPr>
          <a:p>
            <a:r>
              <a:rPr lang="en-US" sz="1800" b="0" u="none" strike="noStrike">
                <a:solidFill>
                  <a:schemeClr val="dk1"/>
                </a:solidFill>
                <a:effectLst/>
                <a:uFillTx/>
                <a:latin typeface="Calibri"/>
              </a:rPr>
              <a:t>C</a:t>
            </a:r>
            <a:r>
              <a:rPr lang="en-US" sz="1800" b="0" u="none" strike="noStrike">
                <a:solidFill>
                  <a:schemeClr val="dk1"/>
                </a:solidFill>
                <a:effectLst/>
                <a:uFillTx/>
                <a:latin typeface="Calibri"/>
              </a:rPr>
              <a:t>li</a:t>
            </a:r>
            <a:r>
              <a:rPr lang="en-US" sz="1800" b="0" u="none" strike="noStrike">
                <a:solidFill>
                  <a:schemeClr val="dk1"/>
                </a:solidFill>
                <a:effectLst/>
                <a:uFillTx/>
                <a:latin typeface="Calibri"/>
              </a:rPr>
              <a:t>c</a:t>
            </a:r>
            <a:r>
              <a:rPr lang="en-US" sz="1800" b="0" u="none" strike="noStrike">
                <a:solidFill>
                  <a:schemeClr val="dk1"/>
                </a:solidFill>
                <a:effectLst/>
                <a:uFillTx/>
                <a:latin typeface="Calibri"/>
              </a:rPr>
              <a:t>k </a:t>
            </a:r>
            <a:r>
              <a:rPr lang="en-US" sz="1800" b="0" u="none" strike="noStrike">
                <a:solidFill>
                  <a:schemeClr val="dk1"/>
                </a:solidFill>
                <a:effectLst/>
                <a:uFillTx/>
                <a:latin typeface="Calibri"/>
              </a:rPr>
              <a:t>t</a:t>
            </a:r>
            <a:r>
              <a:rPr lang="en-US" sz="1800" b="0" u="none" strike="noStrike">
                <a:solidFill>
                  <a:schemeClr val="dk1"/>
                </a:solidFill>
                <a:effectLst/>
                <a:uFillTx/>
                <a:latin typeface="Calibri"/>
              </a:rPr>
              <a:t>o </a:t>
            </a:r>
            <a:r>
              <a:rPr lang="en-US" sz="1800" b="0" u="none" strike="noStrike">
                <a:solidFill>
                  <a:schemeClr val="dk1"/>
                </a:solidFill>
                <a:effectLst/>
                <a:uFillTx/>
                <a:latin typeface="Calibri"/>
              </a:rPr>
              <a:t>m</a:t>
            </a:r>
            <a:r>
              <a:rPr lang="en-US" sz="1800" b="0" u="none" strike="noStrike">
                <a:solidFill>
                  <a:schemeClr val="dk1"/>
                </a:solidFill>
                <a:effectLst/>
                <a:uFillTx/>
                <a:latin typeface="Calibri"/>
              </a:rPr>
              <a:t>o</a:t>
            </a:r>
            <a:r>
              <a:rPr lang="en-US" sz="1800" b="0" u="none" strike="noStrike">
                <a:solidFill>
                  <a:schemeClr val="dk1"/>
                </a:solidFill>
                <a:effectLst/>
                <a:uFillTx/>
                <a:latin typeface="Calibri"/>
              </a:rPr>
              <a:t>v</a:t>
            </a:r>
            <a:r>
              <a:rPr lang="en-US" sz="1800" b="0" u="none" strike="noStrike">
                <a:solidFill>
                  <a:schemeClr val="dk1"/>
                </a:solidFill>
                <a:effectLst/>
                <a:uFillTx/>
                <a:latin typeface="Calibri"/>
              </a:rPr>
              <a:t>e </a:t>
            </a:r>
            <a:r>
              <a:rPr lang="en-US" sz="1800" b="0" u="none" strike="noStrike">
                <a:solidFill>
                  <a:schemeClr val="dk1"/>
                </a:solidFill>
                <a:effectLst/>
                <a:uFillTx/>
                <a:latin typeface="Calibri"/>
              </a:rPr>
              <a:t>t</a:t>
            </a:r>
            <a:r>
              <a:rPr lang="en-US" sz="1800" b="0" u="none" strike="noStrike">
                <a:solidFill>
                  <a:schemeClr val="dk1"/>
                </a:solidFill>
                <a:effectLst/>
                <a:uFillTx/>
                <a:latin typeface="Calibri"/>
              </a:rPr>
              <a:t>h</a:t>
            </a:r>
            <a:r>
              <a:rPr lang="en-US" sz="1800" b="0" u="none" strike="noStrike">
                <a:solidFill>
                  <a:schemeClr val="dk1"/>
                </a:solidFill>
                <a:effectLst/>
                <a:uFillTx/>
                <a:latin typeface="Calibri"/>
              </a:rPr>
              <a:t>e </a:t>
            </a:r>
            <a:r>
              <a:rPr lang="en-US" sz="1800" b="0" u="none" strike="noStrike">
                <a:solidFill>
                  <a:schemeClr val="dk1"/>
                </a:solidFill>
                <a:effectLst/>
                <a:uFillTx/>
                <a:latin typeface="Calibri"/>
              </a:rPr>
              <a:t>s</a:t>
            </a:r>
            <a:r>
              <a:rPr lang="en-US" sz="1800" b="0" u="none" strike="noStrike">
                <a:solidFill>
                  <a:schemeClr val="dk1"/>
                </a:solidFill>
                <a:effectLst/>
                <a:uFillTx/>
                <a:latin typeface="Calibri"/>
              </a:rPr>
              <a:t>li</a:t>
            </a:r>
            <a:r>
              <a:rPr lang="en-US" sz="1800" b="0" u="none" strike="noStrike">
                <a:solidFill>
                  <a:schemeClr val="dk1"/>
                </a:solidFill>
                <a:effectLst/>
                <a:uFillTx/>
                <a:latin typeface="Calibri"/>
              </a:rPr>
              <a:t>d</a:t>
            </a:r>
            <a:r>
              <a:rPr lang="en-US" sz="1800" b="0" u="none" strike="noStrike">
                <a:solidFill>
                  <a:schemeClr val="dk1"/>
                </a:solidFill>
                <a:effectLst/>
                <a:uFillTx/>
                <a:latin typeface="Calibri"/>
              </a:rPr>
              <a:t>e</a:t>
            </a:r>
            <a:endParaRPr lang="en-US" sz="1800" b="0" u="none" strike="noStrike">
              <a:solidFill>
                <a:schemeClr val="dk1"/>
              </a:solidFill>
              <a:effectLst/>
              <a:uFillTx/>
              <a:latin typeface="Calibri"/>
            </a:endParaRPr>
          </a:p>
        </p:txBody>
      </p:sp>
      <p:sp>
        <p:nvSpPr>
          <p:cNvPr id="5"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7"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8"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9"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EC59F8A2-605A-419D-9569-44A5A4493A42}" type="slidenum">
              <a:rPr lang="en-US" sz="1400" b="0" u="none" strike="noStrike">
                <a:solidFill>
                  <a:srgbClr val="000000"/>
                </a:solidFill>
                <a:effectLst/>
                <a:uFillTx/>
                <a:latin typeface="Times New Roman"/>
              </a:rPr>
              <a:t>1</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7" name="PlaceHolder 1"/>
          <p:cNvSpPr>
            <a:spLocks noGrp="1"/>
          </p:cNvSpPr>
          <p:nvPr>
            <p:ph type="sldImg"/>
          </p:nvPr>
        </p:nvSpPr>
        <p:spPr>
          <a:xfrm>
            <a:off x="685800" y="1143000"/>
            <a:ext cx="5486040" cy="3085920"/>
          </a:xfrm>
          <a:prstGeom prst="rect">
            <a:avLst/>
          </a:prstGeom>
          <a:ln w="0">
            <a:noFill/>
          </a:ln>
        </p:spPr>
      </p:sp>
      <p:sp>
        <p:nvSpPr>
          <p:cNvPr id="44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HIZLARIAREN GIDOIA - 1. DIAPOSITIBA (1 min)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Egun on, jaun-andreok. Zabala Gailetak-eko Zuzendaritza Batzordearen eta CEO jaunaren aurrean egotea ohorea da guretzat.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Gaur, hilabete hauetan elkarrekin eraiki dugun zerbait aurkeztuko dizuet: zuen enpresaren segurtasun digital osoa. Ez berba hutsetan, baizik eta datu zehatzetan, emaitza errealekin eta etorkizunerako plan sendoarekin.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Galletagintzako negozioa ezagutzen duzuen bezala, segurtasuna ere ezagutu behar duzue: funtsezkotzat jo, ikusezin funtzionatzen denean, eta ezinbestekotzat gertatzen denean. Hasi gaitezen.</a:t>
            </a:r>
            <a:endParaRPr lang="en-US" sz="2000" b="0" u="none" strike="noStrike">
              <a:solidFill>
                <a:srgbClr val="000000"/>
              </a:solidFill>
              <a:effectLst/>
              <a:uFillTx/>
              <a:latin typeface="Arial"/>
            </a:endParaRPr>
          </a:p>
        </p:txBody>
      </p:sp>
      <p:sp>
        <p:nvSpPr>
          <p:cNvPr id="449"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C323C6D-F549-43C2-8344-5C36C5578E2F}"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0" name="PlaceHolder 1"/>
          <p:cNvSpPr>
            <a:spLocks noGrp="1"/>
          </p:cNvSpPr>
          <p:nvPr>
            <p:ph type="sldImg"/>
          </p:nvPr>
        </p:nvSpPr>
        <p:spPr>
          <a:xfrm>
            <a:off x="685800" y="1143000"/>
            <a:ext cx="5486040" cy="3085920"/>
          </a:xfrm>
          <a:prstGeom prst="rect">
            <a:avLst/>
          </a:prstGeom>
          <a:ln w="0">
            <a:noFill/>
          </a:ln>
        </p:spPr>
      </p:sp>
      <p:sp>
        <p:nvSpPr>
          <p:cNvPr id="45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HIZLARIAREN GIDOIA - 2. DIAPOSITIBA (2 min)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Zabala Gailetak ez da soilik galleta-fabrika bat. Azken urteetan, transformazio digital garrantzitsu baten erdian dago. Hirurogeita hamar urte baino gehiago daramate Euskal Herriko mahaietan eta orain, hiru txandatan eta ehun eta hogei langilerekin, ekoizpena digitalizatzearen bidean daude.</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Hau oso positiboa da. Baina aldi berean, arrisku berri bat sortzen du: orain, bulegoko ordenagailua eta galletagintzako makineria sare berean bizi dira.</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Eta horixe da guk ikusten dugun lehen erronka. Industria 4.0 aukera paregabea da, baina ate berria da ere erasotzaileentzat. Jarraian ikusiko duzuenez, arrisku hori zehatz neurtu dugu.</a:t>
            </a:r>
            <a:endParaRPr lang="en-US" sz="2000" b="0" u="none" strike="noStrike">
              <a:solidFill>
                <a:srgbClr val="000000"/>
              </a:solidFill>
              <a:effectLst/>
              <a:uFillTx/>
              <a:latin typeface="Arial"/>
            </a:endParaRPr>
          </a:p>
        </p:txBody>
      </p:sp>
      <p:sp>
        <p:nvSpPr>
          <p:cNvPr id="452"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047F8BF-9409-4E6D-9A44-08C3A02E447C}"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3" name="PlaceHolder 1"/>
          <p:cNvSpPr>
            <a:spLocks noGrp="1"/>
          </p:cNvSpPr>
          <p:nvPr>
            <p:ph type="sldImg"/>
          </p:nvPr>
        </p:nvSpPr>
        <p:spPr>
          <a:xfrm>
            <a:off x="685800" y="1143000"/>
            <a:ext cx="5486040" cy="3085920"/>
          </a:xfrm>
          <a:prstGeom prst="rect">
            <a:avLst/>
          </a:prstGeom>
          <a:ln w="0">
            <a:noFill/>
          </a:ln>
        </p:spPr>
      </p:sp>
      <p:sp>
        <p:nvSpPr>
          <p:cNvPr id="45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HIZLARIAREN GIDOIA - 3. DIAPOSITIBA (2 min)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Eta hemen dago arazo nagusia, zeina nik zuzenean bistaratzen nahi dudan.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Eskuinaldean ikusten duzun OT sarea da fabrikako bihotza: OpenPLC kontrolagailua, galletagintzako lerro osoa gidatzen duena: labearen tenperatura, irabiatze-makinen abiadura, ontziratzea...</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Eta auditorian aurkitu genuena? Port 502, OT sistemaren atebide nagusia, Interneti irekita zegoen. Nork nahi bazuen, kanpotik, zure ekoizpen-lerro osoa geldiarazi zezakeen, edo are gehiago, manipulatu.</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Hau ez da hipotesia. Hau aurkikuntza erreal bat da. Eta horixe da lehenengo konpondu genuena. Arkitektura berri batek bermatzen du hau ez dela berriro gertatuko.</a:t>
            </a:r>
            <a:endParaRPr lang="en-US" sz="2000" b="0" u="none" strike="noStrike">
              <a:solidFill>
                <a:srgbClr val="000000"/>
              </a:solidFill>
              <a:effectLst/>
              <a:uFillTx/>
              <a:latin typeface="Arial"/>
            </a:endParaRPr>
          </a:p>
        </p:txBody>
      </p:sp>
      <p:sp>
        <p:nvSpPr>
          <p:cNvPr id="455"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6545F73-6274-453B-A980-30AE9DABDFC9}"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6" name="PlaceHolder 1"/>
          <p:cNvSpPr>
            <a:spLocks noGrp="1"/>
          </p:cNvSpPr>
          <p:nvPr>
            <p:ph type="sldImg"/>
          </p:nvPr>
        </p:nvSpPr>
        <p:spPr>
          <a:xfrm>
            <a:off x="685800" y="1143000"/>
            <a:ext cx="5486040" cy="3085920"/>
          </a:xfrm>
          <a:prstGeom prst="rect">
            <a:avLst/>
          </a:prstGeom>
          <a:ln w="0">
            <a:noFill/>
          </a:ln>
        </p:spPr>
      </p:sp>
      <p:sp>
        <p:nvSpPr>
          <p:cNvPr id="45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HIZLARIAREN GIDOIA - 4. DIAPOSITIBA (2 min)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Arazo handi bat ikusi dugu. Orain nola konpondu dugun ikusiko dugu.</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Gure estrategiaren oinarria Zero Trust filosofia da. Printzipio honen arabera, ez dugu inoiz 'barruko' edo 'kanpoko' bereizten. Dena egiaztatu behar da: erabiltzaile bat, makina bat, zerbitzu bat... denak autentifikatu eta baimendu behar dira banan-banan.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Honek esan nahi du: nahiz eta hacker bat zuen sarean sartu, ezingo du sistematik sistemara mugitu. Ate bat apurtu arren, gainerako ateak itxita daude.</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Jarraian, hau nola gauzatu dugun ikusiko duzue: sare segmentazioa VLANen bidez.</a:t>
            </a:r>
            <a:endParaRPr lang="en-US" sz="2000" b="0" u="none" strike="noStrike">
              <a:solidFill>
                <a:srgbClr val="000000"/>
              </a:solidFill>
              <a:effectLst/>
              <a:uFillTx/>
              <a:latin typeface="Arial"/>
            </a:endParaRPr>
          </a:p>
        </p:txBody>
      </p:sp>
      <p:sp>
        <p:nvSpPr>
          <p:cNvPr id="458"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FD92EA7-8F14-477E-977F-1125DC3E36F2}"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9" name="PlaceHolder 1"/>
          <p:cNvSpPr>
            <a:spLocks noGrp="1"/>
          </p:cNvSpPr>
          <p:nvPr>
            <p:ph type="sldImg"/>
          </p:nvPr>
        </p:nvSpPr>
        <p:spPr>
          <a:xfrm>
            <a:off x="685800" y="1143000"/>
            <a:ext cx="5486040" cy="3085920"/>
          </a:xfrm>
          <a:prstGeom prst="rect">
            <a:avLst/>
          </a:prstGeom>
          <a:ln w="0">
            <a:noFill/>
          </a:ln>
        </p:spPr>
      </p:sp>
      <p:sp>
        <p:nvSpPr>
          <p:cNvPr id="46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HIZLARIAREN GIDOIA - 5. DIAPOSITIBA (2 min)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Lagin hau Zabala Gailetak-en sare arkitektura berriaren bihotza da.</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Orain, bost VLAN bereizi dituzu. Bakoitzak bere sareak, bere arauak eta bere mugak ditu. VLAN 10 bulegoko langileentzat, VLAN 20 zerbitzarientzat, VLAN 30 Interneti begira dauden zerbitzu publikoentzat, VLAN 40 fabrikako makineria industrial osorentzat, eta VLAN 99 berezi bat: gure honepotentzat, alegia, erasotzaileak erakarriko dituen sare bat.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Garrantzitsuena: VLAN 40, OT sarea, erabat isolatua dago. Langile batek bere ordenagailutik ezin du zuzenean komunikatu PLCarekin. Datuen transmisioa data diode baten bidez bakarrik gertatzen da, eta uni-norabidekoa da: fabrikatik bulegora, inoiz ez itzuli.</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Hau da segurtasun fisikoa digitalizatua.</a:t>
            </a:r>
            <a:endParaRPr lang="en-US" sz="2000" b="0" u="none" strike="noStrike">
              <a:solidFill>
                <a:srgbClr val="000000"/>
              </a:solidFill>
              <a:effectLst/>
              <a:uFillTx/>
              <a:latin typeface="Arial"/>
            </a:endParaRPr>
          </a:p>
        </p:txBody>
      </p:sp>
      <p:sp>
        <p:nvSpPr>
          <p:cNvPr id="461"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AF29ABC-F22F-4F1D-BDDA-9D29997031D1}"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2" name="PlaceHolder 1"/>
          <p:cNvSpPr>
            <a:spLocks noGrp="1"/>
          </p:cNvSpPr>
          <p:nvPr>
            <p:ph type="sldImg"/>
          </p:nvPr>
        </p:nvSpPr>
        <p:spPr>
          <a:xfrm>
            <a:off x="685800" y="1143000"/>
            <a:ext cx="5486040" cy="3085920"/>
          </a:xfrm>
          <a:prstGeom prst="rect">
            <a:avLst/>
          </a:prstGeom>
          <a:ln w="0">
            <a:noFill/>
          </a:ln>
        </p:spPr>
      </p:sp>
      <p:sp>
        <p:nvSpPr>
          <p:cNvPr id="46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HIZLARIAREN GIDOIA - 6. DIAPOSITIBA (2 min)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Sare arkitektura ikusita, esan behar dut orain azpiegituraz. Proxmox hiperbisorearen gainean sei makina birtual exekutatzen ditugu. Bakoitzak funtzio zehatz bat du, isolatua eta indibiduala.</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ZG-Gateway gure suebaki nagusia da. ZG-App, PHP aplikazioa eta Redis cachea. ZG-Data, PostgreSQL 16ko datu-basea. ZG-SecOps, segurtasun-zentroa: Wazuh SIEM eta honepotak. ZG-OT, ekoizpen-lerroko PLC sistema. Eta ZG-Client, langileek erabiltzen duten estazioa IsardVDI bidez.</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Guztia, azpian, Ansible-rekin automatizatuta dago. Konfigurazio-fitxategi bakarrean aldaketa bat eginez, azpiegitura osoa eguneratzen da minutu gutxitan. Erroreak gutxitzen dira, denbora aurrezten da, eta auditoria errazten da.</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Horixe da segurtasun industriala: ez soilik teknika berriak, baizik eta prozesu sendoak.</a:t>
            </a:r>
            <a:endParaRPr lang="en-US" sz="2000" b="0" u="none" strike="noStrike">
              <a:solidFill>
                <a:srgbClr val="000000"/>
              </a:solidFill>
              <a:effectLst/>
              <a:uFillTx/>
              <a:latin typeface="Arial"/>
            </a:endParaRPr>
          </a:p>
        </p:txBody>
      </p:sp>
      <p:sp>
        <p:nvSpPr>
          <p:cNvPr id="464"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8B2E7A4-7D1C-4F8F-B45E-97B7449A2469}"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5" name="PlaceHolder 1"/>
          <p:cNvSpPr>
            <a:spLocks noGrp="1"/>
          </p:cNvSpPr>
          <p:nvPr>
            <p:ph type="sldImg"/>
          </p:nvPr>
        </p:nvSpPr>
        <p:spPr>
          <a:xfrm>
            <a:off x="685800" y="1143000"/>
            <a:ext cx="5486040" cy="3085920"/>
          </a:xfrm>
          <a:prstGeom prst="rect">
            <a:avLst/>
          </a:prstGeom>
          <a:ln w="0">
            <a:noFill/>
          </a:ln>
        </p:spPr>
      </p:sp>
      <p:sp>
        <p:nvSpPr>
          <p:cNvPr id="46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HIZLARIAREN GIDOIA - 7. DIAPOSITIBA (3 min)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Segurtasun arkitektura aztertu dugu. Baina segurtasuna ez da soilik suebakiak eta VLANak. Eguneroko langileak erabiltzen dituzten tresnak ere babestuta egon behar dira.</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Ezkerrean ikusten duzuen RRHH portala zuen ehun eta hogei langileek erabiliko dute: oporrak eskatzeko, nomina ikusteko, dokumentuak deskargatzeko. Baina ez da edozein web-orri. Barruan hiru autentifikazio-geruza ditu: pasahitza, bigarren faktore bat telefonoan, eta WebAuthn gakoa. Erabiltzaile bakoitzak soilik bere informaziora du sarbidea, RBAC sisteman definitutako bost rolen arabera.</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Eskuinean, app mugikorra. Android-erako, Kotlin-en idatzia, segurtasun-protokolo sendoekin: certificate pinning aktibo, hau da, konexio orok ziurtagiri zehatz bat egiaztatu behar du. Man-in-the-Middle erasoak ezinezko egiten da horrela.</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Gure printzipioa garbia da: erabiltzaile-esperientzia ona eta segurtasuna ez dira kontrajarriak. Biak batera lor daitezke.</a:t>
            </a:r>
            <a:endParaRPr lang="en-US" sz="2000" b="0" u="none" strike="noStrike">
              <a:solidFill>
                <a:srgbClr val="000000"/>
              </a:solidFill>
              <a:effectLst/>
              <a:uFillTx/>
              <a:latin typeface="Arial"/>
            </a:endParaRPr>
          </a:p>
        </p:txBody>
      </p:sp>
      <p:sp>
        <p:nvSpPr>
          <p:cNvPr id="467"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A481F2E-BBB0-4577-9505-88002B01ECAA}"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8" name="PlaceHolder 1"/>
          <p:cNvSpPr>
            <a:spLocks noGrp="1"/>
          </p:cNvSpPr>
          <p:nvPr>
            <p:ph type="sldImg"/>
          </p:nvPr>
        </p:nvSpPr>
        <p:spPr>
          <a:xfrm>
            <a:off x="685800" y="1143000"/>
            <a:ext cx="5486040" cy="3085920"/>
          </a:xfrm>
          <a:prstGeom prst="rect">
            <a:avLst/>
          </a:prstGeom>
          <a:ln w="0">
            <a:noFill/>
          </a:ln>
        </p:spPr>
      </p:sp>
      <p:sp>
        <p:nvSpPr>
          <p:cNvPr id="46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HIZLARIAREN GIDOIA - 8. DIAPOSITIBA (2 min)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Badago printzipio bat zibersegurtasunean garrantzitsua dena: 'Shift Left' deitzen dena. Hau da, segurtasun-arazoak denboran ahalik eta lehenago aurkitzea. Kode-lerro bat idazten den unean, ez produkzioan dagoenean.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Hori da gure garapen-bidearen muina. Bost urrats ditu:</a:t>
            </a: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Lehenengoa, kodea idatzi. Bigarrena, automatikoki aztertu (SAST). Hirugarrena, Docker edukiontzian eraiki eta sinatu. Laugarrena, DAST eraso-simulakroarekin probatu. Bosgarrena, produkziora bidali, zifratu eta babestuta.</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Emaitza: Arazo bat produkzioan konpontzeak 100 aldiz gehiago kostatzen du kodean konpontzeak baino. Gure pipeline-ak gastu hori aurreratzen du, eta zuen negozioari diru eta denbora aurrezten dio.</a:t>
            </a:r>
            <a:endParaRPr lang="en-US" sz="2000" b="0" u="none" strike="noStrike">
              <a:solidFill>
                <a:srgbClr val="000000"/>
              </a:solidFill>
              <a:effectLst/>
              <a:uFillTx/>
              <a:latin typeface="Arial"/>
            </a:endParaRPr>
          </a:p>
        </p:txBody>
      </p:sp>
      <p:sp>
        <p:nvSpPr>
          <p:cNvPr id="470"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44C11E0-9791-4CB3-AF0E-A92A3DE5B817}"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1" name="PlaceHolder 1"/>
          <p:cNvSpPr>
            <a:spLocks noGrp="1"/>
          </p:cNvSpPr>
          <p:nvPr>
            <p:ph type="sldImg"/>
          </p:nvPr>
        </p:nvSpPr>
        <p:spPr>
          <a:xfrm>
            <a:off x="685800" y="1143000"/>
            <a:ext cx="5486040" cy="3085920"/>
          </a:xfrm>
          <a:prstGeom prst="rect">
            <a:avLst/>
          </a:prstGeom>
          <a:ln w="0">
            <a:noFill/>
          </a:ln>
        </p:spPr>
      </p:sp>
      <p:sp>
        <p:nvSpPr>
          <p:cNvPr id="47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HIZLARIAREN GIDOIA - 9. DIAPOSITIBA (3 min)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Segurtasun-talde batek eraikitako sistema probatu beharra dago. Guk geuk probatu dugu. Pentesting profesional bat egin dugu, PTES metodologia erabiliz.</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Eta emaitzak? Arazo kritikoa, CVSS 9.0 puntutik gora: ZERO. Hau sektorearen batez bestekoa baino askoz hobea da. Arazo garrantzitsu bi aurkitu genituen, biak jadanik konponduta. Lau ertain eta hiru txiki, denak kontrolpean.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Aurkikuntza interesgarriena: dev.zabala-gailetak.com eta staging.zabala-gailetak.com azpi-domeinu publikoak Interneten ikusgai zeuden. Informazio pertsonala ez zegoen arriskuan, baina hacker batek informazio baliotsuak ateratzen zituen han. Konponduta dago.</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WiFi auditorian, lau sareen eszénario probatu genituen. Gure gomendio nagusia WPA3-Enterprise inplementatzea da, 802.1X autentifikazioarekin. Enpresa-mailako babes estandarra lortuko litzateke horrela.</a:t>
            </a:r>
            <a:endParaRPr lang="en-US" sz="2000" b="0" u="none" strike="noStrike">
              <a:solidFill>
                <a:srgbClr val="000000"/>
              </a:solidFill>
              <a:effectLst/>
              <a:uFillTx/>
              <a:latin typeface="Arial"/>
            </a:endParaRPr>
          </a:p>
        </p:txBody>
      </p:sp>
      <p:sp>
        <p:nvSpPr>
          <p:cNvPr id="473"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6280AC7-E964-40C3-A2C8-6AC7A90938ED}"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4" name="PlaceHolder 1"/>
          <p:cNvSpPr>
            <a:spLocks noGrp="1"/>
          </p:cNvSpPr>
          <p:nvPr>
            <p:ph type="sldImg"/>
          </p:nvPr>
        </p:nvSpPr>
        <p:spPr>
          <a:xfrm>
            <a:off x="685800" y="1143000"/>
            <a:ext cx="5486040" cy="3085920"/>
          </a:xfrm>
          <a:prstGeom prst="rect">
            <a:avLst/>
          </a:prstGeom>
          <a:ln w="0">
            <a:noFill/>
          </a:ln>
        </p:spPr>
      </p:sp>
      <p:sp>
        <p:nvSpPr>
          <p:cNvPr id="47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HIZLARIAREN GIDOIA - 10. DIAPOSITIBA (2 min)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Defentsak finkatu ditugu. Baina segurtasunean ez dago 'konfiguratu eta ahaztu' soluzioa. Etengabe ikusi behar da zer gertatzen den.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Horretarako, Wazuh SIEM sisteman inbertitu dugu, ELK Stack-arekin (Elasticsearch, Logstash, Kibana) integratuta. Zer egiten du honek? Zuen azpiegituran gertatzen den dena ikusten du: suebakia, zerbitzariak, web aplikazioa, OT gailuak... dena aldi berean.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Alerta-sistema automatikoa dago. Erabiltzaile batek bost aldiz pasahitz okerra sartzen badu minutu batean, automatikoki blokeatzen da. Fitxategi kritiko bat aldatzen bada, jakinarazpena dator segundoak. OT sarean eskaner bat detektatzen bada, alarma jotzen du.</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Kibana panelaren bidez, segurtasun-arduradunak pantaila batetik ikusten du dena. Ez da soilik ikustea: azkar ikustea da gakoa.</a:t>
            </a:r>
            <a:endParaRPr lang="en-US" sz="2000" b="0" u="none" strike="noStrike">
              <a:solidFill>
                <a:srgbClr val="000000"/>
              </a:solidFill>
              <a:effectLst/>
              <a:uFillTx/>
              <a:latin typeface="Arial"/>
            </a:endParaRPr>
          </a:p>
        </p:txBody>
      </p:sp>
      <p:sp>
        <p:nvSpPr>
          <p:cNvPr id="476"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0E4E670-C833-4A75-BBFD-398EBEC34FDD}"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7" name="PlaceHolder 1"/>
          <p:cNvSpPr>
            <a:spLocks noGrp="1"/>
          </p:cNvSpPr>
          <p:nvPr>
            <p:ph type="sldImg"/>
          </p:nvPr>
        </p:nvSpPr>
        <p:spPr>
          <a:xfrm>
            <a:off x="685800" y="1143000"/>
            <a:ext cx="5486040" cy="3085920"/>
          </a:xfrm>
          <a:prstGeom prst="rect">
            <a:avLst/>
          </a:prstGeom>
          <a:ln w="0">
            <a:noFill/>
          </a:ln>
        </p:spPr>
      </p:sp>
      <p:sp>
        <p:nvSpPr>
          <p:cNvPr id="47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HIZLARIAREN GIDOIA - 11. DIAPOSITIBA (2 min)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Bi gauza gehiago ikusiko ditugu orain: honeypot tranpak eta gure erantzun-plana.</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Honeypot bat sistema faltsu bat da, erasotzailearentzat erakargarria dirudiena, baina errealean tranpa bat. Cowrie-k SSH saio guztiak grabatzen ditu: erasotzaileek zer komando sartzen dituzten ikusi dezakegu. Conpot-ek PLC bat simulatzen du: hacker industrialak erakarriko ditu. T-Pot plataformak analisi automatikoa egiten du: nondik etor diren, zer pasahitz probatzen dituzten, malware-laginak biltzen.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Eta zerbait okerrera badoa? Erantzun-plana aktibo jartzen da. Lehen 24 orduetan, jakinarazpena. 72 ordutan, NIS2 txosten ofiziala autoritate eskudunari. Ondoren, berreskurapena eta forentse-analisia: zer gertatu zen, nola, eta nola saihestu etorkizunean.</a:t>
            </a:r>
            <a:endParaRPr lang="en-US" sz="2000" b="0" u="none" strike="noStrike">
              <a:solidFill>
                <a:srgbClr val="000000"/>
              </a:solidFill>
              <a:effectLst/>
              <a:uFillTx/>
              <a:latin typeface="Arial"/>
            </a:endParaRPr>
          </a:p>
        </p:txBody>
      </p:sp>
      <p:sp>
        <p:nvSpPr>
          <p:cNvPr id="479"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D8E5BA0-720D-4F4D-BDF7-B066FB3DBE4C}"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0" name="PlaceHolder 1"/>
          <p:cNvSpPr>
            <a:spLocks noGrp="1"/>
          </p:cNvSpPr>
          <p:nvPr>
            <p:ph type="sldImg"/>
          </p:nvPr>
        </p:nvSpPr>
        <p:spPr>
          <a:xfrm>
            <a:off x="685800" y="1143000"/>
            <a:ext cx="5486040" cy="3085920"/>
          </a:xfrm>
          <a:prstGeom prst="rect">
            <a:avLst/>
          </a:prstGeom>
          <a:ln w="0">
            <a:noFill/>
          </a:ln>
        </p:spPr>
      </p:sp>
      <p:sp>
        <p:nvSpPr>
          <p:cNvPr id="48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HIZLARIAREN GIDOIA - 12. DIAPOSITIBA (3 min)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Orain hizkuntzaz aldatuko gara: teknikatik legegintzara. CEOrentzat eta Zuzendaritzarentzat mezurik garrantzitsuena honakoa da: RGPD eta NIS2 ez dira aukera. Araudia da. Ez betetzeak zigorrak ekar ditzake.</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Hiru arau-esparru garrantzitsu ditu Zabala Gailetak:</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Lehena, NIS2 Direktiba Europarra. Enpresa 'Garrantzitsu' gisa sailkatuta dago. Honek esan nahi du: incidente larri bat gertatzen bada, 24 ordutan jakinarazi behar duzue autoritate eskudunari, eta 72 ordutan txosten osoa. Betetze-data? 2026ko urria. Gaur, %60etan gaude. Bide-orria argia da.</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Bigarrena, RGPD/GDPR. %100eko betetzea dugu jadanik. Langile eta bezeroen datuak babestuta daude.</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Hirugarrena, IEC 62443. OT sarea Purdue Ereduarekin egituratuta. Gaur SL2 lortu dugu. Hurrengo pausoa SL3 da sistema kritikoetarako.</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Eta gainera, ISO 27001:2022 estandarrean 87 kontrol 93tatik aktibo ditugu. Sektorearen gailurrean gaude.</a:t>
            </a:r>
            <a:endParaRPr lang="en-US" sz="2000" b="0" u="none" strike="noStrike">
              <a:solidFill>
                <a:srgbClr val="000000"/>
              </a:solidFill>
              <a:effectLst/>
              <a:uFillTx/>
              <a:latin typeface="Arial"/>
            </a:endParaRPr>
          </a:p>
        </p:txBody>
      </p:sp>
      <p:sp>
        <p:nvSpPr>
          <p:cNvPr id="482" name="PlaceHolder 3"/>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A07E997-0949-4EE1-9163-4C159A8B89D2}"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3" name="PlaceHolder 1"/>
          <p:cNvSpPr>
            <a:spLocks noGrp="1"/>
          </p:cNvSpPr>
          <p:nvPr>
            <p:ph type="sldImg"/>
          </p:nvPr>
        </p:nvSpPr>
        <p:spPr>
          <a:xfrm>
            <a:off x="685800" y="1143000"/>
            <a:ext cx="5486040" cy="3085920"/>
          </a:xfrm>
          <a:prstGeom prst="rect">
            <a:avLst/>
          </a:prstGeom>
          <a:ln w="0">
            <a:noFill/>
          </a:ln>
        </p:spPr>
      </p:sp>
      <p:sp>
        <p:nvSpPr>
          <p:cNvPr id="48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HIZLARIAREN GIDOIA - 13. DIAPOSITIBA (2 min)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Segurtasun-inbertsioak zergatik merezi duen ulertzeko, zifrak behar dira.</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NIS2 Direktibak Zabala Gailetak bezalako enpresa bat isun-arriskuan jartzen du: fakturazioa %2ra arte. Hori 10 milioi eurotik gora egon daiteke. Incidente bakar batek ekar dezakeen kostua, isunaz gain, erreputazioa, bezero galtzea eta prentsa negatiboa gehituz gero.</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Gure inbertsioak arrisku hori kudeatzea du helburu. Ez da segurtasuna soilik: da arrisku finantzarioa minimizatzea.</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Bide-orriaren aldetik, Q1 berdea da: NIS2 hasierako auditoriak eta MFA inplementazioa jadanik eginda. Q2an, EDR sistema, SIEM 24/7 eta CSIRT barne-taldea. Q3an, SL3 IEC 62443rako eta pentest urtekoa. Q4an, urriaren 17an, NIS2 betetze osoa.</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Dena planifikatuta dago. Dena neurgarria da. Dena zuen negozioaren etorkizunaren alde doa.</a:t>
            </a:r>
            <a:endParaRPr lang="en-US" sz="2000" b="0" u="none" strike="noStrike">
              <a:solidFill>
                <a:srgbClr val="000000"/>
              </a:solidFill>
              <a:effectLst/>
              <a:uFillTx/>
              <a:latin typeface="Arial"/>
            </a:endParaRPr>
          </a:p>
        </p:txBody>
      </p:sp>
      <p:sp>
        <p:nvSpPr>
          <p:cNvPr id="485" name="PlaceHolder 3"/>
          <p:cNvSpPr>
            <a:spLocks noGrp="1"/>
          </p:cNvSpPr>
          <p:nvPr>
            <p:ph type="sldNum" idx="1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B457358-81E2-4CCB-BB43-0ACA64AF4DA5}"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6" name="PlaceHolder 1"/>
          <p:cNvSpPr>
            <a:spLocks noGrp="1"/>
          </p:cNvSpPr>
          <p:nvPr>
            <p:ph type="sldImg"/>
          </p:nvPr>
        </p:nvSpPr>
        <p:spPr>
          <a:xfrm>
            <a:off x="685800" y="1143000"/>
            <a:ext cx="5486040" cy="3085920"/>
          </a:xfrm>
          <a:prstGeom prst="rect">
            <a:avLst/>
          </a:prstGeom>
          <a:ln w="0">
            <a:noFill/>
          </a:ln>
        </p:spPr>
      </p:sp>
      <p:sp>
        <p:nvSpPr>
          <p:cNvPr id="48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HIZLARIAREN GIDOIA - 14. DIAPOSITIBA (3 min)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Laburbilduz, jaun-andreok.</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Zabala Gailetak proiektu honetan lortu genuena ez da soilik teknika. Negozio baten etorkizuna babestu dugu.</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Industria 4.0rako saltoa lasaitasunez egin dezakezue orain: bulegoko ordenagailua eta galletagintzako PLC isolatuta daude, baina elkar komunikatzen dira era seguruan. Ehun eta hogei langileek tresna digitalak dituzte, babestuta eta erabilterrazak. SIEM sistema 24/7 aktibo dago, zaintzen eta alertatzen.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Legez, RGPD beteta dago. NIS2 bidean, urriaren 17rako prest. IEC 62443n SL2 lortu dugu, SL3rako bidean.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Eta probatu dugu: pentestingak 0 arazo kritiko erakutsi du. Ez da zorte kontua; planaren emaitza da.</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Hemen gelditzen naiz. Galderak? Zabala Gailetak-en segurtasun-etorkizunaz hitz egiteko prest gaude.</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Eskerrik asko.</a:t>
            </a:r>
            <a:endParaRPr lang="en-US" sz="2000" b="0" u="none" strike="noStrike">
              <a:solidFill>
                <a:srgbClr val="000000"/>
              </a:solidFill>
              <a:effectLst/>
              <a:uFillTx/>
              <a:latin typeface="Arial"/>
            </a:endParaRPr>
          </a:p>
        </p:txBody>
      </p:sp>
      <p:sp>
        <p:nvSpPr>
          <p:cNvPr id="488" name="PlaceHolder 3"/>
          <p:cNvSpPr>
            <a:spLocks noGrp="1"/>
          </p:cNvSpPr>
          <p:nvPr>
            <p:ph type="sldNum" idx="1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0EA5451-3019-4261-83B1-91F53DD85474}"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205200"/>
            <a:ext cx="8229240" cy="85860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Calibri"/>
              </a:defRPr>
            </a:lvl1pPr>
          </a:lstStyle>
          <a:p>
            <a:pPr indent="0" algn="l">
              <a:buNone/>
            </a:pPr>
            <a:r>
              <a:rPr lang="en-US" sz="1800" b="0" u="none" strike="noStrike">
                <a:solidFill>
                  <a:schemeClr val="dk1"/>
                </a:solidFill>
                <a:effectLst/>
                <a:uFillTx/>
                <a:latin typeface="Calibri"/>
              </a:rPr>
              <a:t>Click to </a:t>
            </a:r>
            <a:r>
              <a:rPr lang="en-US" sz="1800" b="0" u="none" strike="noStrike">
                <a:solidFill>
                  <a:schemeClr val="dk1"/>
                </a:solidFill>
                <a:effectLst/>
                <a:uFillTx/>
                <a:latin typeface="Calibri"/>
              </a:rPr>
              <a:t>edit the </a:t>
            </a:r>
            <a:r>
              <a:rPr lang="en-US" sz="1800" b="0" u="none" strike="noStrike">
                <a:solidFill>
                  <a:schemeClr val="dk1"/>
                </a:solidFill>
                <a:effectLst/>
                <a:uFillTx/>
                <a:latin typeface="Calibri"/>
              </a:rPr>
              <a:t>title text </a:t>
            </a:r>
            <a:r>
              <a:rPr lang="en-US" sz="1800" b="0" u="none" strike="noStrike">
                <a:solidFill>
                  <a:schemeClr val="dk1"/>
                </a:solidFill>
                <a:effectLst/>
                <a:uFillTx/>
                <a:latin typeface="Calibri"/>
              </a:rPr>
              <a:t>format</a:t>
            </a:r>
            <a:endParaRPr lang="en-US" sz="1800" b="0" u="none" strike="noStrike">
              <a:solidFill>
                <a:schemeClr val="dk1"/>
              </a:solidFill>
              <a:effectLst/>
              <a:uFillTx/>
              <a:latin typeface="Calibri"/>
            </a:endParaRPr>
          </a:p>
        </p:txBody>
      </p:sp>
      <p:sp>
        <p:nvSpPr>
          <p:cNvPr id="3" name="PlaceHolder 2"/>
          <p:cNvSpPr>
            <a:spLocks noGrp="1"/>
          </p:cNvSpPr>
          <p:nvPr>
            <p:ph type="body"/>
          </p:nvPr>
        </p:nvSpPr>
        <p:spPr>
          <a:xfrm>
            <a:off x="457200" y="1203480"/>
            <a:ext cx="8229240" cy="298296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432000" indent="-324000" algn="l">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endParaRPr lang="en-US" sz="2400" b="0" u="none" strike="noStrike">
              <a:solidFill>
                <a:schemeClr val="dk1"/>
              </a:solidFill>
              <a:effectLst/>
              <a:uFillTx/>
              <a:latin typeface="Calibri"/>
            </a:endParaRP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endParaRPr lang="en-US" sz="2000" b="0" u="none" strike="noStrike">
              <a:solidFill>
                <a:schemeClr val="dk1"/>
              </a:solidFill>
              <a:effectLst/>
              <a:uFillTx/>
              <a:latin typeface="Calibri"/>
            </a:endParaRP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2D4A"/>
        </a:solidFill>
      </p:bgPr>
    </p:bg>
    <p:spTree>
      <p:nvGrpSpPr>
        <p:cNvPr id="1" name=""/>
        <p:cNvGrpSpPr/>
        <p:nvPr/>
      </p:nvGrpSpPr>
      <p:grpSpPr>
        <a:xfrm>
          <a:off x="0" y="0"/>
          <a:ext cx="0" cy="0"/>
          <a:chOff x="0" y="0"/>
          <a:chExt cx="0" cy="0"/>
        </a:xfrm>
      </p:grpSpPr>
      <p:sp>
        <p:nvSpPr>
          <p:cNvPr id="10" name="Shape 0"/>
          <p:cNvSpPr/>
          <p:nvPr/>
        </p:nvSpPr>
        <p:spPr>
          <a:xfrm>
            <a:off x="6858000" y="0"/>
            <a:ext cx="2285640" cy="5143320"/>
          </a:xfrm>
          <a:prstGeom prst="rect">
            <a:avLst/>
          </a:prstGeom>
          <a:solidFill>
            <a:srgbClr val="1A3F63"/>
          </a:solidFill>
          <a:ln w="12700">
            <a:solidFill>
              <a:srgbClr val="1A3F6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 name="Shape 1"/>
          <p:cNvSpPr/>
          <p:nvPr/>
        </p:nvSpPr>
        <p:spPr>
          <a:xfrm>
            <a:off x="8823960" y="0"/>
            <a:ext cx="319680" cy="5143320"/>
          </a:xfrm>
          <a:prstGeom prst="rect">
            <a:avLst/>
          </a:prstGeom>
          <a:solidFill>
            <a:srgbClr val="C8A96E"/>
          </a:solidFill>
          <a:ln w="12700">
            <a:solidFill>
              <a:srgbClr val="C8A96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 name="Shape 2"/>
          <p:cNvSpPr/>
          <p:nvPr/>
        </p:nvSpPr>
        <p:spPr>
          <a:xfrm>
            <a:off x="0" y="4681800"/>
            <a:ext cx="6857640" cy="54360"/>
          </a:xfrm>
          <a:prstGeom prst="rect">
            <a:avLst/>
          </a:prstGeom>
          <a:solidFill>
            <a:srgbClr val="C8A96E"/>
          </a:solidFill>
          <a:ln w="12700">
            <a:solidFill>
              <a:srgbClr val="C8A96E"/>
            </a:solidFill>
            <a:round/>
          </a:ln>
        </p:spPr>
        <p:style>
          <a:lnRef idx="0"/>
          <a:fillRef idx="0"/>
          <a:effectRef idx="0"/>
          <a:fontRef idx="minor"/>
        </p:style>
        <p:txBody>
          <a:bodyPr lIns="90000" tIns="9720" rIns="90000" bIns="9720" anchor="t">
            <a:noAutofit/>
          </a:bodyPr>
          <a:p>
            <a:endParaRPr lang="en-US" sz="1800" b="0" u="none" strike="noStrike">
              <a:solidFill>
                <a:srgbClr val="000000"/>
              </a:solidFill>
              <a:effectLst/>
              <a:uFillTx/>
              <a:latin typeface="Arial"/>
            </a:endParaRPr>
          </a:p>
        </p:txBody>
      </p:sp>
      <p:sp>
        <p:nvSpPr>
          <p:cNvPr id="13" name="Text 3"/>
          <p:cNvSpPr/>
          <p:nvPr/>
        </p:nvSpPr>
        <p:spPr>
          <a:xfrm>
            <a:off x="457200" y="594360"/>
            <a:ext cx="612612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pc="400" strike="noStrike">
                <a:solidFill>
                  <a:srgbClr val="C8A96E"/>
                </a:solidFill>
                <a:effectLst/>
                <a:uFillTx/>
                <a:latin typeface="Calibri"/>
                <a:ea typeface="Calibri"/>
              </a:rPr>
              <a:t>ZIBERSEGURT</a:t>
            </a:r>
            <a:r>
              <a:rPr lang="en-US" sz="1000" b="1" u="none" spc="400" strike="noStrike">
                <a:solidFill>
                  <a:srgbClr val="C8A96E"/>
                </a:solidFill>
                <a:effectLst/>
                <a:uFillTx/>
                <a:latin typeface="Calibri"/>
                <a:ea typeface="Calibri"/>
              </a:rPr>
              <a:t>ASUN </a:t>
            </a:r>
            <a:r>
              <a:rPr lang="en-US" sz="1000" b="1" u="none" spc="400" strike="noStrike">
                <a:solidFill>
                  <a:srgbClr val="C8A96E"/>
                </a:solidFill>
                <a:effectLst/>
                <a:uFillTx/>
                <a:latin typeface="Calibri"/>
                <a:ea typeface="Calibri"/>
              </a:rPr>
              <a:t>AHOLKULARIT</a:t>
            </a:r>
            <a:r>
              <a:rPr lang="en-US" sz="1000" b="1" u="none" spc="400" strike="noStrike">
                <a:solidFill>
                  <a:srgbClr val="C8A96E"/>
                </a:solidFill>
                <a:effectLst/>
                <a:uFillTx/>
                <a:latin typeface="Calibri"/>
                <a:ea typeface="Calibri"/>
              </a:rPr>
              <a:t>ZA</a:t>
            </a:r>
            <a:endParaRPr lang="en-US" sz="1000" b="0" u="none" strike="noStrike">
              <a:solidFill>
                <a:srgbClr val="FFFFFF"/>
              </a:solidFill>
              <a:effectLst/>
              <a:uFillTx/>
              <a:latin typeface="Arial"/>
            </a:endParaRPr>
          </a:p>
        </p:txBody>
      </p:sp>
      <p:sp>
        <p:nvSpPr>
          <p:cNvPr id="14" name="Text 4"/>
          <p:cNvSpPr/>
          <p:nvPr/>
        </p:nvSpPr>
        <p:spPr>
          <a:xfrm>
            <a:off x="457200" y="960120"/>
            <a:ext cx="6126120" cy="868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5000" b="1" u="none" strike="noStrike">
                <a:solidFill>
                  <a:srgbClr val="FFFFFF"/>
                </a:solidFill>
                <a:effectLst/>
                <a:uFillTx/>
                <a:latin typeface="Georgia"/>
                <a:ea typeface="Georgia"/>
              </a:rPr>
              <a:t>Zaba</a:t>
            </a:r>
            <a:r>
              <a:rPr lang="en-US" sz="5000" b="1" u="none" strike="noStrike">
                <a:solidFill>
                  <a:srgbClr val="FFFFFF"/>
                </a:solidFill>
                <a:effectLst/>
                <a:uFillTx/>
                <a:latin typeface="Georgia"/>
                <a:ea typeface="Georgia"/>
              </a:rPr>
              <a:t>la </a:t>
            </a:r>
            <a:r>
              <a:rPr lang="en-US" sz="5000" b="1" u="none" strike="noStrike">
                <a:solidFill>
                  <a:srgbClr val="FFFFFF"/>
                </a:solidFill>
                <a:effectLst/>
                <a:uFillTx/>
                <a:latin typeface="Georgia"/>
                <a:ea typeface="Georgia"/>
              </a:rPr>
              <a:t>Gaile</a:t>
            </a:r>
            <a:r>
              <a:rPr lang="en-US" sz="5000" b="1" u="none" strike="noStrike">
                <a:solidFill>
                  <a:srgbClr val="FFFFFF"/>
                </a:solidFill>
                <a:effectLst/>
                <a:uFillTx/>
                <a:latin typeface="Georgia"/>
                <a:ea typeface="Georgia"/>
              </a:rPr>
              <a:t>tak</a:t>
            </a:r>
            <a:endParaRPr lang="en-US" sz="5000" b="0" u="none" strike="noStrike">
              <a:solidFill>
                <a:srgbClr val="FFFFFF"/>
              </a:solidFill>
              <a:effectLst/>
              <a:uFillTx/>
              <a:latin typeface="Arial"/>
            </a:endParaRPr>
          </a:p>
        </p:txBody>
      </p:sp>
      <p:sp>
        <p:nvSpPr>
          <p:cNvPr id="15" name="Text 5"/>
          <p:cNvSpPr/>
          <p:nvPr/>
        </p:nvSpPr>
        <p:spPr>
          <a:xfrm>
            <a:off x="457200" y="1828800"/>
            <a:ext cx="6126120" cy="6854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600" b="0" i="1" u="none" strike="noStrike">
                <a:solidFill>
                  <a:srgbClr val="C8A96E"/>
                </a:solidFill>
                <a:effectLst/>
                <a:uFillTx/>
                <a:latin typeface="Georgia"/>
                <a:ea typeface="Georgia"/>
              </a:rPr>
              <a:t>Digital </a:t>
            </a:r>
            <a:r>
              <a:rPr lang="en-US" sz="3600" b="0" i="1" u="none" strike="noStrike">
                <a:solidFill>
                  <a:srgbClr val="C8A96E"/>
                </a:solidFill>
                <a:effectLst/>
                <a:uFillTx/>
                <a:latin typeface="Georgia"/>
                <a:ea typeface="Georgia"/>
              </a:rPr>
              <a:t>Segurt</a:t>
            </a:r>
            <a:r>
              <a:rPr lang="en-US" sz="3600" b="0" i="1" u="none" strike="noStrike">
                <a:solidFill>
                  <a:srgbClr val="C8A96E"/>
                </a:solidFill>
                <a:effectLst/>
                <a:uFillTx/>
                <a:latin typeface="Georgia"/>
                <a:ea typeface="Georgia"/>
              </a:rPr>
              <a:t>atuta</a:t>
            </a:r>
            <a:endParaRPr lang="en-US" sz="3600" b="0" u="none" strike="noStrike">
              <a:solidFill>
                <a:srgbClr val="FFFFFF"/>
              </a:solidFill>
              <a:effectLst/>
              <a:uFillTx/>
              <a:latin typeface="Arial"/>
            </a:endParaRPr>
          </a:p>
        </p:txBody>
      </p:sp>
      <p:sp>
        <p:nvSpPr>
          <p:cNvPr id="16" name="Shape 6"/>
          <p:cNvSpPr/>
          <p:nvPr/>
        </p:nvSpPr>
        <p:spPr>
          <a:xfrm>
            <a:off x="457200" y="2633400"/>
            <a:ext cx="2011320" cy="45360"/>
          </a:xfrm>
          <a:prstGeom prst="rect">
            <a:avLst/>
          </a:prstGeom>
          <a:solidFill>
            <a:srgbClr val="C8A96E"/>
          </a:solidFill>
          <a:ln w="12700">
            <a:solidFill>
              <a:srgbClr val="C8A96E"/>
            </a:solidFill>
            <a:round/>
          </a:ln>
        </p:spPr>
        <p:style>
          <a:lnRef idx="0"/>
          <a:fillRef idx="0"/>
          <a:effectRef idx="0"/>
          <a:fontRef idx="minor"/>
        </p:style>
        <p:txBody>
          <a:bodyPr lIns="90000" tIns="720" rIns="90000" bIns="720" anchor="t">
            <a:noAutofit/>
          </a:bodyPr>
          <a:p>
            <a:endParaRPr lang="en-US" sz="1800" b="0" u="none" strike="noStrike">
              <a:solidFill>
                <a:srgbClr val="000000"/>
              </a:solidFill>
              <a:effectLst/>
              <a:uFillTx/>
              <a:latin typeface="Arial"/>
            </a:endParaRPr>
          </a:p>
        </p:txBody>
      </p:sp>
      <p:sp>
        <p:nvSpPr>
          <p:cNvPr id="17" name="Text 7"/>
          <p:cNvSpPr/>
          <p:nvPr/>
        </p:nvSpPr>
        <p:spPr>
          <a:xfrm>
            <a:off x="457200" y="2788920"/>
            <a:ext cx="6126120" cy="319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600" b="0" u="none" strike="noStrike">
                <a:solidFill>
                  <a:srgbClr val="B0C4D8"/>
                </a:solidFill>
                <a:effectLst/>
                <a:uFillTx/>
                <a:latin typeface="Calibri"/>
                <a:ea typeface="Calibri"/>
              </a:rPr>
              <a:t>Proiektuaren Entrega Exekutiboa</a:t>
            </a:r>
            <a:endParaRPr lang="en-US" sz="1600" b="0" u="none" strike="noStrike">
              <a:solidFill>
                <a:srgbClr val="FFFFFF"/>
              </a:solidFill>
              <a:effectLst/>
              <a:uFillTx/>
              <a:latin typeface="Arial"/>
            </a:endParaRPr>
          </a:p>
        </p:txBody>
      </p:sp>
      <p:sp>
        <p:nvSpPr>
          <p:cNvPr id="18" name="Text 8"/>
          <p:cNvSpPr/>
          <p:nvPr/>
        </p:nvSpPr>
        <p:spPr>
          <a:xfrm>
            <a:off x="457200" y="3154680"/>
            <a:ext cx="612612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0" u="none" strike="noStrike">
                <a:solidFill>
                  <a:srgbClr val="64748B"/>
                </a:solidFill>
                <a:effectLst/>
                <a:uFillTx/>
                <a:latin typeface="Calibri"/>
                <a:ea typeface="Calibri"/>
              </a:rPr>
              <a:t>2026ko Otsaila  ·  Zuzendaritza Batzordeari Aurkezpena</a:t>
            </a:r>
            <a:endParaRPr lang="en-US" sz="1200" b="0" u="none" strike="noStrike">
              <a:solidFill>
                <a:srgbClr val="FFFFFF"/>
              </a:solidFill>
              <a:effectLst/>
              <a:uFillTx/>
              <a:latin typeface="Arial"/>
            </a:endParaRPr>
          </a:p>
        </p:txBody>
      </p:sp>
      <p:sp>
        <p:nvSpPr>
          <p:cNvPr id="19" name="Text 9"/>
          <p:cNvSpPr/>
          <p:nvPr/>
        </p:nvSpPr>
        <p:spPr>
          <a:xfrm>
            <a:off x="6995160" y="502920"/>
            <a:ext cx="1691280" cy="6854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1" u="none" spc="99" strike="noStrike">
                <a:solidFill>
                  <a:srgbClr val="C8A96E"/>
                </a:solidFill>
                <a:effectLst/>
                <a:uFillTx/>
                <a:latin typeface="Calibri"/>
                <a:ea typeface="Calibri"/>
              </a:rPr>
              <a:t>PROIEKTU</a:t>
            </a:r>
            <a:endParaRPr lang="en-US" sz="1000" b="0" u="none" strike="noStrike">
              <a:solidFill>
                <a:srgbClr val="FFFFFF"/>
              </a:solidFill>
              <a:effectLst/>
              <a:uFillTx/>
              <a:latin typeface="Arial"/>
            </a:endParaRPr>
          </a:p>
          <a:p>
            <a:pPr algn="ctr" defTabSz="914400">
              <a:lnSpc>
                <a:spcPct val="100000"/>
              </a:lnSpc>
              <a:tabLst>
                <a:tab pos="0" algn="l"/>
              </a:tabLst>
            </a:pPr>
            <a:r>
              <a:rPr lang="en-US" sz="1000" b="1" u="none" spc="99" strike="noStrike">
                <a:solidFill>
                  <a:srgbClr val="C8A96E"/>
                </a:solidFill>
                <a:effectLst/>
                <a:uFillTx/>
                <a:latin typeface="Calibri"/>
                <a:ea typeface="Calibri"/>
              </a:rPr>
              <a:t>LABURPENA</a:t>
            </a:r>
            <a:endParaRPr lang="en-US" sz="1000" b="0" u="none" strike="noStrike">
              <a:solidFill>
                <a:srgbClr val="FFFFFF"/>
              </a:solidFill>
              <a:effectLst/>
              <a:uFillTx/>
              <a:latin typeface="Arial"/>
            </a:endParaRPr>
          </a:p>
        </p:txBody>
      </p:sp>
      <p:sp>
        <p:nvSpPr>
          <p:cNvPr id="20" name="Text 10"/>
          <p:cNvSpPr/>
          <p:nvPr/>
        </p:nvSpPr>
        <p:spPr>
          <a:xfrm>
            <a:off x="6995160" y="1371600"/>
            <a:ext cx="1691280" cy="4752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800" b="1" u="none" strike="noStrike">
                <a:solidFill>
                  <a:srgbClr val="FFFFFF"/>
                </a:solidFill>
                <a:effectLst/>
                <a:uFillTx/>
                <a:latin typeface="Georgia"/>
                <a:ea typeface="Georgia"/>
              </a:rPr>
              <a:t>6</a:t>
            </a:r>
            <a:endParaRPr lang="en-US" sz="2800" b="0" u="none" strike="noStrike">
              <a:solidFill>
                <a:srgbClr val="FFFFFF"/>
              </a:solidFill>
              <a:effectLst/>
              <a:uFillTx/>
              <a:latin typeface="Arial"/>
            </a:endParaRPr>
          </a:p>
        </p:txBody>
      </p:sp>
      <p:sp>
        <p:nvSpPr>
          <p:cNvPr id="21" name="Text 11"/>
          <p:cNvSpPr/>
          <p:nvPr/>
        </p:nvSpPr>
        <p:spPr>
          <a:xfrm>
            <a:off x="6995160" y="1847160"/>
            <a:ext cx="1691280" cy="3470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00" b="0" u="none" strike="noStrike">
                <a:solidFill>
                  <a:srgbClr val="B0C4D8"/>
                </a:solidFill>
                <a:effectLst/>
                <a:uFillTx/>
                <a:latin typeface="Calibri"/>
                <a:ea typeface="Calibri"/>
              </a:rPr>
              <a:t>Modulu</a:t>
            </a:r>
            <a:endParaRPr lang="en-US" sz="900" b="0" u="none" strike="noStrike">
              <a:solidFill>
                <a:srgbClr val="FFFFFF"/>
              </a:solidFill>
              <a:effectLst/>
              <a:uFillTx/>
              <a:latin typeface="Arial"/>
            </a:endParaRPr>
          </a:p>
          <a:p>
            <a:pPr algn="ctr" defTabSz="914400">
              <a:lnSpc>
                <a:spcPct val="100000"/>
              </a:lnSpc>
              <a:tabLst>
                <a:tab pos="0" algn="l"/>
              </a:tabLst>
            </a:pPr>
            <a:r>
              <a:rPr lang="en-US" sz="900" b="0" u="none" strike="noStrike">
                <a:solidFill>
                  <a:srgbClr val="B0C4D8"/>
                </a:solidFill>
                <a:effectLst/>
                <a:uFillTx/>
                <a:latin typeface="Calibri"/>
                <a:ea typeface="Calibri"/>
              </a:rPr>
              <a:t>Seguritate</a:t>
            </a:r>
            <a:endParaRPr lang="en-US" sz="900" b="0" u="none" strike="noStrike">
              <a:solidFill>
                <a:srgbClr val="FFFFFF"/>
              </a:solidFill>
              <a:effectLst/>
              <a:uFillTx/>
              <a:latin typeface="Arial"/>
            </a:endParaRPr>
          </a:p>
        </p:txBody>
      </p:sp>
      <p:sp>
        <p:nvSpPr>
          <p:cNvPr id="22" name="Text 12"/>
          <p:cNvSpPr/>
          <p:nvPr/>
        </p:nvSpPr>
        <p:spPr>
          <a:xfrm>
            <a:off x="6995160" y="2267640"/>
            <a:ext cx="1691280" cy="4752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800" b="1" u="none" strike="noStrike">
                <a:solidFill>
                  <a:srgbClr val="FFFFFF"/>
                </a:solidFill>
                <a:effectLst/>
                <a:uFillTx/>
                <a:latin typeface="Georgia"/>
                <a:ea typeface="Georgia"/>
              </a:rPr>
              <a:t>14</a:t>
            </a:r>
            <a:endParaRPr lang="en-US" sz="2800" b="0" u="none" strike="noStrike">
              <a:solidFill>
                <a:srgbClr val="FFFFFF"/>
              </a:solidFill>
              <a:effectLst/>
              <a:uFillTx/>
              <a:latin typeface="Arial"/>
            </a:endParaRPr>
          </a:p>
        </p:txBody>
      </p:sp>
      <p:sp>
        <p:nvSpPr>
          <p:cNvPr id="23" name="Text 13"/>
          <p:cNvSpPr/>
          <p:nvPr/>
        </p:nvSpPr>
        <p:spPr>
          <a:xfrm>
            <a:off x="6995160" y="2743200"/>
            <a:ext cx="1691280" cy="3470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00" b="0" u="none" strike="noStrike">
                <a:solidFill>
                  <a:srgbClr val="B0C4D8"/>
                </a:solidFill>
                <a:effectLst/>
                <a:uFillTx/>
                <a:latin typeface="Calibri"/>
                <a:ea typeface="Calibri"/>
              </a:rPr>
              <a:t>Zerbitzari</a:t>
            </a:r>
            <a:endParaRPr lang="en-US" sz="900" b="0" u="none" strike="noStrike">
              <a:solidFill>
                <a:srgbClr val="FFFFFF"/>
              </a:solidFill>
              <a:effectLst/>
              <a:uFillTx/>
              <a:latin typeface="Arial"/>
            </a:endParaRPr>
          </a:p>
          <a:p>
            <a:pPr algn="ctr" defTabSz="914400">
              <a:lnSpc>
                <a:spcPct val="100000"/>
              </a:lnSpc>
              <a:tabLst>
                <a:tab pos="0" algn="l"/>
              </a:tabLst>
            </a:pPr>
            <a:r>
              <a:rPr lang="en-US" sz="900" b="0" u="none" strike="noStrike">
                <a:solidFill>
                  <a:srgbClr val="B0C4D8"/>
                </a:solidFill>
                <a:effectLst/>
                <a:uFillTx/>
                <a:latin typeface="Calibri"/>
                <a:ea typeface="Calibri"/>
              </a:rPr>
              <a:t>VM</a:t>
            </a:r>
            <a:endParaRPr lang="en-US" sz="900" b="0" u="none" strike="noStrike">
              <a:solidFill>
                <a:srgbClr val="FFFFFF"/>
              </a:solidFill>
              <a:effectLst/>
              <a:uFillTx/>
              <a:latin typeface="Arial"/>
            </a:endParaRPr>
          </a:p>
        </p:txBody>
      </p:sp>
      <p:sp>
        <p:nvSpPr>
          <p:cNvPr id="24" name="Text 14"/>
          <p:cNvSpPr/>
          <p:nvPr/>
        </p:nvSpPr>
        <p:spPr>
          <a:xfrm>
            <a:off x="6995160" y="3163680"/>
            <a:ext cx="1691280" cy="4752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800" b="1" u="none" strike="noStrike">
                <a:solidFill>
                  <a:srgbClr val="FFFFFF"/>
                </a:solidFill>
                <a:effectLst/>
                <a:uFillTx/>
                <a:latin typeface="Georgia"/>
                <a:ea typeface="Georgia"/>
              </a:rPr>
              <a:t>0</a:t>
            </a:r>
            <a:endParaRPr lang="en-US" sz="2800" b="0" u="none" strike="noStrike">
              <a:solidFill>
                <a:srgbClr val="FFFFFF"/>
              </a:solidFill>
              <a:effectLst/>
              <a:uFillTx/>
              <a:latin typeface="Arial"/>
            </a:endParaRPr>
          </a:p>
        </p:txBody>
      </p:sp>
      <p:sp>
        <p:nvSpPr>
          <p:cNvPr id="25" name="Text 15"/>
          <p:cNvSpPr/>
          <p:nvPr/>
        </p:nvSpPr>
        <p:spPr>
          <a:xfrm>
            <a:off x="6995160" y="3639240"/>
            <a:ext cx="1691280" cy="3470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00" b="0" u="none" strike="noStrike">
                <a:solidFill>
                  <a:srgbClr val="B0C4D8"/>
                </a:solidFill>
                <a:effectLst/>
                <a:uFillTx/>
                <a:latin typeface="Calibri"/>
                <a:ea typeface="Calibri"/>
              </a:rPr>
              <a:t>Arazo</a:t>
            </a:r>
            <a:endParaRPr lang="en-US" sz="900" b="0" u="none" strike="noStrike">
              <a:solidFill>
                <a:srgbClr val="FFFFFF"/>
              </a:solidFill>
              <a:effectLst/>
              <a:uFillTx/>
              <a:latin typeface="Arial"/>
            </a:endParaRPr>
          </a:p>
          <a:p>
            <a:pPr algn="ctr" defTabSz="914400">
              <a:lnSpc>
                <a:spcPct val="100000"/>
              </a:lnSpc>
              <a:tabLst>
                <a:tab pos="0" algn="l"/>
              </a:tabLst>
            </a:pPr>
            <a:r>
              <a:rPr lang="en-US" sz="900" b="0" u="none" strike="noStrike">
                <a:solidFill>
                  <a:srgbClr val="B0C4D8"/>
                </a:solidFill>
                <a:effectLst/>
                <a:uFillTx/>
                <a:latin typeface="Calibri"/>
                <a:ea typeface="Calibri"/>
              </a:rPr>
              <a:t>Kritiko</a:t>
            </a:r>
            <a:endParaRPr lang="en-US" sz="900" b="0" u="none" strike="noStrike">
              <a:solidFill>
                <a:srgbClr val="FFFFFF"/>
              </a:solidFill>
              <a:effectLst/>
              <a:uFillTx/>
              <a:latin typeface="Arial"/>
            </a:endParaRPr>
          </a:p>
        </p:txBody>
      </p:sp>
      <p:sp>
        <p:nvSpPr>
          <p:cNvPr id="26" name="Text 16"/>
          <p:cNvSpPr/>
          <p:nvPr/>
        </p:nvSpPr>
        <p:spPr>
          <a:xfrm>
            <a:off x="6995160" y="4060080"/>
            <a:ext cx="1691280" cy="4752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800" b="1" u="none" strike="noStrike">
                <a:solidFill>
                  <a:srgbClr val="FFFFFF"/>
                </a:solidFill>
                <a:effectLst/>
                <a:uFillTx/>
                <a:latin typeface="Georgia"/>
                <a:ea typeface="Georgia"/>
              </a:rPr>
              <a:t>93%</a:t>
            </a:r>
            <a:endParaRPr lang="en-US" sz="2800" b="0" u="none" strike="noStrike">
              <a:solidFill>
                <a:srgbClr val="FFFFFF"/>
              </a:solidFill>
              <a:effectLst/>
              <a:uFillTx/>
              <a:latin typeface="Arial"/>
            </a:endParaRPr>
          </a:p>
        </p:txBody>
      </p:sp>
      <p:sp>
        <p:nvSpPr>
          <p:cNvPr id="27" name="Text 17"/>
          <p:cNvSpPr/>
          <p:nvPr/>
        </p:nvSpPr>
        <p:spPr>
          <a:xfrm>
            <a:off x="6995160" y="4535280"/>
            <a:ext cx="1691280" cy="3470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900" b="0" u="none" strike="noStrike">
                <a:solidFill>
                  <a:srgbClr val="B0C4D8"/>
                </a:solidFill>
                <a:effectLst/>
                <a:uFillTx/>
                <a:latin typeface="Calibri"/>
                <a:ea typeface="Calibri"/>
              </a:rPr>
              <a:t>ISO 27001</a:t>
            </a:r>
            <a:endParaRPr lang="en-US" sz="900" b="0" u="none" strike="noStrike">
              <a:solidFill>
                <a:srgbClr val="FFFFFF"/>
              </a:solidFill>
              <a:effectLst/>
              <a:uFillTx/>
              <a:latin typeface="Arial"/>
            </a:endParaRPr>
          </a:p>
          <a:p>
            <a:pPr algn="ctr" defTabSz="914400">
              <a:lnSpc>
                <a:spcPct val="100000"/>
              </a:lnSpc>
              <a:tabLst>
                <a:tab pos="0" algn="l"/>
              </a:tabLst>
            </a:pPr>
            <a:r>
              <a:rPr lang="en-US" sz="900" b="0" u="none" strike="noStrike">
                <a:solidFill>
                  <a:srgbClr val="B0C4D8"/>
                </a:solidFill>
                <a:effectLst/>
                <a:uFillTx/>
                <a:latin typeface="Calibri"/>
                <a:ea typeface="Calibri"/>
              </a:rPr>
              <a:t>Betetzea</a:t>
            </a:r>
            <a:endParaRPr lang="en-US"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28" name="Shape 0"/>
          <p:cNvSpPr/>
          <p:nvPr/>
        </p:nvSpPr>
        <p:spPr>
          <a:xfrm>
            <a:off x="0" y="0"/>
            <a:ext cx="9143640" cy="1096920"/>
          </a:xfrm>
          <a:prstGeom prst="rect">
            <a:avLst/>
          </a:prstGeom>
          <a:solidFill>
            <a:srgbClr val="0F2D4A"/>
          </a:solidFill>
          <a:ln w="1270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9" name="Text 1"/>
          <p:cNvSpPr/>
          <p:nvPr/>
        </p:nvSpPr>
        <p:spPr>
          <a:xfrm>
            <a:off x="457200" y="73080"/>
            <a:ext cx="8229240" cy="237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pc="201" strike="noStrike">
                <a:solidFill>
                  <a:srgbClr val="C8A96E"/>
                </a:solidFill>
                <a:effectLst/>
                <a:uFillTx/>
                <a:latin typeface="Calibri"/>
                <a:ea typeface="Calibri"/>
              </a:rPr>
              <a:t>01 · TESTUINGURUA ETA ERRONKA</a:t>
            </a:r>
            <a:endParaRPr lang="en-US" sz="1000" b="0" u="none" strike="noStrike">
              <a:solidFill>
                <a:srgbClr val="000000"/>
              </a:solidFill>
              <a:effectLst/>
              <a:uFillTx/>
              <a:latin typeface="Arial"/>
            </a:endParaRPr>
          </a:p>
        </p:txBody>
      </p:sp>
      <p:sp>
        <p:nvSpPr>
          <p:cNvPr id="30" name="Text 2"/>
          <p:cNvSpPr/>
          <p:nvPr/>
        </p:nvSpPr>
        <p:spPr>
          <a:xfrm>
            <a:off x="457200" y="347400"/>
            <a:ext cx="8229240" cy="6854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400" b="1" u="none" strike="noStrike">
                <a:solidFill>
                  <a:srgbClr val="FFFFFF"/>
                </a:solidFill>
                <a:effectLst/>
                <a:uFillTx/>
                <a:latin typeface="Georgia"/>
                <a:ea typeface="Georgia"/>
              </a:rPr>
              <a:t>Zabala Gailetak eta Industria 4.0: Transformazioaren Argia eta Itzala</a:t>
            </a:r>
            <a:endParaRPr lang="en-US" sz="2400" b="0" u="none" strike="noStrike">
              <a:solidFill>
                <a:srgbClr val="000000"/>
              </a:solidFill>
              <a:effectLst/>
              <a:uFillTx/>
              <a:latin typeface="Arial"/>
            </a:endParaRPr>
          </a:p>
        </p:txBody>
      </p:sp>
      <p:sp>
        <p:nvSpPr>
          <p:cNvPr id="31" name="Shape 3"/>
          <p:cNvSpPr/>
          <p:nvPr/>
        </p:nvSpPr>
        <p:spPr>
          <a:xfrm>
            <a:off x="347400" y="1298520"/>
            <a:ext cx="456840" cy="456840"/>
          </a:xfrm>
          <a:prstGeom prst="ellipse">
            <a:avLst/>
          </a:prstGeom>
          <a:solidFill>
            <a:srgbClr val="0F2D4A"/>
          </a:solidFill>
          <a:ln w="1270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 name="Text 4"/>
          <p:cNvSpPr/>
          <p:nvPr/>
        </p:nvSpPr>
        <p:spPr>
          <a:xfrm>
            <a:off x="347400" y="1307520"/>
            <a:ext cx="456840" cy="438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C8A96E"/>
                </a:solidFill>
                <a:effectLst/>
                <a:uFillTx/>
                <a:latin typeface="Calibri"/>
                <a:ea typeface="Calibri"/>
              </a:rPr>
              <a:t>01</a:t>
            </a:r>
            <a:endParaRPr lang="en-US" sz="1300" b="0" u="none" strike="noStrike">
              <a:solidFill>
                <a:srgbClr val="000000"/>
              </a:solidFill>
              <a:effectLst/>
              <a:uFillTx/>
              <a:latin typeface="Arial"/>
            </a:endParaRPr>
          </a:p>
        </p:txBody>
      </p:sp>
      <p:sp>
        <p:nvSpPr>
          <p:cNvPr id="33" name="Shape 5"/>
          <p:cNvSpPr/>
          <p:nvPr/>
        </p:nvSpPr>
        <p:spPr>
          <a:xfrm>
            <a:off x="576000" y="1755360"/>
            <a:ext cx="360" cy="622080"/>
          </a:xfrm>
          <a:prstGeom prst="line">
            <a:avLst/>
          </a:prstGeom>
          <a:ln w="25400">
            <a:solidFill>
              <a:srgbClr val="C8A96E"/>
            </a:solidFill>
            <a:prstDash val="dash"/>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34" name="Text 6"/>
          <p:cNvSpPr/>
          <p:nvPr/>
        </p:nvSpPr>
        <p:spPr>
          <a:xfrm>
            <a:off x="932760" y="1298520"/>
            <a:ext cx="3611520" cy="292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1E293B"/>
                </a:solidFill>
                <a:effectLst/>
                <a:uFillTx/>
                <a:latin typeface="Calibri"/>
                <a:ea typeface="Calibri"/>
              </a:rPr>
              <a:t>Ekoizpen Tradizionala</a:t>
            </a:r>
            <a:endParaRPr lang="en-US" sz="1400" b="0" u="none" strike="noStrike">
              <a:solidFill>
                <a:srgbClr val="000000"/>
              </a:solidFill>
              <a:effectLst/>
              <a:uFillTx/>
              <a:latin typeface="Arial"/>
            </a:endParaRPr>
          </a:p>
        </p:txBody>
      </p:sp>
      <p:sp>
        <p:nvSpPr>
          <p:cNvPr id="35" name="Text 7"/>
          <p:cNvSpPr/>
          <p:nvPr/>
        </p:nvSpPr>
        <p:spPr>
          <a:xfrm>
            <a:off x="932760" y="1600200"/>
            <a:ext cx="361152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64748B"/>
                </a:solidFill>
                <a:effectLst/>
                <a:uFillTx/>
                <a:latin typeface="Calibri"/>
                <a:ea typeface="Calibri"/>
              </a:rPr>
              <a:t>Fabrika isolatua, makineria analogikoa, paper-erregistroak eta prozesu manuala</a:t>
            </a:r>
            <a:endParaRPr lang="en-US" sz="1100" b="0" u="none" strike="noStrike">
              <a:solidFill>
                <a:srgbClr val="000000"/>
              </a:solidFill>
              <a:effectLst/>
              <a:uFillTx/>
              <a:latin typeface="Arial"/>
            </a:endParaRPr>
          </a:p>
        </p:txBody>
      </p:sp>
      <p:sp>
        <p:nvSpPr>
          <p:cNvPr id="36" name="Shape 8"/>
          <p:cNvSpPr/>
          <p:nvPr/>
        </p:nvSpPr>
        <p:spPr>
          <a:xfrm>
            <a:off x="347400" y="2377440"/>
            <a:ext cx="456840" cy="456840"/>
          </a:xfrm>
          <a:prstGeom prst="ellipse">
            <a:avLst/>
          </a:prstGeom>
          <a:solidFill>
            <a:srgbClr val="0F2D4A"/>
          </a:solidFill>
          <a:ln w="1270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7" name="Text 9"/>
          <p:cNvSpPr/>
          <p:nvPr/>
        </p:nvSpPr>
        <p:spPr>
          <a:xfrm>
            <a:off x="347400" y="2386440"/>
            <a:ext cx="456840" cy="438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C8A96E"/>
                </a:solidFill>
                <a:effectLst/>
                <a:uFillTx/>
                <a:latin typeface="Calibri"/>
                <a:ea typeface="Calibri"/>
              </a:rPr>
              <a:t>02</a:t>
            </a:r>
            <a:endParaRPr lang="en-US" sz="1300" b="0" u="none" strike="noStrike">
              <a:solidFill>
                <a:srgbClr val="000000"/>
              </a:solidFill>
              <a:effectLst/>
              <a:uFillTx/>
              <a:latin typeface="Arial"/>
            </a:endParaRPr>
          </a:p>
        </p:txBody>
      </p:sp>
      <p:sp>
        <p:nvSpPr>
          <p:cNvPr id="38" name="Shape 10"/>
          <p:cNvSpPr/>
          <p:nvPr/>
        </p:nvSpPr>
        <p:spPr>
          <a:xfrm>
            <a:off x="576000" y="2834640"/>
            <a:ext cx="360" cy="621720"/>
          </a:xfrm>
          <a:prstGeom prst="line">
            <a:avLst/>
          </a:prstGeom>
          <a:ln w="25400">
            <a:solidFill>
              <a:srgbClr val="C8A96E"/>
            </a:solidFill>
            <a:prstDash val="dash"/>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39" name="Text 11"/>
          <p:cNvSpPr/>
          <p:nvPr/>
        </p:nvSpPr>
        <p:spPr>
          <a:xfrm>
            <a:off x="932760" y="2377440"/>
            <a:ext cx="3611520" cy="292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1E293B"/>
                </a:solidFill>
                <a:effectLst/>
                <a:uFillTx/>
                <a:latin typeface="Calibri"/>
                <a:ea typeface="Calibri"/>
              </a:rPr>
              <a:t>Digitalizazio Hasiera</a:t>
            </a:r>
            <a:endParaRPr lang="en-US" sz="1400" b="0" u="none" strike="noStrike">
              <a:solidFill>
                <a:srgbClr val="000000"/>
              </a:solidFill>
              <a:effectLst/>
              <a:uFillTx/>
              <a:latin typeface="Arial"/>
            </a:endParaRPr>
          </a:p>
        </p:txBody>
      </p:sp>
      <p:sp>
        <p:nvSpPr>
          <p:cNvPr id="40" name="Text 12"/>
          <p:cNvSpPr/>
          <p:nvPr/>
        </p:nvSpPr>
        <p:spPr>
          <a:xfrm>
            <a:off x="932760" y="2679120"/>
            <a:ext cx="361152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64748B"/>
                </a:solidFill>
                <a:effectLst/>
                <a:uFillTx/>
                <a:latin typeface="Calibri"/>
                <a:ea typeface="Calibri"/>
              </a:rPr>
              <a:t>OpenPLC kontrolagailua, SCADA HMI sistema eta bulegoko sare konektatu berria</a:t>
            </a:r>
            <a:endParaRPr lang="en-US" sz="1100" b="0" u="none" strike="noStrike">
              <a:solidFill>
                <a:srgbClr val="000000"/>
              </a:solidFill>
              <a:effectLst/>
              <a:uFillTx/>
              <a:latin typeface="Arial"/>
            </a:endParaRPr>
          </a:p>
        </p:txBody>
      </p:sp>
      <p:sp>
        <p:nvSpPr>
          <p:cNvPr id="41" name="Shape 13"/>
          <p:cNvSpPr/>
          <p:nvPr/>
        </p:nvSpPr>
        <p:spPr>
          <a:xfrm>
            <a:off x="347400" y="3456360"/>
            <a:ext cx="456840" cy="456840"/>
          </a:xfrm>
          <a:prstGeom prst="ellipse">
            <a:avLst/>
          </a:prstGeom>
          <a:solidFill>
            <a:srgbClr val="0F2D4A"/>
          </a:solidFill>
          <a:ln w="1270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2" name="Text 14"/>
          <p:cNvSpPr/>
          <p:nvPr/>
        </p:nvSpPr>
        <p:spPr>
          <a:xfrm>
            <a:off x="347400" y="3465720"/>
            <a:ext cx="456840" cy="438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C8A96E"/>
                </a:solidFill>
                <a:effectLst/>
                <a:uFillTx/>
                <a:latin typeface="Calibri"/>
                <a:ea typeface="Calibri"/>
              </a:rPr>
              <a:t>03</a:t>
            </a:r>
            <a:endParaRPr lang="en-US" sz="1300" b="0" u="none" strike="noStrike">
              <a:solidFill>
                <a:srgbClr val="000000"/>
              </a:solidFill>
              <a:effectLst/>
              <a:uFillTx/>
              <a:latin typeface="Arial"/>
            </a:endParaRPr>
          </a:p>
        </p:txBody>
      </p:sp>
      <p:sp>
        <p:nvSpPr>
          <p:cNvPr id="43" name="Text 15"/>
          <p:cNvSpPr/>
          <p:nvPr/>
        </p:nvSpPr>
        <p:spPr>
          <a:xfrm>
            <a:off x="932760" y="3456360"/>
            <a:ext cx="3611520" cy="292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400" b="1" u="none" strike="noStrike">
                <a:solidFill>
                  <a:srgbClr val="1E293B"/>
                </a:solidFill>
                <a:effectLst/>
                <a:uFillTx/>
                <a:latin typeface="Calibri"/>
                <a:ea typeface="Calibri"/>
              </a:rPr>
              <a:t>Industria 4.0 Gaur</a:t>
            </a:r>
            <a:endParaRPr lang="en-US" sz="1400" b="0" u="none" strike="noStrike">
              <a:solidFill>
                <a:srgbClr val="000000"/>
              </a:solidFill>
              <a:effectLst/>
              <a:uFillTx/>
              <a:latin typeface="Arial"/>
            </a:endParaRPr>
          </a:p>
        </p:txBody>
      </p:sp>
      <p:sp>
        <p:nvSpPr>
          <p:cNvPr id="44" name="Text 16"/>
          <p:cNvSpPr/>
          <p:nvPr/>
        </p:nvSpPr>
        <p:spPr>
          <a:xfrm>
            <a:off x="932760" y="3758040"/>
            <a:ext cx="361152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64748B"/>
                </a:solidFill>
                <a:effectLst/>
                <a:uFillTx/>
                <a:latin typeface="Calibri"/>
                <a:ea typeface="Calibri"/>
              </a:rPr>
              <a:t>Cloud zerbitzuak, app mugikorra, RRHH portala eta denbora errealeko datu-elkartrukea</a:t>
            </a:r>
            <a:endParaRPr lang="en-US" sz="1100" b="0" u="none" strike="noStrike">
              <a:solidFill>
                <a:srgbClr val="000000"/>
              </a:solidFill>
              <a:effectLst/>
              <a:uFillTx/>
              <a:latin typeface="Arial"/>
            </a:endParaRPr>
          </a:p>
        </p:txBody>
      </p:sp>
      <p:sp>
        <p:nvSpPr>
          <p:cNvPr id="45" name="Shape 17"/>
          <p:cNvSpPr/>
          <p:nvPr/>
        </p:nvSpPr>
        <p:spPr>
          <a:xfrm>
            <a:off x="5074920" y="1261800"/>
            <a:ext cx="3748680" cy="3520080"/>
          </a:xfrm>
          <a:prstGeom prst="rect">
            <a:avLst/>
          </a:prstGeom>
          <a:solidFill>
            <a:srgbClr val="0F2D4A"/>
          </a:solidFill>
          <a:ln w="12700">
            <a:solidFill>
              <a:srgbClr val="0F2D4A"/>
            </a:solidFill>
            <a:round/>
          </a:ln>
          <a:effectLst>
            <a:outerShdw algn="bl" blurRad="101520" dir="8100000" dist="37674" kx="0" ky="0" rotWithShape="0" sx="100000" sy="100000">
              <a:srgbClr val="000000">
                <a:alpha val="1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6" name="Text 18"/>
          <p:cNvSpPr/>
          <p:nvPr/>
        </p:nvSpPr>
        <p:spPr>
          <a:xfrm>
            <a:off x="5212080" y="1389960"/>
            <a:ext cx="3474360" cy="5299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pc="201" strike="noStrike">
                <a:solidFill>
                  <a:srgbClr val="C8A96E"/>
                </a:solidFill>
                <a:effectLst/>
                <a:uFillTx/>
                <a:latin typeface="Calibri"/>
                <a:ea typeface="Calibri"/>
              </a:rPr>
              <a:t>ZABALA GAILETAK</a:t>
            </a:r>
            <a:endParaRPr lang="en-US" sz="1100" b="0" u="none" strike="noStrike">
              <a:solidFill>
                <a:srgbClr val="000000"/>
              </a:solidFill>
              <a:effectLst/>
              <a:uFillTx/>
              <a:latin typeface="Arial"/>
            </a:endParaRPr>
          </a:p>
          <a:p>
            <a:pPr algn="ctr" defTabSz="914400">
              <a:lnSpc>
                <a:spcPct val="100000"/>
              </a:lnSpc>
              <a:tabLst>
                <a:tab pos="0" algn="l"/>
              </a:tabLst>
            </a:pPr>
            <a:r>
              <a:rPr lang="en-US" sz="1100" b="1" u="none" spc="201" strike="noStrike">
                <a:solidFill>
                  <a:srgbClr val="C8A96E"/>
                </a:solidFill>
                <a:effectLst/>
                <a:uFillTx/>
                <a:latin typeface="Calibri"/>
                <a:ea typeface="Calibri"/>
              </a:rPr>
              <a:t>EN DATUAK</a:t>
            </a:r>
            <a:endParaRPr lang="en-US" sz="1100" b="0" u="none" strike="noStrike">
              <a:solidFill>
                <a:srgbClr val="000000"/>
              </a:solidFill>
              <a:effectLst/>
              <a:uFillTx/>
              <a:latin typeface="Arial"/>
            </a:endParaRPr>
          </a:p>
        </p:txBody>
      </p:sp>
      <p:sp>
        <p:nvSpPr>
          <p:cNvPr id="47" name="Shape 19"/>
          <p:cNvSpPr/>
          <p:nvPr/>
        </p:nvSpPr>
        <p:spPr>
          <a:xfrm>
            <a:off x="5212080" y="2030040"/>
            <a:ext cx="1599840" cy="1096920"/>
          </a:xfrm>
          <a:prstGeom prst="rect">
            <a:avLst/>
          </a:prstGeom>
          <a:solidFill>
            <a:srgbClr val="1A3F63"/>
          </a:solidFill>
          <a:ln w="12700">
            <a:solidFill>
              <a:srgbClr val="1A3F6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8" name="Text 20"/>
          <p:cNvSpPr/>
          <p:nvPr/>
        </p:nvSpPr>
        <p:spPr>
          <a:xfrm>
            <a:off x="5212080" y="2094120"/>
            <a:ext cx="1599840" cy="5940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3400" b="1" u="none" strike="noStrike">
                <a:solidFill>
                  <a:srgbClr val="FFFFFF"/>
                </a:solidFill>
                <a:effectLst/>
                <a:uFillTx/>
                <a:latin typeface="Georgia"/>
                <a:ea typeface="Georgia"/>
              </a:rPr>
              <a:t>120</a:t>
            </a:r>
            <a:endParaRPr lang="en-US" sz="3400" b="0" u="none" strike="noStrike">
              <a:solidFill>
                <a:srgbClr val="000000"/>
              </a:solidFill>
              <a:effectLst/>
              <a:uFillTx/>
              <a:latin typeface="Arial"/>
            </a:endParaRPr>
          </a:p>
        </p:txBody>
      </p:sp>
      <p:sp>
        <p:nvSpPr>
          <p:cNvPr id="49" name="Text 21"/>
          <p:cNvSpPr/>
          <p:nvPr/>
        </p:nvSpPr>
        <p:spPr>
          <a:xfrm>
            <a:off x="5212080" y="2697480"/>
            <a:ext cx="1599840" cy="319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0" u="none" strike="noStrike">
                <a:solidFill>
                  <a:srgbClr val="C8A96E"/>
                </a:solidFill>
                <a:effectLst/>
                <a:uFillTx/>
                <a:latin typeface="Calibri"/>
                <a:ea typeface="Calibri"/>
              </a:rPr>
              <a:t>Langile</a:t>
            </a:r>
            <a:endParaRPr lang="en-US" sz="1100" b="0" u="none" strike="noStrike">
              <a:solidFill>
                <a:srgbClr val="000000"/>
              </a:solidFill>
              <a:effectLst/>
              <a:uFillTx/>
              <a:latin typeface="Arial"/>
            </a:endParaRPr>
          </a:p>
        </p:txBody>
      </p:sp>
      <p:sp>
        <p:nvSpPr>
          <p:cNvPr id="50" name="Shape 22"/>
          <p:cNvSpPr/>
          <p:nvPr/>
        </p:nvSpPr>
        <p:spPr>
          <a:xfrm>
            <a:off x="6949440" y="2030040"/>
            <a:ext cx="1599840" cy="1096920"/>
          </a:xfrm>
          <a:prstGeom prst="rect">
            <a:avLst/>
          </a:prstGeom>
          <a:solidFill>
            <a:srgbClr val="1A3F63"/>
          </a:solidFill>
          <a:ln w="12700">
            <a:solidFill>
              <a:srgbClr val="1A3F6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1" name="Text 23"/>
          <p:cNvSpPr/>
          <p:nvPr/>
        </p:nvSpPr>
        <p:spPr>
          <a:xfrm>
            <a:off x="6949440" y="2094120"/>
            <a:ext cx="1599840" cy="5940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3400" b="1" u="none" strike="noStrike">
                <a:solidFill>
                  <a:srgbClr val="FFFFFF"/>
                </a:solidFill>
                <a:effectLst/>
                <a:uFillTx/>
                <a:latin typeface="Georgia"/>
                <a:ea typeface="Georgia"/>
              </a:rPr>
              <a:t>3</a:t>
            </a:r>
            <a:endParaRPr lang="en-US" sz="3400" b="0" u="none" strike="noStrike">
              <a:solidFill>
                <a:srgbClr val="000000"/>
              </a:solidFill>
              <a:effectLst/>
              <a:uFillTx/>
              <a:latin typeface="Arial"/>
            </a:endParaRPr>
          </a:p>
        </p:txBody>
      </p:sp>
      <p:sp>
        <p:nvSpPr>
          <p:cNvPr id="52" name="Text 24"/>
          <p:cNvSpPr/>
          <p:nvPr/>
        </p:nvSpPr>
        <p:spPr>
          <a:xfrm>
            <a:off x="6949440" y="2697480"/>
            <a:ext cx="1599840" cy="319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0" u="none" strike="noStrike">
                <a:solidFill>
                  <a:srgbClr val="C8A96E"/>
                </a:solidFill>
                <a:effectLst/>
                <a:uFillTx/>
                <a:latin typeface="Calibri"/>
                <a:ea typeface="Calibri"/>
              </a:rPr>
              <a:t>Txanda / Egun</a:t>
            </a:r>
            <a:endParaRPr lang="en-US" sz="1100" b="0" u="none" strike="noStrike">
              <a:solidFill>
                <a:srgbClr val="000000"/>
              </a:solidFill>
              <a:effectLst/>
              <a:uFillTx/>
              <a:latin typeface="Arial"/>
            </a:endParaRPr>
          </a:p>
        </p:txBody>
      </p:sp>
      <p:sp>
        <p:nvSpPr>
          <p:cNvPr id="53" name="Shape 25"/>
          <p:cNvSpPr/>
          <p:nvPr/>
        </p:nvSpPr>
        <p:spPr>
          <a:xfrm>
            <a:off x="5212080" y="3328560"/>
            <a:ext cx="1599840" cy="1096920"/>
          </a:xfrm>
          <a:prstGeom prst="rect">
            <a:avLst/>
          </a:prstGeom>
          <a:solidFill>
            <a:srgbClr val="1A3F63"/>
          </a:solidFill>
          <a:ln w="12700">
            <a:solidFill>
              <a:srgbClr val="1A3F6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4" name="Text 26"/>
          <p:cNvSpPr/>
          <p:nvPr/>
        </p:nvSpPr>
        <p:spPr>
          <a:xfrm>
            <a:off x="5212080" y="3392280"/>
            <a:ext cx="1599840" cy="5940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3400" b="1" u="none" strike="noStrike">
                <a:solidFill>
                  <a:srgbClr val="FFFFFF"/>
                </a:solidFill>
                <a:effectLst/>
                <a:uFillTx/>
                <a:latin typeface="Georgia"/>
                <a:ea typeface="Georgia"/>
              </a:rPr>
              <a:t>5</a:t>
            </a:r>
            <a:endParaRPr lang="en-US" sz="3400" b="0" u="none" strike="noStrike">
              <a:solidFill>
                <a:srgbClr val="000000"/>
              </a:solidFill>
              <a:effectLst/>
              <a:uFillTx/>
              <a:latin typeface="Arial"/>
            </a:endParaRPr>
          </a:p>
        </p:txBody>
      </p:sp>
      <p:sp>
        <p:nvSpPr>
          <p:cNvPr id="55" name="Text 27"/>
          <p:cNvSpPr/>
          <p:nvPr/>
        </p:nvSpPr>
        <p:spPr>
          <a:xfrm>
            <a:off x="5212080" y="3996000"/>
            <a:ext cx="1599840" cy="319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0" u="none" strike="noStrike">
                <a:solidFill>
                  <a:srgbClr val="C8A96E"/>
                </a:solidFill>
                <a:effectLst/>
                <a:uFillTx/>
                <a:latin typeface="Calibri"/>
                <a:ea typeface="Calibri"/>
              </a:rPr>
              <a:t>VLAN Sare</a:t>
            </a:r>
            <a:endParaRPr lang="en-US" sz="1100" b="0" u="none" strike="noStrike">
              <a:solidFill>
                <a:srgbClr val="000000"/>
              </a:solidFill>
              <a:effectLst/>
              <a:uFillTx/>
              <a:latin typeface="Arial"/>
            </a:endParaRPr>
          </a:p>
        </p:txBody>
      </p:sp>
      <p:sp>
        <p:nvSpPr>
          <p:cNvPr id="56" name="Shape 28"/>
          <p:cNvSpPr/>
          <p:nvPr/>
        </p:nvSpPr>
        <p:spPr>
          <a:xfrm>
            <a:off x="6949440" y="3328560"/>
            <a:ext cx="1599840" cy="1096920"/>
          </a:xfrm>
          <a:prstGeom prst="rect">
            <a:avLst/>
          </a:prstGeom>
          <a:solidFill>
            <a:srgbClr val="1A3F63"/>
          </a:solidFill>
          <a:ln w="12700">
            <a:solidFill>
              <a:srgbClr val="1A3F6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57" name="Text 29"/>
          <p:cNvSpPr/>
          <p:nvPr/>
        </p:nvSpPr>
        <p:spPr>
          <a:xfrm>
            <a:off x="6949440" y="3392280"/>
            <a:ext cx="1599840" cy="5940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3400" b="1" u="none" strike="noStrike">
                <a:solidFill>
                  <a:srgbClr val="FFFFFF"/>
                </a:solidFill>
                <a:effectLst/>
                <a:uFillTx/>
                <a:latin typeface="Georgia"/>
                <a:ea typeface="Georgia"/>
              </a:rPr>
              <a:t>6</a:t>
            </a:r>
            <a:endParaRPr lang="en-US" sz="3400" b="0" u="none" strike="noStrike">
              <a:solidFill>
                <a:srgbClr val="000000"/>
              </a:solidFill>
              <a:effectLst/>
              <a:uFillTx/>
              <a:latin typeface="Arial"/>
            </a:endParaRPr>
          </a:p>
        </p:txBody>
      </p:sp>
      <p:sp>
        <p:nvSpPr>
          <p:cNvPr id="58" name="Text 30"/>
          <p:cNvSpPr/>
          <p:nvPr/>
        </p:nvSpPr>
        <p:spPr>
          <a:xfrm>
            <a:off x="6949440" y="3996000"/>
            <a:ext cx="1599840" cy="319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0" u="none" strike="noStrike">
                <a:solidFill>
                  <a:srgbClr val="C8A96E"/>
                </a:solidFill>
                <a:effectLst/>
                <a:uFillTx/>
                <a:latin typeface="Calibri"/>
                <a:ea typeface="Calibri"/>
              </a:rPr>
              <a:t>VM Zerbitzari</a:t>
            </a:r>
            <a:endParaRPr lang="en-US" sz="1100" b="0" u="none" strike="noStrike">
              <a:solidFill>
                <a:srgbClr val="000000"/>
              </a:solidFill>
              <a:effectLst/>
              <a:uFillTx/>
              <a:latin typeface="Arial"/>
            </a:endParaRPr>
          </a:p>
        </p:txBody>
      </p:sp>
      <p:sp>
        <p:nvSpPr>
          <p:cNvPr id="59" name="Shape 31"/>
          <p:cNvSpPr/>
          <p:nvPr/>
        </p:nvSpPr>
        <p:spPr>
          <a:xfrm>
            <a:off x="0" y="4937760"/>
            <a:ext cx="9143640" cy="205560"/>
          </a:xfrm>
          <a:prstGeom prst="rect">
            <a:avLst/>
          </a:prstGeom>
          <a:solidFill>
            <a:srgbClr val="0F2D4A"/>
          </a:solidFill>
          <a:ln w="1270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0" name="Text 32"/>
          <p:cNvSpPr/>
          <p:nvPr/>
        </p:nvSpPr>
        <p:spPr>
          <a:xfrm>
            <a:off x="274320" y="4946760"/>
            <a:ext cx="8595000" cy="1825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C8A96E"/>
                </a:solidFill>
                <a:effectLst/>
                <a:uFillTx/>
                <a:latin typeface="Calibri"/>
                <a:ea typeface="Calibri"/>
              </a:rPr>
              <a:t>Zabala Gailetak · Zibersegurtasun Entrega 2026</a:t>
            </a:r>
            <a:endParaRPr lang="en-US" sz="900" b="0" u="none" strike="noStrike">
              <a:solidFill>
                <a:srgbClr val="000000"/>
              </a:solidFill>
              <a:effectLst/>
              <a:uFillTx/>
              <a:latin typeface="Arial"/>
            </a:endParaRPr>
          </a:p>
        </p:txBody>
      </p:sp>
      <p:sp>
        <p:nvSpPr>
          <p:cNvPr id="61" name="Text 33"/>
          <p:cNvSpPr/>
          <p:nvPr/>
        </p:nvSpPr>
        <p:spPr>
          <a:xfrm>
            <a:off x="274320" y="4946760"/>
            <a:ext cx="8595000" cy="18252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2 / 14</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sp>
        <p:nvSpPr>
          <p:cNvPr id="62" name="Shape 0"/>
          <p:cNvSpPr/>
          <p:nvPr/>
        </p:nvSpPr>
        <p:spPr>
          <a:xfrm>
            <a:off x="0" y="0"/>
            <a:ext cx="91080" cy="5143320"/>
          </a:xfrm>
          <a:prstGeom prst="rect">
            <a:avLst/>
          </a:prstGeom>
          <a:solidFill>
            <a:srgbClr val="DC2626"/>
          </a:solidFill>
          <a:ln w="12700">
            <a:solidFill>
              <a:srgbClr val="DC262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3" name="Text 1"/>
          <p:cNvSpPr/>
          <p:nvPr/>
        </p:nvSpPr>
        <p:spPr>
          <a:xfrm>
            <a:off x="255960" y="118800"/>
            <a:ext cx="8595000" cy="237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pc="201" strike="noStrike">
                <a:solidFill>
                  <a:srgbClr val="DC2626"/>
                </a:solidFill>
                <a:effectLst/>
                <a:uFillTx/>
                <a:latin typeface="Calibri"/>
                <a:ea typeface="Calibri"/>
              </a:rPr>
              <a:t>01 · TESTUINGURUA ETA ERRONKA</a:t>
            </a:r>
            <a:endParaRPr lang="en-US" sz="1000" b="0" u="none" strike="noStrike">
              <a:solidFill>
                <a:srgbClr val="FFFFFF"/>
              </a:solidFill>
              <a:effectLst/>
              <a:uFillTx/>
              <a:latin typeface="Arial"/>
            </a:endParaRPr>
          </a:p>
        </p:txBody>
      </p:sp>
      <p:sp>
        <p:nvSpPr>
          <p:cNvPr id="64" name="Text 2"/>
          <p:cNvSpPr/>
          <p:nvPr/>
        </p:nvSpPr>
        <p:spPr>
          <a:xfrm>
            <a:off x="255960" y="402480"/>
            <a:ext cx="8595000" cy="6580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trike="noStrike">
                <a:solidFill>
                  <a:srgbClr val="FFFFFF"/>
                </a:solidFill>
                <a:effectLst/>
                <a:uFillTx/>
                <a:latin typeface="Georgia"/>
                <a:ea typeface="Georgia"/>
              </a:rPr>
              <a:t>IT eta OT Konektatzen Direnean: Arrisku Kritikoa</a:t>
            </a:r>
            <a:endParaRPr lang="en-US" sz="2600" b="0" u="none" strike="noStrike">
              <a:solidFill>
                <a:srgbClr val="FFFFFF"/>
              </a:solidFill>
              <a:effectLst/>
              <a:uFillTx/>
              <a:latin typeface="Arial"/>
            </a:endParaRPr>
          </a:p>
        </p:txBody>
      </p:sp>
      <p:sp>
        <p:nvSpPr>
          <p:cNvPr id="65" name="Shape 3"/>
          <p:cNvSpPr/>
          <p:nvPr/>
        </p:nvSpPr>
        <p:spPr>
          <a:xfrm>
            <a:off x="255960" y="1170360"/>
            <a:ext cx="3885840" cy="3337200"/>
          </a:xfrm>
          <a:prstGeom prst="rect">
            <a:avLst/>
          </a:prstGeom>
          <a:solidFill>
            <a:srgbClr val="1A2B3C"/>
          </a:solidFill>
          <a:ln w="12700">
            <a:solidFill>
              <a:srgbClr val="0EA5E9"/>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6" name="Shape 4"/>
          <p:cNvSpPr/>
          <p:nvPr/>
        </p:nvSpPr>
        <p:spPr>
          <a:xfrm>
            <a:off x="255960" y="1170360"/>
            <a:ext cx="3885840" cy="438480"/>
          </a:xfrm>
          <a:prstGeom prst="rect">
            <a:avLst/>
          </a:prstGeom>
          <a:solidFill>
            <a:srgbClr val="0EA5E9"/>
          </a:solidFill>
          <a:ln w="12700">
            <a:solidFill>
              <a:srgbClr val="0EA5E9"/>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67" name="Text 5"/>
          <p:cNvSpPr/>
          <p:nvPr/>
        </p:nvSpPr>
        <p:spPr>
          <a:xfrm>
            <a:off x="255960" y="1170360"/>
            <a:ext cx="3885840" cy="438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BULEGOA — IT SAREA</a:t>
            </a:r>
            <a:endParaRPr lang="en-US" sz="1300" b="0" u="none" strike="noStrike">
              <a:solidFill>
                <a:srgbClr val="FFFFFF"/>
              </a:solidFill>
              <a:effectLst/>
              <a:uFillTx/>
              <a:latin typeface="Arial"/>
            </a:endParaRPr>
          </a:p>
        </p:txBody>
      </p:sp>
      <p:sp>
        <p:nvSpPr>
          <p:cNvPr id="68" name="Text 6"/>
          <p:cNvSpPr/>
          <p:nvPr/>
        </p:nvSpPr>
        <p:spPr>
          <a:xfrm>
            <a:off x="411480" y="1719000"/>
            <a:ext cx="358416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0" u="none" strike="noStrike">
                <a:solidFill>
                  <a:srgbClr val="CBD5E1"/>
                </a:solidFill>
                <a:effectLst/>
                <a:uFillTx/>
                <a:latin typeface="Calibri"/>
                <a:ea typeface="Calibri"/>
              </a:rPr>
              <a:t>Posta elektronikoa (phishing bektore #1)</a:t>
            </a:r>
            <a:endParaRPr lang="en-US" sz="1200" b="0" u="none" strike="noStrike">
              <a:solidFill>
                <a:srgbClr val="FFFFFF"/>
              </a:solidFill>
              <a:effectLst/>
              <a:uFillTx/>
              <a:latin typeface="Arial"/>
            </a:endParaRPr>
          </a:p>
        </p:txBody>
      </p:sp>
      <p:sp>
        <p:nvSpPr>
          <p:cNvPr id="69" name="Text 7"/>
          <p:cNvSpPr/>
          <p:nvPr/>
        </p:nvSpPr>
        <p:spPr>
          <a:xfrm>
            <a:off x="411480" y="2267640"/>
            <a:ext cx="358416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0" u="none" strike="noStrike">
                <a:solidFill>
                  <a:srgbClr val="CBD5E1"/>
                </a:solidFill>
                <a:effectLst/>
                <a:uFillTx/>
                <a:latin typeface="Calibri"/>
                <a:ea typeface="Calibri"/>
              </a:rPr>
              <a:t>Langile-estazio pertsonalak (100+)</a:t>
            </a:r>
            <a:endParaRPr lang="en-US" sz="1200" b="0" u="none" strike="noStrike">
              <a:solidFill>
                <a:srgbClr val="FFFFFF"/>
              </a:solidFill>
              <a:effectLst/>
              <a:uFillTx/>
              <a:latin typeface="Arial"/>
            </a:endParaRPr>
          </a:p>
        </p:txBody>
      </p:sp>
      <p:sp>
        <p:nvSpPr>
          <p:cNvPr id="70" name="Text 8"/>
          <p:cNvSpPr/>
          <p:nvPr/>
        </p:nvSpPr>
        <p:spPr>
          <a:xfrm>
            <a:off x="411480" y="2816280"/>
            <a:ext cx="358416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0" u="none" strike="noStrike">
                <a:solidFill>
                  <a:srgbClr val="CBD5E1"/>
                </a:solidFill>
                <a:effectLst/>
                <a:uFillTx/>
                <a:latin typeface="Calibri"/>
                <a:ea typeface="Calibri"/>
              </a:rPr>
              <a:t>Internet sarbidea zuzenekoa</a:t>
            </a:r>
            <a:endParaRPr lang="en-US" sz="1200" b="0" u="none" strike="noStrike">
              <a:solidFill>
                <a:srgbClr val="FFFFFF"/>
              </a:solidFill>
              <a:effectLst/>
              <a:uFillTx/>
              <a:latin typeface="Arial"/>
            </a:endParaRPr>
          </a:p>
        </p:txBody>
      </p:sp>
      <p:sp>
        <p:nvSpPr>
          <p:cNvPr id="71" name="Text 9"/>
          <p:cNvSpPr/>
          <p:nvPr/>
        </p:nvSpPr>
        <p:spPr>
          <a:xfrm>
            <a:off x="411480" y="3364920"/>
            <a:ext cx="358416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0" u="none" strike="noStrike">
                <a:solidFill>
                  <a:srgbClr val="CBD5E1"/>
                </a:solidFill>
                <a:effectLst/>
                <a:uFillTx/>
                <a:latin typeface="Calibri"/>
                <a:ea typeface="Calibri"/>
              </a:rPr>
              <a:t>Cloud zerbitzuak: ERP, Office 365</a:t>
            </a:r>
            <a:endParaRPr lang="en-US" sz="1200" b="0" u="none" strike="noStrike">
              <a:solidFill>
                <a:srgbClr val="FFFFFF"/>
              </a:solidFill>
              <a:effectLst/>
              <a:uFillTx/>
              <a:latin typeface="Arial"/>
            </a:endParaRPr>
          </a:p>
        </p:txBody>
      </p:sp>
      <p:sp>
        <p:nvSpPr>
          <p:cNvPr id="72" name="Shape 10"/>
          <p:cNvSpPr/>
          <p:nvPr/>
        </p:nvSpPr>
        <p:spPr>
          <a:xfrm>
            <a:off x="4251960" y="1783080"/>
            <a:ext cx="639720" cy="639720"/>
          </a:xfrm>
          <a:prstGeom prst="ellipse">
            <a:avLst/>
          </a:prstGeom>
          <a:solidFill>
            <a:srgbClr val="DC2626"/>
          </a:solidFill>
          <a:ln w="12700">
            <a:solidFill>
              <a:srgbClr val="DC262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3" name="Text 11"/>
          <p:cNvSpPr/>
          <p:nvPr/>
        </p:nvSpPr>
        <p:spPr>
          <a:xfrm>
            <a:off x="4251960" y="1801440"/>
            <a:ext cx="639720" cy="5940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800" b="1" u="none" strike="noStrike">
                <a:solidFill>
                  <a:srgbClr val="FFFFFF"/>
                </a:solidFill>
                <a:effectLst/>
                <a:uFillTx/>
                <a:latin typeface="Georgia"/>
                <a:ea typeface="Georgia"/>
              </a:rPr>
              <a:t>!</a:t>
            </a:r>
            <a:endParaRPr lang="en-US" sz="2800" b="0" u="none" strike="noStrike">
              <a:solidFill>
                <a:srgbClr val="FFFFFF"/>
              </a:solidFill>
              <a:effectLst/>
              <a:uFillTx/>
              <a:latin typeface="Arial"/>
            </a:endParaRPr>
          </a:p>
        </p:txBody>
      </p:sp>
      <p:sp>
        <p:nvSpPr>
          <p:cNvPr id="74" name="Shape 12"/>
          <p:cNvSpPr/>
          <p:nvPr/>
        </p:nvSpPr>
        <p:spPr>
          <a:xfrm>
            <a:off x="4572000" y="2514600"/>
            <a:ext cx="0" cy="1965960"/>
          </a:xfrm>
          <a:prstGeom prst="line">
            <a:avLst/>
          </a:prstGeom>
          <a:ln w="25400">
            <a:solidFill>
              <a:srgbClr val="DC2626"/>
            </a:solidFill>
            <a:prstDash val="dash"/>
            <a:round/>
          </a:ln>
        </p:spPr>
        <p:style>
          <a:lnRef idx="0"/>
          <a:fillRef idx="0"/>
          <a:effectRef idx="0"/>
          <a:fontRef idx="minor"/>
        </p:style>
        <p:txBody>
          <a:bodyPr lIns="90000" tIns="45000" rIns="90000" bIns="45000" anchor="t" anchorCtr="1">
            <a:noAutofit/>
          </a:bodyPr>
          <a:p>
            <a:endParaRPr lang="en-US" sz="1800" b="0" u="none" strike="noStrike">
              <a:solidFill>
                <a:srgbClr val="FFFFFF"/>
              </a:solidFill>
              <a:effectLst/>
              <a:uFillTx/>
              <a:latin typeface="Arial"/>
            </a:endParaRPr>
          </a:p>
        </p:txBody>
      </p:sp>
      <p:sp>
        <p:nvSpPr>
          <p:cNvPr id="75" name="Shape 13"/>
          <p:cNvSpPr/>
          <p:nvPr/>
        </p:nvSpPr>
        <p:spPr>
          <a:xfrm>
            <a:off x="5001840" y="1170360"/>
            <a:ext cx="3885840" cy="3337200"/>
          </a:xfrm>
          <a:prstGeom prst="rect">
            <a:avLst/>
          </a:prstGeom>
          <a:solidFill>
            <a:srgbClr val="1A2B1A"/>
          </a:solidFill>
          <a:ln w="12700">
            <a:solidFill>
              <a:srgbClr val="F9731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6" name="Shape 14"/>
          <p:cNvSpPr/>
          <p:nvPr/>
        </p:nvSpPr>
        <p:spPr>
          <a:xfrm>
            <a:off x="5001840" y="1170360"/>
            <a:ext cx="3885840" cy="438480"/>
          </a:xfrm>
          <a:prstGeom prst="rect">
            <a:avLst/>
          </a:prstGeom>
          <a:solidFill>
            <a:srgbClr val="F97316"/>
          </a:solidFill>
          <a:ln w="12700">
            <a:solidFill>
              <a:srgbClr val="F9731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77" name="Text 15"/>
          <p:cNvSpPr/>
          <p:nvPr/>
        </p:nvSpPr>
        <p:spPr>
          <a:xfrm>
            <a:off x="5001840" y="1170360"/>
            <a:ext cx="3885840" cy="438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FFFFFF"/>
                </a:solidFill>
                <a:effectLst/>
                <a:uFillTx/>
                <a:latin typeface="Calibri"/>
                <a:ea typeface="Calibri"/>
              </a:rPr>
              <a:t>FABRIKA — OT/SCADA SAREA</a:t>
            </a:r>
            <a:endParaRPr lang="en-US" sz="1300" b="0" u="none" strike="noStrike">
              <a:solidFill>
                <a:srgbClr val="FFFFFF"/>
              </a:solidFill>
              <a:effectLst/>
              <a:uFillTx/>
              <a:latin typeface="Arial"/>
            </a:endParaRPr>
          </a:p>
        </p:txBody>
      </p:sp>
      <p:sp>
        <p:nvSpPr>
          <p:cNvPr id="78" name="Text 16"/>
          <p:cNvSpPr/>
          <p:nvPr/>
        </p:nvSpPr>
        <p:spPr>
          <a:xfrm>
            <a:off x="5139000" y="1719000"/>
            <a:ext cx="358416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0" u="none" strike="noStrike">
                <a:solidFill>
                  <a:srgbClr val="CBD5E1"/>
                </a:solidFill>
                <a:effectLst/>
                <a:uFillTx/>
                <a:latin typeface="Calibri"/>
                <a:ea typeface="Calibri"/>
              </a:rPr>
              <a:t>OpenPLC kontrolagailua (ekoizpen-lerro osoa)</a:t>
            </a:r>
            <a:endParaRPr lang="en-US" sz="1200" b="0" u="none" strike="noStrike">
              <a:solidFill>
                <a:srgbClr val="FFFFFF"/>
              </a:solidFill>
              <a:effectLst/>
              <a:uFillTx/>
              <a:latin typeface="Arial"/>
            </a:endParaRPr>
          </a:p>
        </p:txBody>
      </p:sp>
      <p:sp>
        <p:nvSpPr>
          <p:cNvPr id="79" name="Text 17"/>
          <p:cNvSpPr/>
          <p:nvPr/>
        </p:nvSpPr>
        <p:spPr>
          <a:xfrm>
            <a:off x="5139000" y="2267640"/>
            <a:ext cx="358416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0" u="none" strike="noStrike">
                <a:solidFill>
                  <a:srgbClr val="CBD5E1"/>
                </a:solidFill>
                <a:effectLst/>
                <a:uFillTx/>
                <a:latin typeface="Calibri"/>
                <a:ea typeface="Calibri"/>
              </a:rPr>
              <a:t>SCADA HMI sistema (ScadaBR, port 9090)</a:t>
            </a:r>
            <a:endParaRPr lang="en-US" sz="1200" b="0" u="none" strike="noStrike">
              <a:solidFill>
                <a:srgbClr val="FFFFFF"/>
              </a:solidFill>
              <a:effectLst/>
              <a:uFillTx/>
              <a:latin typeface="Arial"/>
            </a:endParaRPr>
          </a:p>
        </p:txBody>
      </p:sp>
      <p:sp>
        <p:nvSpPr>
          <p:cNvPr id="80" name="Text 18"/>
          <p:cNvSpPr/>
          <p:nvPr/>
        </p:nvSpPr>
        <p:spPr>
          <a:xfrm>
            <a:off x="5139000" y="2816280"/>
            <a:ext cx="358416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0" u="none" strike="noStrike">
                <a:solidFill>
                  <a:srgbClr val="CBD5E1"/>
                </a:solidFill>
                <a:effectLst/>
                <a:uFillTx/>
                <a:latin typeface="Calibri"/>
                <a:ea typeface="Calibri"/>
              </a:rPr>
              <a:t>Tenperatura-sentsoreak (Modbus TCP 502)</a:t>
            </a:r>
            <a:endParaRPr lang="en-US" sz="1200" b="0" u="none" strike="noStrike">
              <a:solidFill>
                <a:srgbClr val="FFFFFF"/>
              </a:solidFill>
              <a:effectLst/>
              <a:uFillTx/>
              <a:latin typeface="Arial"/>
            </a:endParaRPr>
          </a:p>
        </p:txBody>
      </p:sp>
      <p:sp>
        <p:nvSpPr>
          <p:cNvPr id="81" name="Text 19"/>
          <p:cNvSpPr/>
          <p:nvPr/>
        </p:nvSpPr>
        <p:spPr>
          <a:xfrm>
            <a:off x="5139000" y="3364920"/>
            <a:ext cx="358416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1" u="none" strike="noStrike">
                <a:solidFill>
                  <a:srgbClr val="DC2626"/>
                </a:solidFill>
                <a:effectLst/>
                <a:uFillTx/>
                <a:latin typeface="Calibri"/>
                <a:ea typeface="Calibri"/>
              </a:rPr>
              <a:t>PORT 502 / OPC-UA: INTERNETI IREKITA!</a:t>
            </a:r>
            <a:endParaRPr lang="en-US" sz="1200" b="0" u="none" strike="noStrike">
              <a:solidFill>
                <a:srgbClr val="FFFFFF"/>
              </a:solidFill>
              <a:effectLst/>
              <a:uFillTx/>
              <a:latin typeface="Arial"/>
            </a:endParaRPr>
          </a:p>
        </p:txBody>
      </p:sp>
      <p:sp>
        <p:nvSpPr>
          <p:cNvPr id="82" name="Shape 20"/>
          <p:cNvSpPr/>
          <p:nvPr/>
        </p:nvSpPr>
        <p:spPr>
          <a:xfrm>
            <a:off x="255960" y="4590360"/>
            <a:ext cx="8631720" cy="347040"/>
          </a:xfrm>
          <a:prstGeom prst="rect">
            <a:avLst/>
          </a:prstGeom>
          <a:solidFill>
            <a:srgbClr val="DC2626">
              <a:alpha val="20000"/>
            </a:srgbClr>
          </a:solidFill>
          <a:ln w="12700">
            <a:solidFill>
              <a:srgbClr val="DC262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3" name="Text 21"/>
          <p:cNvSpPr/>
          <p:nvPr/>
        </p:nvSpPr>
        <p:spPr>
          <a:xfrm>
            <a:off x="320040" y="4608720"/>
            <a:ext cx="8503560" cy="310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FFFFFF"/>
                </a:solidFill>
                <a:effectLst/>
                <a:uFillTx/>
                <a:latin typeface="Calibri"/>
                <a:ea typeface="Calibri"/>
              </a:rPr>
              <a:t>Auditorian aurkitutako arrisku kritikoa: OT sistemak Interneti zuzenean irekita zeuden. Ekoizpen-lerro osoa urrunetik geldiarazi zitekeen.</a:t>
            </a:r>
            <a:endParaRPr lang="en-US" sz="10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2D4A"/>
        </a:solidFill>
      </p:bgPr>
    </p:bg>
    <p:spTree>
      <p:nvGrpSpPr>
        <p:cNvPr id="1" name=""/>
        <p:cNvGrpSpPr/>
        <p:nvPr/>
      </p:nvGrpSpPr>
      <p:grpSpPr>
        <a:xfrm>
          <a:off x="0" y="0"/>
          <a:ext cx="0" cy="0"/>
          <a:chOff x="0" y="0"/>
          <a:chExt cx="0" cy="0"/>
        </a:xfrm>
      </p:grpSpPr>
      <p:sp>
        <p:nvSpPr>
          <p:cNvPr id="84" name="Shape 0"/>
          <p:cNvSpPr/>
          <p:nvPr/>
        </p:nvSpPr>
        <p:spPr>
          <a:xfrm>
            <a:off x="0" y="0"/>
            <a:ext cx="9143640" cy="529920"/>
          </a:xfrm>
          <a:prstGeom prst="rect">
            <a:avLst/>
          </a:prstGeom>
          <a:solidFill>
            <a:srgbClr val="1A3F63"/>
          </a:solidFill>
          <a:ln w="12700">
            <a:solidFill>
              <a:srgbClr val="1A3F6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5" name="Text 1"/>
          <p:cNvSpPr/>
          <p:nvPr/>
        </p:nvSpPr>
        <p:spPr>
          <a:xfrm>
            <a:off x="411480" y="91440"/>
            <a:ext cx="8320680" cy="338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pc="201" strike="noStrike">
                <a:solidFill>
                  <a:srgbClr val="C8A96E"/>
                </a:solidFill>
                <a:effectLst/>
                <a:uFillTx/>
                <a:latin typeface="Calibri"/>
                <a:ea typeface="Calibri"/>
              </a:rPr>
              <a:t>02 · GURE ESTRATEGIA: ZERO TRUST ETA ARKITEKTURA SEGURUA</a:t>
            </a:r>
            <a:endParaRPr lang="en-US" sz="1000" b="0" u="none" strike="noStrike">
              <a:solidFill>
                <a:srgbClr val="FFFFFF"/>
              </a:solidFill>
              <a:effectLst/>
              <a:uFillTx/>
              <a:latin typeface="Arial"/>
            </a:endParaRPr>
          </a:p>
        </p:txBody>
      </p:sp>
      <p:sp>
        <p:nvSpPr>
          <p:cNvPr id="86" name="Text 2"/>
          <p:cNvSpPr/>
          <p:nvPr/>
        </p:nvSpPr>
        <p:spPr>
          <a:xfrm>
            <a:off x="411480" y="621720"/>
            <a:ext cx="5120280" cy="959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trike="noStrike">
                <a:solidFill>
                  <a:srgbClr val="FFFFFF"/>
                </a:solidFill>
                <a:effectLst/>
                <a:uFillTx/>
                <a:latin typeface="Georgia"/>
                <a:ea typeface="Georgia"/>
              </a:rPr>
              <a:t>"Ez Fidatu, Beti Egiaztatu"</a:t>
            </a:r>
            <a:endParaRPr lang="en-US" sz="2600" b="0" u="none" strike="noStrike">
              <a:solidFill>
                <a:srgbClr val="FFFFFF"/>
              </a:solidFill>
              <a:effectLst/>
              <a:uFillTx/>
              <a:latin typeface="Arial"/>
            </a:endParaRPr>
          </a:p>
          <a:p>
            <a:pPr defTabSz="914400">
              <a:lnSpc>
                <a:spcPct val="100000"/>
              </a:lnSpc>
              <a:tabLst>
                <a:tab pos="0" algn="l"/>
              </a:tabLst>
            </a:pPr>
            <a:r>
              <a:rPr lang="en-US" sz="2600" b="1" u="none" strike="noStrike">
                <a:solidFill>
                  <a:srgbClr val="FFFFFF"/>
                </a:solidFill>
                <a:effectLst/>
                <a:uFillTx/>
                <a:latin typeface="Georgia"/>
                <a:ea typeface="Georgia"/>
              </a:rPr>
              <a:t>Zero Trust Segurtasun Arkitektura</a:t>
            </a:r>
            <a:endParaRPr lang="en-US" sz="2600" b="0" u="none" strike="noStrike">
              <a:solidFill>
                <a:srgbClr val="FFFFFF"/>
              </a:solidFill>
              <a:effectLst/>
              <a:uFillTx/>
              <a:latin typeface="Arial"/>
            </a:endParaRPr>
          </a:p>
        </p:txBody>
      </p:sp>
      <p:sp>
        <p:nvSpPr>
          <p:cNvPr id="87" name="Shape 3"/>
          <p:cNvSpPr/>
          <p:nvPr/>
        </p:nvSpPr>
        <p:spPr>
          <a:xfrm>
            <a:off x="274320" y="1719000"/>
            <a:ext cx="2788560" cy="2651400"/>
          </a:xfrm>
          <a:prstGeom prst="rect">
            <a:avLst/>
          </a:prstGeom>
          <a:solidFill>
            <a:srgbClr val="1A3F63"/>
          </a:solidFill>
          <a:ln w="12700">
            <a:solidFill>
              <a:srgbClr val="C8A96E"/>
            </a:solidFill>
            <a:round/>
          </a:ln>
          <a:effectLst>
            <a:outerShdw algn="bl" blurRad="101520" dir="8100000" dist="37674" kx="0" ky="0" rotWithShape="0" sx="100000" sy="100000">
              <a:srgbClr val="000000">
                <a:alpha val="1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8" name="Shape 4"/>
          <p:cNvSpPr/>
          <p:nvPr/>
        </p:nvSpPr>
        <p:spPr>
          <a:xfrm>
            <a:off x="1261800" y="1883520"/>
            <a:ext cx="804240" cy="804240"/>
          </a:xfrm>
          <a:prstGeom prst="ellipse">
            <a:avLst/>
          </a:prstGeom>
          <a:solidFill>
            <a:srgbClr val="C8A96E"/>
          </a:solidFill>
          <a:ln w="12700">
            <a:solidFill>
              <a:srgbClr val="C8A96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9" name="Text 5"/>
          <p:cNvSpPr/>
          <p:nvPr/>
        </p:nvSpPr>
        <p:spPr>
          <a:xfrm>
            <a:off x="1261800" y="1883520"/>
            <a:ext cx="804240" cy="8042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200" b="1" u="none" strike="noStrike">
                <a:solidFill>
                  <a:srgbClr val="0F2D4A"/>
                </a:solidFill>
                <a:effectLst/>
                <a:uFillTx/>
                <a:latin typeface="Georgia"/>
                <a:ea typeface="Georgia"/>
              </a:rPr>
              <a:t>1</a:t>
            </a:r>
            <a:endParaRPr lang="en-US" sz="2200" b="0" u="none" strike="noStrike">
              <a:solidFill>
                <a:srgbClr val="FFFFFF"/>
              </a:solidFill>
              <a:effectLst/>
              <a:uFillTx/>
              <a:latin typeface="Arial"/>
            </a:endParaRPr>
          </a:p>
        </p:txBody>
      </p:sp>
      <p:sp>
        <p:nvSpPr>
          <p:cNvPr id="90" name="Text 6"/>
          <p:cNvSpPr/>
          <p:nvPr/>
        </p:nvSpPr>
        <p:spPr>
          <a:xfrm>
            <a:off x="384120" y="2797920"/>
            <a:ext cx="2578320" cy="365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500" b="1" u="none" strike="noStrike">
                <a:solidFill>
                  <a:srgbClr val="C8A96E"/>
                </a:solidFill>
                <a:effectLst/>
                <a:uFillTx/>
                <a:latin typeface="Calibri"/>
                <a:ea typeface="Calibri"/>
              </a:rPr>
              <a:t>Inoiz Ez Fidatu</a:t>
            </a:r>
            <a:endParaRPr lang="en-US" sz="1500" b="0" u="none" strike="noStrike">
              <a:solidFill>
                <a:srgbClr val="FFFFFF"/>
              </a:solidFill>
              <a:effectLst/>
              <a:uFillTx/>
              <a:latin typeface="Arial"/>
            </a:endParaRPr>
          </a:p>
        </p:txBody>
      </p:sp>
      <p:sp>
        <p:nvSpPr>
          <p:cNvPr id="91" name="Text 7"/>
          <p:cNvSpPr/>
          <p:nvPr/>
        </p:nvSpPr>
        <p:spPr>
          <a:xfrm>
            <a:off x="384120" y="3200400"/>
            <a:ext cx="2578320" cy="1005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0" u="none" strike="noStrike">
                <a:solidFill>
                  <a:srgbClr val="B0C4D8"/>
                </a:solidFill>
                <a:effectLst/>
                <a:uFillTx/>
                <a:latin typeface="Calibri"/>
                <a:ea typeface="Calibri"/>
              </a:rPr>
              <a:t>Sare barnekoa izanda ere, erabiltzaile eta gailu oro susmagarri jotzen da autentifikazio arrakastatsu baten arte</a:t>
            </a:r>
            <a:endParaRPr lang="en-US" sz="1100" b="0" u="none" strike="noStrike">
              <a:solidFill>
                <a:srgbClr val="FFFFFF"/>
              </a:solidFill>
              <a:effectLst/>
              <a:uFillTx/>
              <a:latin typeface="Arial"/>
            </a:endParaRPr>
          </a:p>
        </p:txBody>
      </p:sp>
      <p:sp>
        <p:nvSpPr>
          <p:cNvPr id="92" name="Shape 8"/>
          <p:cNvSpPr/>
          <p:nvPr/>
        </p:nvSpPr>
        <p:spPr>
          <a:xfrm>
            <a:off x="3227760" y="1719000"/>
            <a:ext cx="2788560" cy="2651400"/>
          </a:xfrm>
          <a:prstGeom prst="rect">
            <a:avLst/>
          </a:prstGeom>
          <a:solidFill>
            <a:srgbClr val="1A3F63"/>
          </a:solidFill>
          <a:ln w="12700">
            <a:solidFill>
              <a:srgbClr val="C8A96E"/>
            </a:solidFill>
            <a:round/>
          </a:ln>
          <a:effectLst>
            <a:outerShdw algn="bl" blurRad="101520" dir="8100000" dist="37674" kx="0" ky="0" rotWithShape="0" sx="100000" sy="100000">
              <a:srgbClr val="000000">
                <a:alpha val="1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3" name="Shape 9"/>
          <p:cNvSpPr/>
          <p:nvPr/>
        </p:nvSpPr>
        <p:spPr>
          <a:xfrm>
            <a:off x="4215240" y="1883520"/>
            <a:ext cx="804240" cy="804240"/>
          </a:xfrm>
          <a:prstGeom prst="ellipse">
            <a:avLst/>
          </a:prstGeom>
          <a:solidFill>
            <a:srgbClr val="C8A96E"/>
          </a:solidFill>
          <a:ln w="12700">
            <a:solidFill>
              <a:srgbClr val="C8A96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4" name="Text 10"/>
          <p:cNvSpPr/>
          <p:nvPr/>
        </p:nvSpPr>
        <p:spPr>
          <a:xfrm>
            <a:off x="4215240" y="1883520"/>
            <a:ext cx="804240" cy="8042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200" b="1" u="none" strike="noStrike">
                <a:solidFill>
                  <a:srgbClr val="0F2D4A"/>
                </a:solidFill>
                <a:effectLst/>
                <a:uFillTx/>
                <a:latin typeface="Georgia"/>
                <a:ea typeface="Georgia"/>
              </a:rPr>
              <a:t>2</a:t>
            </a:r>
            <a:endParaRPr lang="en-US" sz="2200" b="0" u="none" strike="noStrike">
              <a:solidFill>
                <a:srgbClr val="FFFFFF"/>
              </a:solidFill>
              <a:effectLst/>
              <a:uFillTx/>
              <a:latin typeface="Arial"/>
            </a:endParaRPr>
          </a:p>
        </p:txBody>
      </p:sp>
      <p:sp>
        <p:nvSpPr>
          <p:cNvPr id="95" name="Text 11"/>
          <p:cNvSpPr/>
          <p:nvPr/>
        </p:nvSpPr>
        <p:spPr>
          <a:xfrm>
            <a:off x="3337560" y="2797920"/>
            <a:ext cx="2578320" cy="365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500" b="1" u="none" strike="noStrike">
                <a:solidFill>
                  <a:srgbClr val="C8A96E"/>
                </a:solidFill>
                <a:effectLst/>
                <a:uFillTx/>
                <a:latin typeface="Calibri"/>
                <a:ea typeface="Calibri"/>
              </a:rPr>
              <a:t>Beti Egiaztatu</a:t>
            </a:r>
            <a:endParaRPr lang="en-US" sz="1500" b="0" u="none" strike="noStrike">
              <a:solidFill>
                <a:srgbClr val="FFFFFF"/>
              </a:solidFill>
              <a:effectLst/>
              <a:uFillTx/>
              <a:latin typeface="Arial"/>
            </a:endParaRPr>
          </a:p>
        </p:txBody>
      </p:sp>
      <p:sp>
        <p:nvSpPr>
          <p:cNvPr id="96" name="Text 12"/>
          <p:cNvSpPr/>
          <p:nvPr/>
        </p:nvSpPr>
        <p:spPr>
          <a:xfrm>
            <a:off x="3337560" y="3200400"/>
            <a:ext cx="2578320" cy="1005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0" u="none" strike="noStrike">
                <a:solidFill>
                  <a:srgbClr val="B0C4D8"/>
                </a:solidFill>
                <a:effectLst/>
                <a:uFillTx/>
                <a:latin typeface="Calibri"/>
                <a:ea typeface="Calibri"/>
              </a:rPr>
              <a:t>MFA, JWT tokenak eta RBAC (5 rol) erabiliz, sarbide bakoitza indibidualizatuta egiaztatzen da banan-banan</a:t>
            </a:r>
            <a:endParaRPr lang="en-US" sz="1100" b="0" u="none" strike="noStrike">
              <a:solidFill>
                <a:srgbClr val="FFFFFF"/>
              </a:solidFill>
              <a:effectLst/>
              <a:uFillTx/>
              <a:latin typeface="Arial"/>
            </a:endParaRPr>
          </a:p>
        </p:txBody>
      </p:sp>
      <p:sp>
        <p:nvSpPr>
          <p:cNvPr id="97" name="Shape 13"/>
          <p:cNvSpPr/>
          <p:nvPr/>
        </p:nvSpPr>
        <p:spPr>
          <a:xfrm>
            <a:off x="6181200" y="1719000"/>
            <a:ext cx="2788560" cy="2651400"/>
          </a:xfrm>
          <a:prstGeom prst="rect">
            <a:avLst/>
          </a:prstGeom>
          <a:solidFill>
            <a:srgbClr val="1A3F63"/>
          </a:solidFill>
          <a:ln w="12700">
            <a:solidFill>
              <a:srgbClr val="C8A96E"/>
            </a:solidFill>
            <a:round/>
          </a:ln>
          <a:effectLst>
            <a:outerShdw algn="bl" blurRad="101520" dir="8100000" dist="37674" kx="0" ky="0" rotWithShape="0" sx="100000" sy="100000">
              <a:srgbClr val="000000">
                <a:alpha val="1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98" name="Shape 14"/>
          <p:cNvSpPr/>
          <p:nvPr/>
        </p:nvSpPr>
        <p:spPr>
          <a:xfrm>
            <a:off x="7169040" y="1883520"/>
            <a:ext cx="804240" cy="804240"/>
          </a:xfrm>
          <a:prstGeom prst="ellipse">
            <a:avLst/>
          </a:prstGeom>
          <a:solidFill>
            <a:srgbClr val="C8A96E"/>
          </a:solidFill>
          <a:ln w="12700">
            <a:solidFill>
              <a:srgbClr val="C8A96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9" name="Text 15"/>
          <p:cNvSpPr/>
          <p:nvPr/>
        </p:nvSpPr>
        <p:spPr>
          <a:xfrm>
            <a:off x="7169040" y="1883520"/>
            <a:ext cx="804240" cy="8042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200" b="1" u="none" strike="noStrike">
                <a:solidFill>
                  <a:srgbClr val="0F2D4A"/>
                </a:solidFill>
                <a:effectLst/>
                <a:uFillTx/>
                <a:latin typeface="Georgia"/>
                <a:ea typeface="Georgia"/>
              </a:rPr>
              <a:t>3</a:t>
            </a:r>
            <a:endParaRPr lang="en-US" sz="2200" b="0" u="none" strike="noStrike">
              <a:solidFill>
                <a:srgbClr val="FFFFFF"/>
              </a:solidFill>
              <a:effectLst/>
              <a:uFillTx/>
              <a:latin typeface="Arial"/>
            </a:endParaRPr>
          </a:p>
        </p:txBody>
      </p:sp>
      <p:sp>
        <p:nvSpPr>
          <p:cNvPr id="100" name="Text 16"/>
          <p:cNvSpPr/>
          <p:nvPr/>
        </p:nvSpPr>
        <p:spPr>
          <a:xfrm>
            <a:off x="6291000" y="2797920"/>
            <a:ext cx="2578320" cy="3654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500" b="1" u="none" strike="noStrike">
                <a:solidFill>
                  <a:srgbClr val="C8A96E"/>
                </a:solidFill>
                <a:effectLst/>
                <a:uFillTx/>
                <a:latin typeface="Calibri"/>
                <a:ea typeface="Calibri"/>
              </a:rPr>
              <a:t>Pribilegio Minimoa</a:t>
            </a:r>
            <a:endParaRPr lang="en-US" sz="1500" b="0" u="none" strike="noStrike">
              <a:solidFill>
                <a:srgbClr val="FFFFFF"/>
              </a:solidFill>
              <a:effectLst/>
              <a:uFillTx/>
              <a:latin typeface="Arial"/>
            </a:endParaRPr>
          </a:p>
        </p:txBody>
      </p:sp>
      <p:sp>
        <p:nvSpPr>
          <p:cNvPr id="101" name="Text 17"/>
          <p:cNvSpPr/>
          <p:nvPr/>
        </p:nvSpPr>
        <p:spPr>
          <a:xfrm>
            <a:off x="6291000" y="3200400"/>
            <a:ext cx="2578320" cy="1005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0" u="none" strike="noStrike">
                <a:solidFill>
                  <a:srgbClr val="B0C4D8"/>
                </a:solidFill>
                <a:effectLst/>
                <a:uFillTx/>
                <a:latin typeface="Calibri"/>
                <a:ea typeface="Calibri"/>
              </a:rPr>
              <a:t>Langile bakoitzak beharrezko datutara soilik du sarbidea. Ez gehiago, ez gutxiago. Kalte posiblea mugatzen da</a:t>
            </a:r>
            <a:endParaRPr lang="en-US" sz="1100" b="0" u="none" strike="noStrike">
              <a:solidFill>
                <a:srgbClr val="FFFFFF"/>
              </a:solidFill>
              <a:effectLst/>
              <a:uFillTx/>
              <a:latin typeface="Arial"/>
            </a:endParaRPr>
          </a:p>
        </p:txBody>
      </p:sp>
      <p:sp>
        <p:nvSpPr>
          <p:cNvPr id="102" name="Shape 18"/>
          <p:cNvSpPr/>
          <p:nvPr/>
        </p:nvSpPr>
        <p:spPr>
          <a:xfrm>
            <a:off x="5669280" y="621720"/>
            <a:ext cx="3200040" cy="959760"/>
          </a:xfrm>
          <a:prstGeom prst="rect">
            <a:avLst/>
          </a:prstGeom>
          <a:solidFill>
            <a:srgbClr val="C8A96E">
              <a:alpha val="12000"/>
            </a:srgbClr>
          </a:solidFill>
          <a:ln w="12700">
            <a:solidFill>
              <a:srgbClr val="C8A96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3" name="Text 19"/>
          <p:cNvSpPr/>
          <p:nvPr/>
        </p:nvSpPr>
        <p:spPr>
          <a:xfrm>
            <a:off x="5760720" y="658440"/>
            <a:ext cx="3017160" cy="895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i="1" u="none" strike="noStrike">
                <a:solidFill>
                  <a:srgbClr val="FFFFFF"/>
                </a:solidFill>
                <a:effectLst/>
                <a:uFillTx/>
                <a:latin typeface="Calibri"/>
                <a:ea typeface="Calibri"/>
              </a:rPr>
              <a:t>Emaitza: Erasotzaileak sare barnera sartu arren, ezin du mugitu lateralki sistema batetik bestera. Datu kritikoak babestuta daude.</a:t>
            </a:r>
            <a:endParaRPr lang="en-US" sz="1100" b="0" u="none" strike="noStrike">
              <a:solidFill>
                <a:srgbClr val="FFFFFF"/>
              </a:solidFill>
              <a:effectLst/>
              <a:uFillTx/>
              <a:latin typeface="Arial"/>
            </a:endParaRPr>
          </a:p>
        </p:txBody>
      </p:sp>
      <p:sp>
        <p:nvSpPr>
          <p:cNvPr id="104" name="Shape 20"/>
          <p:cNvSpPr/>
          <p:nvPr/>
        </p:nvSpPr>
        <p:spPr>
          <a:xfrm>
            <a:off x="0" y="4937760"/>
            <a:ext cx="9143640" cy="205560"/>
          </a:xfrm>
          <a:prstGeom prst="rect">
            <a:avLst/>
          </a:prstGeom>
          <a:solidFill>
            <a:srgbClr val="0A1E30"/>
          </a:solidFill>
          <a:ln w="12700">
            <a:solidFill>
              <a:srgbClr val="0A1E3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5" name="Text 21"/>
          <p:cNvSpPr/>
          <p:nvPr/>
        </p:nvSpPr>
        <p:spPr>
          <a:xfrm>
            <a:off x="274320" y="4946760"/>
            <a:ext cx="8595000" cy="1825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C8A96E"/>
                </a:solidFill>
                <a:effectLst/>
                <a:uFillTx/>
                <a:latin typeface="Calibri"/>
                <a:ea typeface="Calibri"/>
              </a:rPr>
              <a:t>Zabala Gailetak · Zibersegurtasun Entrega 2026</a:t>
            </a:r>
            <a:endParaRPr lang="en-US" sz="900" b="0" u="none" strike="noStrike">
              <a:solidFill>
                <a:srgbClr val="FFFFFF"/>
              </a:solidFill>
              <a:effectLst/>
              <a:uFillTx/>
              <a:latin typeface="Arial"/>
            </a:endParaRPr>
          </a:p>
        </p:txBody>
      </p:sp>
      <p:sp>
        <p:nvSpPr>
          <p:cNvPr id="106" name="Text 22"/>
          <p:cNvSpPr/>
          <p:nvPr/>
        </p:nvSpPr>
        <p:spPr>
          <a:xfrm>
            <a:off x="274320" y="4946760"/>
            <a:ext cx="8595000" cy="18252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4 / 14</a:t>
            </a:r>
            <a:endParaRPr lang="en-US"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107" name="Shape 0"/>
          <p:cNvSpPr/>
          <p:nvPr/>
        </p:nvSpPr>
        <p:spPr>
          <a:xfrm>
            <a:off x="0" y="0"/>
            <a:ext cx="9143640" cy="1096920"/>
          </a:xfrm>
          <a:prstGeom prst="rect">
            <a:avLst/>
          </a:prstGeom>
          <a:solidFill>
            <a:srgbClr val="0F2D4A"/>
          </a:solidFill>
          <a:ln w="1270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8" name="Text 1"/>
          <p:cNvSpPr/>
          <p:nvPr/>
        </p:nvSpPr>
        <p:spPr>
          <a:xfrm>
            <a:off x="457200" y="73080"/>
            <a:ext cx="8229240" cy="237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pc="201" strike="noStrike">
                <a:solidFill>
                  <a:srgbClr val="C8A96E"/>
                </a:solidFill>
                <a:effectLst/>
                <a:uFillTx/>
                <a:latin typeface="Calibri"/>
                <a:ea typeface="Calibri"/>
              </a:rPr>
              <a:t>02 · GURE ESTRATEGIA</a:t>
            </a:r>
            <a:endParaRPr lang="en-US" sz="1000" b="0" u="none" strike="noStrike">
              <a:solidFill>
                <a:srgbClr val="000000"/>
              </a:solidFill>
              <a:effectLst/>
              <a:uFillTx/>
              <a:latin typeface="Arial"/>
            </a:endParaRPr>
          </a:p>
        </p:txBody>
      </p:sp>
      <p:sp>
        <p:nvSpPr>
          <p:cNvPr id="109" name="Text 2"/>
          <p:cNvSpPr/>
          <p:nvPr/>
        </p:nvSpPr>
        <p:spPr>
          <a:xfrm>
            <a:off x="457200" y="347400"/>
            <a:ext cx="8229240" cy="6854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400" b="1" u="none" strike="noStrike">
                <a:solidFill>
                  <a:srgbClr val="FFFFFF"/>
                </a:solidFill>
                <a:effectLst/>
                <a:uFillTx/>
                <a:latin typeface="Georgia"/>
                <a:ea typeface="Georgia"/>
              </a:rPr>
              <a:t>Sare Segmentazioa: Etxe Bakoitza Bere Aterekin (VLAN Arkitektura)</a:t>
            </a:r>
            <a:endParaRPr lang="en-US" sz="2400" b="0" u="none" strike="noStrike">
              <a:solidFill>
                <a:srgbClr val="000000"/>
              </a:solidFill>
              <a:effectLst/>
              <a:uFillTx/>
              <a:latin typeface="Arial"/>
            </a:endParaRPr>
          </a:p>
        </p:txBody>
      </p:sp>
      <p:sp>
        <p:nvSpPr>
          <p:cNvPr id="110" name="Shape 3"/>
          <p:cNvSpPr/>
          <p:nvPr/>
        </p:nvSpPr>
        <p:spPr>
          <a:xfrm>
            <a:off x="274320" y="1143000"/>
            <a:ext cx="8595000" cy="347040"/>
          </a:xfrm>
          <a:prstGeom prst="rect">
            <a:avLst/>
          </a:prstGeom>
          <a:solidFill>
            <a:srgbClr val="0F2D4A"/>
          </a:solidFill>
          <a:ln w="1270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1" name="Text 4"/>
          <p:cNvSpPr/>
          <p:nvPr/>
        </p:nvSpPr>
        <p:spPr>
          <a:xfrm>
            <a:off x="320040" y="1170360"/>
            <a:ext cx="1096920" cy="292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pc="99" strike="noStrike">
                <a:solidFill>
                  <a:srgbClr val="C8A96E"/>
                </a:solidFill>
                <a:effectLst/>
                <a:uFillTx/>
                <a:latin typeface="Calibri"/>
                <a:ea typeface="Calibri"/>
              </a:rPr>
              <a:t>VLAN</a:t>
            </a:r>
            <a:endParaRPr lang="en-US" sz="1000" b="0" u="none" strike="noStrike">
              <a:solidFill>
                <a:srgbClr val="000000"/>
              </a:solidFill>
              <a:effectLst/>
              <a:uFillTx/>
              <a:latin typeface="Arial"/>
            </a:endParaRPr>
          </a:p>
        </p:txBody>
      </p:sp>
      <p:sp>
        <p:nvSpPr>
          <p:cNvPr id="112" name="Text 5"/>
          <p:cNvSpPr/>
          <p:nvPr/>
        </p:nvSpPr>
        <p:spPr>
          <a:xfrm>
            <a:off x="1463040" y="1170360"/>
            <a:ext cx="2194200" cy="292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pc="99" strike="noStrike">
                <a:solidFill>
                  <a:srgbClr val="C8A96E"/>
                </a:solidFill>
                <a:effectLst/>
                <a:uFillTx/>
                <a:latin typeface="Calibri"/>
                <a:ea typeface="Calibri"/>
              </a:rPr>
              <a:t>IZENA</a:t>
            </a:r>
            <a:endParaRPr lang="en-US" sz="1000" b="0" u="none" strike="noStrike">
              <a:solidFill>
                <a:srgbClr val="000000"/>
              </a:solidFill>
              <a:effectLst/>
              <a:uFillTx/>
              <a:latin typeface="Arial"/>
            </a:endParaRPr>
          </a:p>
        </p:txBody>
      </p:sp>
      <p:sp>
        <p:nvSpPr>
          <p:cNvPr id="113" name="Text 6"/>
          <p:cNvSpPr/>
          <p:nvPr/>
        </p:nvSpPr>
        <p:spPr>
          <a:xfrm>
            <a:off x="3703320" y="1170360"/>
            <a:ext cx="1874160" cy="292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pc="99" strike="noStrike">
                <a:solidFill>
                  <a:srgbClr val="C8A96E"/>
                </a:solidFill>
                <a:effectLst/>
                <a:uFillTx/>
                <a:latin typeface="Calibri"/>
                <a:ea typeface="Calibri"/>
              </a:rPr>
              <a:t>IP TARTEA</a:t>
            </a:r>
            <a:endParaRPr lang="en-US" sz="1000" b="0" u="none" strike="noStrike">
              <a:solidFill>
                <a:srgbClr val="000000"/>
              </a:solidFill>
              <a:effectLst/>
              <a:uFillTx/>
              <a:latin typeface="Arial"/>
            </a:endParaRPr>
          </a:p>
        </p:txBody>
      </p:sp>
      <p:sp>
        <p:nvSpPr>
          <p:cNvPr id="114" name="Text 7"/>
          <p:cNvSpPr/>
          <p:nvPr/>
        </p:nvSpPr>
        <p:spPr>
          <a:xfrm>
            <a:off x="5623560" y="1170360"/>
            <a:ext cx="3200040" cy="292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pc="99" strike="noStrike">
                <a:solidFill>
                  <a:srgbClr val="C8A96E"/>
                </a:solidFill>
                <a:effectLst/>
                <a:uFillTx/>
                <a:latin typeface="Calibri"/>
                <a:ea typeface="Calibri"/>
              </a:rPr>
              <a:t>HELBURUA / OHARRA</a:t>
            </a:r>
            <a:endParaRPr lang="en-US" sz="1000" b="0" u="none" strike="noStrike">
              <a:solidFill>
                <a:srgbClr val="000000"/>
              </a:solidFill>
              <a:effectLst/>
              <a:uFillTx/>
              <a:latin typeface="Arial"/>
            </a:endParaRPr>
          </a:p>
        </p:txBody>
      </p:sp>
      <p:sp>
        <p:nvSpPr>
          <p:cNvPr id="115" name="Shape 8"/>
          <p:cNvSpPr/>
          <p:nvPr/>
        </p:nvSpPr>
        <p:spPr>
          <a:xfrm>
            <a:off x="274320" y="1508760"/>
            <a:ext cx="8595000" cy="529920"/>
          </a:xfrm>
          <a:prstGeom prst="rect">
            <a:avLst/>
          </a:prstGeom>
          <a:solidFill>
            <a:srgbClr val="EFF6FF"/>
          </a:solidFill>
          <a:ln w="6350">
            <a:solidFill>
              <a:srgbClr val="E2E8F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6" name="Shape 9"/>
          <p:cNvSpPr/>
          <p:nvPr/>
        </p:nvSpPr>
        <p:spPr>
          <a:xfrm>
            <a:off x="274320" y="1508760"/>
            <a:ext cx="127800" cy="529920"/>
          </a:xfrm>
          <a:prstGeom prst="rect">
            <a:avLst/>
          </a:prstGeom>
          <a:solidFill>
            <a:srgbClr val="0EA5E9"/>
          </a:solidFill>
          <a:ln w="12700">
            <a:solidFill>
              <a:srgbClr val="0EA5E9"/>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17" name="Text 10"/>
          <p:cNvSpPr/>
          <p:nvPr/>
        </p:nvSpPr>
        <p:spPr>
          <a:xfrm>
            <a:off x="457200" y="1508760"/>
            <a:ext cx="987120" cy="529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1E293B"/>
                </a:solidFill>
                <a:effectLst/>
                <a:uFillTx/>
                <a:latin typeface="Calibri"/>
                <a:ea typeface="Calibri"/>
              </a:rPr>
              <a:t>VLAN 10</a:t>
            </a:r>
            <a:endParaRPr lang="en-US" sz="1100" b="0" u="none" strike="noStrike">
              <a:solidFill>
                <a:srgbClr val="000000"/>
              </a:solidFill>
              <a:effectLst/>
              <a:uFillTx/>
              <a:latin typeface="Arial"/>
            </a:endParaRPr>
          </a:p>
        </p:txBody>
      </p:sp>
      <p:sp>
        <p:nvSpPr>
          <p:cNvPr id="118" name="Text 11"/>
          <p:cNvSpPr/>
          <p:nvPr/>
        </p:nvSpPr>
        <p:spPr>
          <a:xfrm>
            <a:off x="1463040" y="1508760"/>
            <a:ext cx="2175840" cy="529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1E293B"/>
                </a:solidFill>
                <a:effectLst/>
                <a:uFillTx/>
                <a:latin typeface="Calibri"/>
                <a:ea typeface="Calibri"/>
              </a:rPr>
              <a:t>Bulegoa / Kudeaketa</a:t>
            </a:r>
            <a:endParaRPr lang="en-US" sz="1100" b="0" u="none" strike="noStrike">
              <a:solidFill>
                <a:srgbClr val="000000"/>
              </a:solidFill>
              <a:effectLst/>
              <a:uFillTx/>
              <a:latin typeface="Arial"/>
            </a:endParaRPr>
          </a:p>
        </p:txBody>
      </p:sp>
      <p:sp>
        <p:nvSpPr>
          <p:cNvPr id="119" name="Text 12"/>
          <p:cNvSpPr/>
          <p:nvPr/>
        </p:nvSpPr>
        <p:spPr>
          <a:xfrm>
            <a:off x="3703320" y="1508760"/>
            <a:ext cx="1874160" cy="529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64748B"/>
                </a:solidFill>
                <a:effectLst/>
                <a:uFillTx/>
                <a:latin typeface="Calibri"/>
                <a:ea typeface="Calibri"/>
              </a:rPr>
              <a:t>192.168.10.0/24</a:t>
            </a:r>
            <a:endParaRPr lang="en-US" sz="1100" b="0" u="none" strike="noStrike">
              <a:solidFill>
                <a:srgbClr val="000000"/>
              </a:solidFill>
              <a:effectLst/>
              <a:uFillTx/>
              <a:latin typeface="Arial"/>
            </a:endParaRPr>
          </a:p>
        </p:txBody>
      </p:sp>
      <p:sp>
        <p:nvSpPr>
          <p:cNvPr id="120" name="Text 13"/>
          <p:cNvSpPr/>
          <p:nvPr/>
        </p:nvSpPr>
        <p:spPr>
          <a:xfrm>
            <a:off x="5623560" y="1508760"/>
            <a:ext cx="3200040" cy="529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0" u="none" strike="noStrike">
                <a:solidFill>
                  <a:srgbClr val="1E293B"/>
                </a:solidFill>
                <a:effectLst/>
                <a:uFillTx/>
                <a:latin typeface="Calibri"/>
                <a:ea typeface="Calibri"/>
              </a:rPr>
              <a:t>Langile-estazioak (100+)</a:t>
            </a:r>
            <a:endParaRPr lang="en-US" sz="1000" b="0" u="none" strike="noStrike">
              <a:solidFill>
                <a:srgbClr val="000000"/>
              </a:solidFill>
              <a:effectLst/>
              <a:uFillTx/>
              <a:latin typeface="Arial"/>
            </a:endParaRPr>
          </a:p>
        </p:txBody>
      </p:sp>
      <p:sp>
        <p:nvSpPr>
          <p:cNvPr id="121" name="Shape 14"/>
          <p:cNvSpPr/>
          <p:nvPr/>
        </p:nvSpPr>
        <p:spPr>
          <a:xfrm>
            <a:off x="274320" y="2075760"/>
            <a:ext cx="8595000" cy="529920"/>
          </a:xfrm>
          <a:prstGeom prst="rect">
            <a:avLst/>
          </a:prstGeom>
          <a:solidFill>
            <a:srgbClr val="FFFFFF"/>
          </a:solidFill>
          <a:ln w="6350">
            <a:solidFill>
              <a:srgbClr val="E2E8F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2" name="Shape 15"/>
          <p:cNvSpPr/>
          <p:nvPr/>
        </p:nvSpPr>
        <p:spPr>
          <a:xfrm>
            <a:off x="274320" y="2075760"/>
            <a:ext cx="127800" cy="529920"/>
          </a:xfrm>
          <a:prstGeom prst="rect">
            <a:avLst/>
          </a:prstGeom>
          <a:solidFill>
            <a:srgbClr val="7C3AED"/>
          </a:solidFill>
          <a:ln w="12700">
            <a:solidFill>
              <a:srgbClr val="7C3AE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3" name="Text 16"/>
          <p:cNvSpPr/>
          <p:nvPr/>
        </p:nvSpPr>
        <p:spPr>
          <a:xfrm>
            <a:off x="457200" y="2075760"/>
            <a:ext cx="987120" cy="529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1E293B"/>
                </a:solidFill>
                <a:effectLst/>
                <a:uFillTx/>
                <a:latin typeface="Calibri"/>
                <a:ea typeface="Calibri"/>
              </a:rPr>
              <a:t>VLAN 20</a:t>
            </a:r>
            <a:endParaRPr lang="en-US" sz="1100" b="0" u="none" strike="noStrike">
              <a:solidFill>
                <a:srgbClr val="000000"/>
              </a:solidFill>
              <a:effectLst/>
              <a:uFillTx/>
              <a:latin typeface="Arial"/>
            </a:endParaRPr>
          </a:p>
        </p:txBody>
      </p:sp>
      <p:sp>
        <p:nvSpPr>
          <p:cNvPr id="124" name="Text 17"/>
          <p:cNvSpPr/>
          <p:nvPr/>
        </p:nvSpPr>
        <p:spPr>
          <a:xfrm>
            <a:off x="1463040" y="2075760"/>
            <a:ext cx="2175840" cy="529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1E293B"/>
                </a:solidFill>
                <a:effectLst/>
                <a:uFillTx/>
                <a:latin typeface="Calibri"/>
                <a:ea typeface="Calibri"/>
              </a:rPr>
              <a:t>IT / Zerbitzariak</a:t>
            </a:r>
            <a:endParaRPr lang="en-US" sz="1100" b="0" u="none" strike="noStrike">
              <a:solidFill>
                <a:srgbClr val="000000"/>
              </a:solidFill>
              <a:effectLst/>
              <a:uFillTx/>
              <a:latin typeface="Arial"/>
            </a:endParaRPr>
          </a:p>
        </p:txBody>
      </p:sp>
      <p:sp>
        <p:nvSpPr>
          <p:cNvPr id="125" name="Text 18"/>
          <p:cNvSpPr/>
          <p:nvPr/>
        </p:nvSpPr>
        <p:spPr>
          <a:xfrm>
            <a:off x="3703320" y="2075760"/>
            <a:ext cx="1874160" cy="529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64748B"/>
                </a:solidFill>
                <a:effectLst/>
                <a:uFillTx/>
                <a:latin typeface="Calibri"/>
                <a:ea typeface="Calibri"/>
              </a:rPr>
              <a:t>192.168.20.0/24</a:t>
            </a:r>
            <a:endParaRPr lang="en-US" sz="1100" b="0" u="none" strike="noStrike">
              <a:solidFill>
                <a:srgbClr val="000000"/>
              </a:solidFill>
              <a:effectLst/>
              <a:uFillTx/>
              <a:latin typeface="Arial"/>
            </a:endParaRPr>
          </a:p>
        </p:txBody>
      </p:sp>
      <p:sp>
        <p:nvSpPr>
          <p:cNvPr id="126" name="Text 19"/>
          <p:cNvSpPr/>
          <p:nvPr/>
        </p:nvSpPr>
        <p:spPr>
          <a:xfrm>
            <a:off x="5623560" y="2075760"/>
            <a:ext cx="3200040" cy="529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0" u="none" strike="noStrike">
                <a:solidFill>
                  <a:srgbClr val="1E293B"/>
                </a:solidFill>
                <a:effectLst/>
                <a:uFillTx/>
                <a:latin typeface="Calibri"/>
                <a:ea typeface="Calibri"/>
              </a:rPr>
              <a:t>Web, PHP 8.4, PostgreSQL 16, Redis</a:t>
            </a:r>
            <a:endParaRPr lang="en-US" sz="1000" b="0" u="none" strike="noStrike">
              <a:solidFill>
                <a:srgbClr val="000000"/>
              </a:solidFill>
              <a:effectLst/>
              <a:uFillTx/>
              <a:latin typeface="Arial"/>
            </a:endParaRPr>
          </a:p>
        </p:txBody>
      </p:sp>
      <p:sp>
        <p:nvSpPr>
          <p:cNvPr id="127" name="Shape 20"/>
          <p:cNvSpPr/>
          <p:nvPr/>
        </p:nvSpPr>
        <p:spPr>
          <a:xfrm>
            <a:off x="274320" y="2642760"/>
            <a:ext cx="8595000" cy="529920"/>
          </a:xfrm>
          <a:prstGeom prst="rect">
            <a:avLst/>
          </a:prstGeom>
          <a:solidFill>
            <a:srgbClr val="EFF6FF"/>
          </a:solidFill>
          <a:ln w="6350">
            <a:solidFill>
              <a:srgbClr val="E2E8F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28" name="Shape 21"/>
          <p:cNvSpPr/>
          <p:nvPr/>
        </p:nvSpPr>
        <p:spPr>
          <a:xfrm>
            <a:off x="274320" y="2642760"/>
            <a:ext cx="127800" cy="529920"/>
          </a:xfrm>
          <a:prstGeom prst="rect">
            <a:avLst/>
          </a:prstGeom>
          <a:solidFill>
            <a:srgbClr val="F97316"/>
          </a:solidFill>
          <a:ln w="12700">
            <a:solidFill>
              <a:srgbClr val="F9731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29" name="Text 22"/>
          <p:cNvSpPr/>
          <p:nvPr/>
        </p:nvSpPr>
        <p:spPr>
          <a:xfrm>
            <a:off x="457200" y="2642760"/>
            <a:ext cx="987120" cy="529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1E293B"/>
                </a:solidFill>
                <a:effectLst/>
                <a:uFillTx/>
                <a:latin typeface="Calibri"/>
                <a:ea typeface="Calibri"/>
              </a:rPr>
              <a:t>VLAN 30</a:t>
            </a:r>
            <a:endParaRPr lang="en-US" sz="1100" b="0" u="none" strike="noStrike">
              <a:solidFill>
                <a:srgbClr val="000000"/>
              </a:solidFill>
              <a:effectLst/>
              <a:uFillTx/>
              <a:latin typeface="Arial"/>
            </a:endParaRPr>
          </a:p>
        </p:txBody>
      </p:sp>
      <p:sp>
        <p:nvSpPr>
          <p:cNvPr id="130" name="Text 23"/>
          <p:cNvSpPr/>
          <p:nvPr/>
        </p:nvSpPr>
        <p:spPr>
          <a:xfrm>
            <a:off x="1463040" y="2642760"/>
            <a:ext cx="2175840" cy="529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1E293B"/>
                </a:solidFill>
                <a:effectLst/>
                <a:uFillTx/>
                <a:latin typeface="Calibri"/>
                <a:ea typeface="Calibri"/>
              </a:rPr>
              <a:t>DMZ (Ingurune Desmilitarizatua)</a:t>
            </a:r>
            <a:endParaRPr lang="en-US" sz="1100" b="0" u="none" strike="noStrike">
              <a:solidFill>
                <a:srgbClr val="000000"/>
              </a:solidFill>
              <a:effectLst/>
              <a:uFillTx/>
              <a:latin typeface="Arial"/>
            </a:endParaRPr>
          </a:p>
        </p:txBody>
      </p:sp>
      <p:sp>
        <p:nvSpPr>
          <p:cNvPr id="131" name="Text 24"/>
          <p:cNvSpPr/>
          <p:nvPr/>
        </p:nvSpPr>
        <p:spPr>
          <a:xfrm>
            <a:off x="3703320" y="2642760"/>
            <a:ext cx="1874160" cy="529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64748B"/>
                </a:solidFill>
                <a:effectLst/>
                <a:uFillTx/>
                <a:latin typeface="Calibri"/>
                <a:ea typeface="Calibri"/>
              </a:rPr>
              <a:t>192.168.30.0/24</a:t>
            </a:r>
            <a:endParaRPr lang="en-US" sz="1100" b="0" u="none" strike="noStrike">
              <a:solidFill>
                <a:srgbClr val="000000"/>
              </a:solidFill>
              <a:effectLst/>
              <a:uFillTx/>
              <a:latin typeface="Arial"/>
            </a:endParaRPr>
          </a:p>
        </p:txBody>
      </p:sp>
      <p:sp>
        <p:nvSpPr>
          <p:cNvPr id="132" name="Text 25"/>
          <p:cNvSpPr/>
          <p:nvPr/>
        </p:nvSpPr>
        <p:spPr>
          <a:xfrm>
            <a:off x="5623560" y="2642760"/>
            <a:ext cx="3200040" cy="529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0" u="none" strike="noStrike">
                <a:solidFill>
                  <a:srgbClr val="1E293B"/>
                </a:solidFill>
                <a:effectLst/>
                <a:uFillTx/>
                <a:latin typeface="Calibri"/>
                <a:ea typeface="Calibri"/>
              </a:rPr>
              <a:t>Internet zerbitzuak: web, posta</a:t>
            </a:r>
            <a:endParaRPr lang="en-US" sz="1000" b="0" u="none" strike="noStrike">
              <a:solidFill>
                <a:srgbClr val="000000"/>
              </a:solidFill>
              <a:effectLst/>
              <a:uFillTx/>
              <a:latin typeface="Arial"/>
            </a:endParaRPr>
          </a:p>
        </p:txBody>
      </p:sp>
      <p:sp>
        <p:nvSpPr>
          <p:cNvPr id="133" name="Shape 26"/>
          <p:cNvSpPr/>
          <p:nvPr/>
        </p:nvSpPr>
        <p:spPr>
          <a:xfrm>
            <a:off x="274320" y="3209400"/>
            <a:ext cx="8595000" cy="529920"/>
          </a:xfrm>
          <a:prstGeom prst="rect">
            <a:avLst/>
          </a:prstGeom>
          <a:solidFill>
            <a:srgbClr val="FFFFFF"/>
          </a:solidFill>
          <a:ln w="6350">
            <a:solidFill>
              <a:srgbClr val="E2E8F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34" name="Shape 27"/>
          <p:cNvSpPr/>
          <p:nvPr/>
        </p:nvSpPr>
        <p:spPr>
          <a:xfrm>
            <a:off x="274320" y="3209400"/>
            <a:ext cx="127800" cy="529920"/>
          </a:xfrm>
          <a:prstGeom prst="rect">
            <a:avLst/>
          </a:prstGeom>
          <a:solidFill>
            <a:srgbClr val="DC2626"/>
          </a:solidFill>
          <a:ln w="12700">
            <a:solidFill>
              <a:srgbClr val="DC262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35" name="Text 28"/>
          <p:cNvSpPr/>
          <p:nvPr/>
        </p:nvSpPr>
        <p:spPr>
          <a:xfrm>
            <a:off x="457200" y="3209400"/>
            <a:ext cx="987120" cy="529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1E293B"/>
                </a:solidFill>
                <a:effectLst/>
                <a:uFillTx/>
                <a:latin typeface="Calibri"/>
                <a:ea typeface="Calibri"/>
              </a:rPr>
              <a:t>VLAN 40</a:t>
            </a:r>
            <a:endParaRPr lang="en-US" sz="1100" b="0" u="none" strike="noStrike">
              <a:solidFill>
                <a:srgbClr val="000000"/>
              </a:solidFill>
              <a:effectLst/>
              <a:uFillTx/>
              <a:latin typeface="Arial"/>
            </a:endParaRPr>
          </a:p>
        </p:txBody>
      </p:sp>
      <p:sp>
        <p:nvSpPr>
          <p:cNvPr id="136" name="Text 29"/>
          <p:cNvSpPr/>
          <p:nvPr/>
        </p:nvSpPr>
        <p:spPr>
          <a:xfrm>
            <a:off x="1463040" y="3209400"/>
            <a:ext cx="2175840" cy="529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DC2626"/>
                </a:solidFill>
                <a:effectLst/>
                <a:uFillTx/>
                <a:latin typeface="Calibri"/>
                <a:ea typeface="Calibri"/>
              </a:rPr>
              <a:t>OT / SCADA (ISOLATUA)</a:t>
            </a:r>
            <a:endParaRPr lang="en-US" sz="1100" b="0" u="none" strike="noStrike">
              <a:solidFill>
                <a:srgbClr val="000000"/>
              </a:solidFill>
              <a:effectLst/>
              <a:uFillTx/>
              <a:latin typeface="Arial"/>
            </a:endParaRPr>
          </a:p>
        </p:txBody>
      </p:sp>
      <p:sp>
        <p:nvSpPr>
          <p:cNvPr id="137" name="Text 30"/>
          <p:cNvSpPr/>
          <p:nvPr/>
        </p:nvSpPr>
        <p:spPr>
          <a:xfrm>
            <a:off x="3703320" y="3209400"/>
            <a:ext cx="1874160" cy="529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64748B"/>
                </a:solidFill>
                <a:effectLst/>
                <a:uFillTx/>
                <a:latin typeface="Calibri"/>
                <a:ea typeface="Calibri"/>
              </a:rPr>
              <a:t>192.168.40.0/24</a:t>
            </a:r>
            <a:endParaRPr lang="en-US" sz="1100" b="0" u="none" strike="noStrike">
              <a:solidFill>
                <a:srgbClr val="000000"/>
              </a:solidFill>
              <a:effectLst/>
              <a:uFillTx/>
              <a:latin typeface="Arial"/>
            </a:endParaRPr>
          </a:p>
        </p:txBody>
      </p:sp>
      <p:sp>
        <p:nvSpPr>
          <p:cNvPr id="138" name="Text 31"/>
          <p:cNvSpPr/>
          <p:nvPr/>
        </p:nvSpPr>
        <p:spPr>
          <a:xfrm>
            <a:off x="5623560" y="3209400"/>
            <a:ext cx="3200040" cy="529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DC2626"/>
                </a:solidFill>
                <a:effectLst/>
                <a:uFillTx/>
                <a:latin typeface="Calibri"/>
                <a:ea typeface="Calibri"/>
              </a:rPr>
              <a:t>OpenPLC + ScadaBR — Data Diode bidez soilik</a:t>
            </a:r>
            <a:endParaRPr lang="en-US" sz="1000" b="0" u="none" strike="noStrike">
              <a:solidFill>
                <a:srgbClr val="000000"/>
              </a:solidFill>
              <a:effectLst/>
              <a:uFillTx/>
              <a:latin typeface="Arial"/>
            </a:endParaRPr>
          </a:p>
        </p:txBody>
      </p:sp>
      <p:sp>
        <p:nvSpPr>
          <p:cNvPr id="139" name="Shape 32"/>
          <p:cNvSpPr/>
          <p:nvPr/>
        </p:nvSpPr>
        <p:spPr>
          <a:xfrm>
            <a:off x="274320" y="3776400"/>
            <a:ext cx="8595000" cy="529920"/>
          </a:xfrm>
          <a:prstGeom prst="rect">
            <a:avLst/>
          </a:prstGeom>
          <a:solidFill>
            <a:srgbClr val="EFF6FF"/>
          </a:solidFill>
          <a:ln w="6350">
            <a:solidFill>
              <a:srgbClr val="E2E8F0"/>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40" name="Shape 33"/>
          <p:cNvSpPr/>
          <p:nvPr/>
        </p:nvSpPr>
        <p:spPr>
          <a:xfrm>
            <a:off x="274320" y="3776400"/>
            <a:ext cx="127800" cy="529920"/>
          </a:xfrm>
          <a:prstGeom prst="rect">
            <a:avLst/>
          </a:prstGeom>
          <a:solidFill>
            <a:srgbClr val="16A34A"/>
          </a:solidFill>
          <a:ln w="12700">
            <a:solidFill>
              <a:srgbClr val="16A3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1" name="Text 34"/>
          <p:cNvSpPr/>
          <p:nvPr/>
        </p:nvSpPr>
        <p:spPr>
          <a:xfrm>
            <a:off x="457200" y="3776400"/>
            <a:ext cx="987120" cy="529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1E293B"/>
                </a:solidFill>
                <a:effectLst/>
                <a:uFillTx/>
                <a:latin typeface="Calibri"/>
                <a:ea typeface="Calibri"/>
              </a:rPr>
              <a:t>VLAN 99</a:t>
            </a:r>
            <a:endParaRPr lang="en-US" sz="1100" b="0" u="none" strike="noStrike">
              <a:solidFill>
                <a:srgbClr val="000000"/>
              </a:solidFill>
              <a:effectLst/>
              <a:uFillTx/>
              <a:latin typeface="Arial"/>
            </a:endParaRPr>
          </a:p>
        </p:txBody>
      </p:sp>
      <p:sp>
        <p:nvSpPr>
          <p:cNvPr id="142" name="Text 35"/>
          <p:cNvSpPr/>
          <p:nvPr/>
        </p:nvSpPr>
        <p:spPr>
          <a:xfrm>
            <a:off x="1463040" y="3776400"/>
            <a:ext cx="2175840" cy="529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1E293B"/>
                </a:solidFill>
                <a:effectLst/>
                <a:uFillTx/>
                <a:latin typeface="Calibri"/>
                <a:ea typeface="Calibri"/>
              </a:rPr>
              <a:t>Honeypot Sarea</a:t>
            </a:r>
            <a:endParaRPr lang="en-US" sz="1100" b="0" u="none" strike="noStrike">
              <a:solidFill>
                <a:srgbClr val="000000"/>
              </a:solidFill>
              <a:effectLst/>
              <a:uFillTx/>
              <a:latin typeface="Arial"/>
            </a:endParaRPr>
          </a:p>
        </p:txBody>
      </p:sp>
      <p:sp>
        <p:nvSpPr>
          <p:cNvPr id="143" name="Text 36"/>
          <p:cNvSpPr/>
          <p:nvPr/>
        </p:nvSpPr>
        <p:spPr>
          <a:xfrm>
            <a:off x="3703320" y="3776400"/>
            <a:ext cx="1874160" cy="529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64748B"/>
                </a:solidFill>
                <a:effectLst/>
                <a:uFillTx/>
                <a:latin typeface="Calibri"/>
                <a:ea typeface="Calibri"/>
              </a:rPr>
              <a:t>172.16.99.0/24</a:t>
            </a:r>
            <a:endParaRPr lang="en-US" sz="1100" b="0" u="none" strike="noStrike">
              <a:solidFill>
                <a:srgbClr val="000000"/>
              </a:solidFill>
              <a:effectLst/>
              <a:uFillTx/>
              <a:latin typeface="Arial"/>
            </a:endParaRPr>
          </a:p>
        </p:txBody>
      </p:sp>
      <p:sp>
        <p:nvSpPr>
          <p:cNvPr id="144" name="Text 37"/>
          <p:cNvSpPr/>
          <p:nvPr/>
        </p:nvSpPr>
        <p:spPr>
          <a:xfrm>
            <a:off x="5623560" y="3776400"/>
            <a:ext cx="3200040" cy="5299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0" u="none" strike="noStrike">
                <a:solidFill>
                  <a:srgbClr val="1E293B"/>
                </a:solidFill>
                <a:effectLst/>
                <a:uFillTx/>
                <a:latin typeface="Calibri"/>
                <a:ea typeface="Calibri"/>
              </a:rPr>
              <a:t>Erasotzaileak erakartzeko tranpa aktibo</a:t>
            </a:r>
            <a:endParaRPr lang="en-US" sz="1000" b="0" u="none" strike="noStrike">
              <a:solidFill>
                <a:srgbClr val="000000"/>
              </a:solidFill>
              <a:effectLst/>
              <a:uFillTx/>
              <a:latin typeface="Arial"/>
            </a:endParaRPr>
          </a:p>
        </p:txBody>
      </p:sp>
      <p:sp>
        <p:nvSpPr>
          <p:cNvPr id="145" name="Shape 38"/>
          <p:cNvSpPr/>
          <p:nvPr/>
        </p:nvSpPr>
        <p:spPr>
          <a:xfrm>
            <a:off x="274320" y="4352400"/>
            <a:ext cx="8595000" cy="347040"/>
          </a:xfrm>
          <a:prstGeom prst="rect">
            <a:avLst/>
          </a:prstGeom>
          <a:solidFill>
            <a:srgbClr val="0F2D4A">
              <a:alpha val="8000"/>
            </a:srgbClr>
          </a:solidFill>
          <a:ln w="635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6" name="Text 39"/>
          <p:cNvSpPr/>
          <p:nvPr/>
        </p:nvSpPr>
        <p:spPr>
          <a:xfrm>
            <a:off x="365760" y="4370760"/>
            <a:ext cx="8412120" cy="310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0F2D4A"/>
                </a:solidFill>
                <a:effectLst/>
                <a:uFillTx/>
                <a:latin typeface="Calibri"/>
                <a:ea typeface="Calibri"/>
              </a:rPr>
              <a:t>VLAN 40 (OT/SCADA) erabat isolatua dago. Bulegotik ezin da zuzenean komunikatu. Datuen elkartrukea Data Diode baten bidez bakarrik, norabide bakarrean (fabrikatik bulegora).</a:t>
            </a:r>
            <a:endParaRPr lang="en-US" sz="1000" b="0" u="none" strike="noStrike">
              <a:solidFill>
                <a:srgbClr val="000000"/>
              </a:solidFill>
              <a:effectLst/>
              <a:uFillTx/>
              <a:latin typeface="Arial"/>
            </a:endParaRPr>
          </a:p>
        </p:txBody>
      </p:sp>
      <p:sp>
        <p:nvSpPr>
          <p:cNvPr id="147" name="Shape 40"/>
          <p:cNvSpPr/>
          <p:nvPr/>
        </p:nvSpPr>
        <p:spPr>
          <a:xfrm>
            <a:off x="0" y="4937760"/>
            <a:ext cx="9143640" cy="205560"/>
          </a:xfrm>
          <a:prstGeom prst="rect">
            <a:avLst/>
          </a:prstGeom>
          <a:solidFill>
            <a:srgbClr val="0F2D4A"/>
          </a:solidFill>
          <a:ln w="1270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48" name="Text 41"/>
          <p:cNvSpPr/>
          <p:nvPr/>
        </p:nvSpPr>
        <p:spPr>
          <a:xfrm>
            <a:off x="274320" y="4946760"/>
            <a:ext cx="8595000" cy="1825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C8A96E"/>
                </a:solidFill>
                <a:effectLst/>
                <a:uFillTx/>
                <a:latin typeface="Calibri"/>
                <a:ea typeface="Calibri"/>
              </a:rPr>
              <a:t>Zabala Gailetak · Zibersegurtasun Entrega 2026</a:t>
            </a:r>
            <a:endParaRPr lang="en-US" sz="900" b="0" u="none" strike="noStrike">
              <a:solidFill>
                <a:srgbClr val="000000"/>
              </a:solidFill>
              <a:effectLst/>
              <a:uFillTx/>
              <a:latin typeface="Arial"/>
            </a:endParaRPr>
          </a:p>
        </p:txBody>
      </p:sp>
      <p:sp>
        <p:nvSpPr>
          <p:cNvPr id="149" name="Text 42"/>
          <p:cNvSpPr/>
          <p:nvPr/>
        </p:nvSpPr>
        <p:spPr>
          <a:xfrm>
            <a:off x="274320" y="4946760"/>
            <a:ext cx="8595000" cy="18252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5 / 14</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150" name="Shape 0"/>
          <p:cNvSpPr/>
          <p:nvPr/>
        </p:nvSpPr>
        <p:spPr>
          <a:xfrm>
            <a:off x="0" y="0"/>
            <a:ext cx="9143640" cy="1096920"/>
          </a:xfrm>
          <a:prstGeom prst="rect">
            <a:avLst/>
          </a:prstGeom>
          <a:solidFill>
            <a:srgbClr val="0F2D4A"/>
          </a:solidFill>
          <a:ln w="1270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1" name="Text 1"/>
          <p:cNvSpPr/>
          <p:nvPr/>
        </p:nvSpPr>
        <p:spPr>
          <a:xfrm>
            <a:off x="457200" y="73080"/>
            <a:ext cx="8229240" cy="237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pc="201" strike="noStrike">
                <a:solidFill>
                  <a:srgbClr val="C8A96E"/>
                </a:solidFill>
                <a:effectLst/>
                <a:uFillTx/>
                <a:latin typeface="Calibri"/>
                <a:ea typeface="Calibri"/>
              </a:rPr>
              <a:t>02 · GURE ESTRATEGIA</a:t>
            </a:r>
            <a:endParaRPr lang="en-US" sz="1000" b="0" u="none" strike="noStrike">
              <a:solidFill>
                <a:srgbClr val="000000"/>
              </a:solidFill>
              <a:effectLst/>
              <a:uFillTx/>
              <a:latin typeface="Arial"/>
            </a:endParaRPr>
          </a:p>
        </p:txBody>
      </p:sp>
      <p:sp>
        <p:nvSpPr>
          <p:cNvPr id="152" name="Text 2"/>
          <p:cNvSpPr/>
          <p:nvPr/>
        </p:nvSpPr>
        <p:spPr>
          <a:xfrm>
            <a:off x="457200" y="347400"/>
            <a:ext cx="8229240" cy="6854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400" b="1" u="none" strike="noStrike">
                <a:solidFill>
                  <a:srgbClr val="FFFFFF"/>
                </a:solidFill>
                <a:effectLst/>
                <a:uFillTx/>
                <a:latin typeface="Georgia"/>
                <a:ea typeface="Georgia"/>
              </a:rPr>
              <a:t>Azpiegitura Adimentsua: Proxmox, Ansible eta IsardVDI</a:t>
            </a:r>
            <a:endParaRPr lang="en-US" sz="2400" b="0" u="none" strike="noStrike">
              <a:solidFill>
                <a:srgbClr val="000000"/>
              </a:solidFill>
              <a:effectLst/>
              <a:uFillTx/>
              <a:latin typeface="Arial"/>
            </a:endParaRPr>
          </a:p>
        </p:txBody>
      </p:sp>
      <p:sp>
        <p:nvSpPr>
          <p:cNvPr id="153" name="Shape 3"/>
          <p:cNvSpPr/>
          <p:nvPr/>
        </p:nvSpPr>
        <p:spPr>
          <a:xfrm>
            <a:off x="274320" y="1216080"/>
            <a:ext cx="2742840" cy="1462680"/>
          </a:xfrm>
          <a:prstGeom prst="rect">
            <a:avLst/>
          </a:prstGeom>
          <a:solidFill>
            <a:srgbClr val="FFFFFF"/>
          </a:solidFill>
          <a:ln w="12700">
            <a:solidFill>
              <a:srgbClr val="E2E8F0"/>
            </a:solidFill>
            <a:round/>
          </a:ln>
          <a:effectLst>
            <a:outerShdw algn="bl" blurRad="633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4" name="Shape 4"/>
          <p:cNvSpPr/>
          <p:nvPr/>
        </p:nvSpPr>
        <p:spPr>
          <a:xfrm>
            <a:off x="274320" y="1216080"/>
            <a:ext cx="2742840" cy="109440"/>
          </a:xfrm>
          <a:prstGeom prst="rect">
            <a:avLst/>
          </a:prstGeom>
          <a:solidFill>
            <a:srgbClr val="F97316"/>
          </a:solidFill>
          <a:ln w="12700">
            <a:solidFill>
              <a:srgbClr val="F9731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55" name="Text 5"/>
          <p:cNvSpPr/>
          <p:nvPr/>
        </p:nvSpPr>
        <p:spPr>
          <a:xfrm>
            <a:off x="411480" y="1398960"/>
            <a:ext cx="248688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1" u="none" strike="noStrike">
                <a:solidFill>
                  <a:srgbClr val="1E293B"/>
                </a:solidFill>
                <a:effectLst/>
                <a:uFillTx/>
                <a:latin typeface="Calibri"/>
                <a:ea typeface="Calibri"/>
              </a:rPr>
              <a:t>ZG-Gateway</a:t>
            </a:r>
            <a:endParaRPr lang="en-US" sz="1500" b="0" u="none" strike="noStrike">
              <a:solidFill>
                <a:srgbClr val="000000"/>
              </a:solidFill>
              <a:effectLst/>
              <a:uFillTx/>
              <a:latin typeface="Arial"/>
            </a:endParaRPr>
          </a:p>
        </p:txBody>
      </p:sp>
      <p:sp>
        <p:nvSpPr>
          <p:cNvPr id="156" name="Text 6"/>
          <p:cNvSpPr/>
          <p:nvPr/>
        </p:nvSpPr>
        <p:spPr>
          <a:xfrm>
            <a:off x="411480" y="1774080"/>
            <a:ext cx="248688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64748B"/>
                </a:solidFill>
                <a:effectLst/>
                <a:uFillTx/>
                <a:latin typeface="Calibri"/>
                <a:ea typeface="Calibri"/>
              </a:rPr>
              <a:t>Router / Suebaki</a:t>
            </a:r>
            <a:endParaRPr lang="en-US" sz="1100" b="0" u="none" strike="noStrike">
              <a:solidFill>
                <a:srgbClr val="000000"/>
              </a:solidFill>
              <a:effectLst/>
              <a:uFillTx/>
              <a:latin typeface="Arial"/>
            </a:endParaRPr>
          </a:p>
        </p:txBody>
      </p:sp>
      <p:sp>
        <p:nvSpPr>
          <p:cNvPr id="157" name="Text 7"/>
          <p:cNvSpPr/>
          <p:nvPr/>
        </p:nvSpPr>
        <p:spPr>
          <a:xfrm>
            <a:off x="411480" y="2267640"/>
            <a:ext cx="248688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F97316"/>
                </a:solidFill>
                <a:effectLst/>
                <a:uFillTx/>
                <a:latin typeface="Calibri"/>
                <a:ea typeface="Calibri"/>
              </a:rPr>
              <a:t>1 vCPU · 1 GB RAM</a:t>
            </a:r>
            <a:endParaRPr lang="en-US" sz="1000" b="0" u="none" strike="noStrike">
              <a:solidFill>
                <a:srgbClr val="000000"/>
              </a:solidFill>
              <a:effectLst/>
              <a:uFillTx/>
              <a:latin typeface="Arial"/>
            </a:endParaRPr>
          </a:p>
        </p:txBody>
      </p:sp>
      <p:sp>
        <p:nvSpPr>
          <p:cNvPr id="158" name="Shape 8"/>
          <p:cNvSpPr/>
          <p:nvPr/>
        </p:nvSpPr>
        <p:spPr>
          <a:xfrm>
            <a:off x="3154680" y="1216080"/>
            <a:ext cx="2742840" cy="1462680"/>
          </a:xfrm>
          <a:prstGeom prst="rect">
            <a:avLst/>
          </a:prstGeom>
          <a:solidFill>
            <a:srgbClr val="FFFFFF"/>
          </a:solidFill>
          <a:ln w="12700">
            <a:solidFill>
              <a:srgbClr val="E2E8F0"/>
            </a:solidFill>
            <a:round/>
          </a:ln>
          <a:effectLst>
            <a:outerShdw algn="bl" blurRad="633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59" name="Shape 9"/>
          <p:cNvSpPr/>
          <p:nvPr/>
        </p:nvSpPr>
        <p:spPr>
          <a:xfrm>
            <a:off x="3154680" y="1216080"/>
            <a:ext cx="2742840" cy="109440"/>
          </a:xfrm>
          <a:prstGeom prst="rect">
            <a:avLst/>
          </a:prstGeom>
          <a:solidFill>
            <a:srgbClr val="0EA5E9"/>
          </a:solidFill>
          <a:ln w="12700">
            <a:solidFill>
              <a:srgbClr val="0EA5E9"/>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0" name="Text 10"/>
          <p:cNvSpPr/>
          <p:nvPr/>
        </p:nvSpPr>
        <p:spPr>
          <a:xfrm>
            <a:off x="3291840" y="1398960"/>
            <a:ext cx="248688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1" u="none" strike="noStrike">
                <a:solidFill>
                  <a:srgbClr val="1E293B"/>
                </a:solidFill>
                <a:effectLst/>
                <a:uFillTx/>
                <a:latin typeface="Calibri"/>
                <a:ea typeface="Calibri"/>
              </a:rPr>
              <a:t>ZG-App</a:t>
            </a:r>
            <a:endParaRPr lang="en-US" sz="1500" b="0" u="none" strike="noStrike">
              <a:solidFill>
                <a:srgbClr val="000000"/>
              </a:solidFill>
              <a:effectLst/>
              <a:uFillTx/>
              <a:latin typeface="Arial"/>
            </a:endParaRPr>
          </a:p>
        </p:txBody>
      </p:sp>
      <p:sp>
        <p:nvSpPr>
          <p:cNvPr id="161" name="Text 11"/>
          <p:cNvSpPr/>
          <p:nvPr/>
        </p:nvSpPr>
        <p:spPr>
          <a:xfrm>
            <a:off x="3291840" y="1774080"/>
            <a:ext cx="248688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64748B"/>
                </a:solidFill>
                <a:effectLst/>
                <a:uFillTx/>
                <a:latin typeface="Calibri"/>
                <a:ea typeface="Calibri"/>
              </a:rPr>
              <a:t>PHP 8.4 · Nginx · Redis</a:t>
            </a:r>
            <a:endParaRPr lang="en-US" sz="1100" b="0" u="none" strike="noStrike">
              <a:solidFill>
                <a:srgbClr val="000000"/>
              </a:solidFill>
              <a:effectLst/>
              <a:uFillTx/>
              <a:latin typeface="Arial"/>
            </a:endParaRPr>
          </a:p>
        </p:txBody>
      </p:sp>
      <p:sp>
        <p:nvSpPr>
          <p:cNvPr id="162" name="Text 12"/>
          <p:cNvSpPr/>
          <p:nvPr/>
        </p:nvSpPr>
        <p:spPr>
          <a:xfrm>
            <a:off x="3291840" y="2267640"/>
            <a:ext cx="248688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0EA5E9"/>
                </a:solidFill>
                <a:effectLst/>
                <a:uFillTx/>
                <a:latin typeface="Calibri"/>
                <a:ea typeface="Calibri"/>
              </a:rPr>
              <a:t>2 vCPU · 4 GB RAM</a:t>
            </a:r>
            <a:endParaRPr lang="en-US" sz="1000" b="0" u="none" strike="noStrike">
              <a:solidFill>
                <a:srgbClr val="000000"/>
              </a:solidFill>
              <a:effectLst/>
              <a:uFillTx/>
              <a:latin typeface="Arial"/>
            </a:endParaRPr>
          </a:p>
        </p:txBody>
      </p:sp>
      <p:sp>
        <p:nvSpPr>
          <p:cNvPr id="163" name="Shape 13"/>
          <p:cNvSpPr/>
          <p:nvPr/>
        </p:nvSpPr>
        <p:spPr>
          <a:xfrm>
            <a:off x="6035040" y="1216080"/>
            <a:ext cx="2742840" cy="1462680"/>
          </a:xfrm>
          <a:prstGeom prst="rect">
            <a:avLst/>
          </a:prstGeom>
          <a:solidFill>
            <a:srgbClr val="FFFFFF"/>
          </a:solidFill>
          <a:ln w="12700">
            <a:solidFill>
              <a:srgbClr val="E2E8F0"/>
            </a:solidFill>
            <a:round/>
          </a:ln>
          <a:effectLst>
            <a:outerShdw algn="bl" blurRad="633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4" name="Shape 14"/>
          <p:cNvSpPr/>
          <p:nvPr/>
        </p:nvSpPr>
        <p:spPr>
          <a:xfrm>
            <a:off x="6035040" y="1216080"/>
            <a:ext cx="2742840" cy="109440"/>
          </a:xfrm>
          <a:prstGeom prst="rect">
            <a:avLst/>
          </a:prstGeom>
          <a:solidFill>
            <a:srgbClr val="7C3AED"/>
          </a:solidFill>
          <a:ln w="12700">
            <a:solidFill>
              <a:srgbClr val="7C3AE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65" name="Text 15"/>
          <p:cNvSpPr/>
          <p:nvPr/>
        </p:nvSpPr>
        <p:spPr>
          <a:xfrm>
            <a:off x="6172200" y="1398960"/>
            <a:ext cx="248688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1" u="none" strike="noStrike">
                <a:solidFill>
                  <a:srgbClr val="1E293B"/>
                </a:solidFill>
                <a:effectLst/>
                <a:uFillTx/>
                <a:latin typeface="Calibri"/>
                <a:ea typeface="Calibri"/>
              </a:rPr>
              <a:t>ZG-Data</a:t>
            </a:r>
            <a:endParaRPr lang="en-US" sz="1500" b="0" u="none" strike="noStrike">
              <a:solidFill>
                <a:srgbClr val="000000"/>
              </a:solidFill>
              <a:effectLst/>
              <a:uFillTx/>
              <a:latin typeface="Arial"/>
            </a:endParaRPr>
          </a:p>
        </p:txBody>
      </p:sp>
      <p:sp>
        <p:nvSpPr>
          <p:cNvPr id="166" name="Text 16"/>
          <p:cNvSpPr/>
          <p:nvPr/>
        </p:nvSpPr>
        <p:spPr>
          <a:xfrm>
            <a:off x="6172200" y="1774080"/>
            <a:ext cx="248688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64748B"/>
                </a:solidFill>
                <a:effectLst/>
                <a:uFillTx/>
                <a:latin typeface="Calibri"/>
                <a:ea typeface="Calibri"/>
              </a:rPr>
              <a:t>PostgreSQL 16 BBDD</a:t>
            </a:r>
            <a:endParaRPr lang="en-US" sz="1100" b="0" u="none" strike="noStrike">
              <a:solidFill>
                <a:srgbClr val="000000"/>
              </a:solidFill>
              <a:effectLst/>
              <a:uFillTx/>
              <a:latin typeface="Arial"/>
            </a:endParaRPr>
          </a:p>
        </p:txBody>
      </p:sp>
      <p:sp>
        <p:nvSpPr>
          <p:cNvPr id="167" name="Text 17"/>
          <p:cNvSpPr/>
          <p:nvPr/>
        </p:nvSpPr>
        <p:spPr>
          <a:xfrm>
            <a:off x="6172200" y="2267640"/>
            <a:ext cx="248688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7C3AED"/>
                </a:solidFill>
                <a:effectLst/>
                <a:uFillTx/>
                <a:latin typeface="Calibri"/>
                <a:ea typeface="Calibri"/>
              </a:rPr>
              <a:t>2 vCPU · 4 GB RAM</a:t>
            </a:r>
            <a:endParaRPr lang="en-US" sz="1000" b="0" u="none" strike="noStrike">
              <a:solidFill>
                <a:srgbClr val="000000"/>
              </a:solidFill>
              <a:effectLst/>
              <a:uFillTx/>
              <a:latin typeface="Arial"/>
            </a:endParaRPr>
          </a:p>
        </p:txBody>
      </p:sp>
      <p:sp>
        <p:nvSpPr>
          <p:cNvPr id="168" name="Shape 18"/>
          <p:cNvSpPr/>
          <p:nvPr/>
        </p:nvSpPr>
        <p:spPr>
          <a:xfrm>
            <a:off x="274320" y="2843640"/>
            <a:ext cx="2742840" cy="1462680"/>
          </a:xfrm>
          <a:prstGeom prst="rect">
            <a:avLst/>
          </a:prstGeom>
          <a:solidFill>
            <a:srgbClr val="FFFFFF"/>
          </a:solidFill>
          <a:ln w="12700">
            <a:solidFill>
              <a:srgbClr val="E2E8F0"/>
            </a:solidFill>
            <a:round/>
          </a:ln>
          <a:effectLst>
            <a:outerShdw algn="bl" blurRad="633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69" name="Shape 19"/>
          <p:cNvSpPr/>
          <p:nvPr/>
        </p:nvSpPr>
        <p:spPr>
          <a:xfrm>
            <a:off x="274320" y="2843640"/>
            <a:ext cx="2742840" cy="109440"/>
          </a:xfrm>
          <a:prstGeom prst="rect">
            <a:avLst/>
          </a:prstGeom>
          <a:solidFill>
            <a:srgbClr val="DC2626"/>
          </a:solidFill>
          <a:ln w="12700">
            <a:solidFill>
              <a:srgbClr val="DC262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70" name="Text 20"/>
          <p:cNvSpPr/>
          <p:nvPr/>
        </p:nvSpPr>
        <p:spPr>
          <a:xfrm>
            <a:off x="411480" y="3026520"/>
            <a:ext cx="248688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1" u="none" strike="noStrike">
                <a:solidFill>
                  <a:srgbClr val="1E293B"/>
                </a:solidFill>
                <a:effectLst/>
                <a:uFillTx/>
                <a:latin typeface="Calibri"/>
                <a:ea typeface="Calibri"/>
              </a:rPr>
              <a:t>ZG-SecOps</a:t>
            </a:r>
            <a:endParaRPr lang="en-US" sz="1500" b="0" u="none" strike="noStrike">
              <a:solidFill>
                <a:srgbClr val="000000"/>
              </a:solidFill>
              <a:effectLst/>
              <a:uFillTx/>
              <a:latin typeface="Arial"/>
            </a:endParaRPr>
          </a:p>
        </p:txBody>
      </p:sp>
      <p:sp>
        <p:nvSpPr>
          <p:cNvPr id="171" name="Text 21"/>
          <p:cNvSpPr/>
          <p:nvPr/>
        </p:nvSpPr>
        <p:spPr>
          <a:xfrm>
            <a:off x="411480" y="3401640"/>
            <a:ext cx="248688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64748B"/>
                </a:solidFill>
                <a:effectLst/>
                <a:uFillTx/>
                <a:latin typeface="Calibri"/>
                <a:ea typeface="Calibri"/>
              </a:rPr>
              <a:t>Wazuh SIEM · Honeypot</a:t>
            </a:r>
            <a:endParaRPr lang="en-US" sz="1100" b="0" u="none" strike="noStrike">
              <a:solidFill>
                <a:srgbClr val="000000"/>
              </a:solidFill>
              <a:effectLst/>
              <a:uFillTx/>
              <a:latin typeface="Arial"/>
            </a:endParaRPr>
          </a:p>
        </p:txBody>
      </p:sp>
      <p:sp>
        <p:nvSpPr>
          <p:cNvPr id="172" name="Text 22"/>
          <p:cNvSpPr/>
          <p:nvPr/>
        </p:nvSpPr>
        <p:spPr>
          <a:xfrm>
            <a:off x="411480" y="3895200"/>
            <a:ext cx="248688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DC2626"/>
                </a:solidFill>
                <a:effectLst/>
                <a:uFillTx/>
                <a:latin typeface="Calibri"/>
                <a:ea typeface="Calibri"/>
              </a:rPr>
              <a:t>4 vCPU · 8 GB RAM</a:t>
            </a:r>
            <a:endParaRPr lang="en-US" sz="1000" b="0" u="none" strike="noStrike">
              <a:solidFill>
                <a:srgbClr val="000000"/>
              </a:solidFill>
              <a:effectLst/>
              <a:uFillTx/>
              <a:latin typeface="Arial"/>
            </a:endParaRPr>
          </a:p>
        </p:txBody>
      </p:sp>
      <p:sp>
        <p:nvSpPr>
          <p:cNvPr id="173" name="Shape 23"/>
          <p:cNvSpPr/>
          <p:nvPr/>
        </p:nvSpPr>
        <p:spPr>
          <a:xfrm>
            <a:off x="3154680" y="2843640"/>
            <a:ext cx="2742840" cy="1462680"/>
          </a:xfrm>
          <a:prstGeom prst="rect">
            <a:avLst/>
          </a:prstGeom>
          <a:solidFill>
            <a:srgbClr val="FFFFFF"/>
          </a:solidFill>
          <a:ln w="12700">
            <a:solidFill>
              <a:srgbClr val="E2E8F0"/>
            </a:solidFill>
            <a:round/>
          </a:ln>
          <a:effectLst>
            <a:outerShdw algn="bl" blurRad="633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4" name="Shape 24"/>
          <p:cNvSpPr/>
          <p:nvPr/>
        </p:nvSpPr>
        <p:spPr>
          <a:xfrm>
            <a:off x="3154680" y="2843640"/>
            <a:ext cx="2742840" cy="109440"/>
          </a:xfrm>
          <a:prstGeom prst="rect">
            <a:avLst/>
          </a:prstGeom>
          <a:solidFill>
            <a:srgbClr val="16A34A"/>
          </a:solidFill>
          <a:ln w="12700">
            <a:solidFill>
              <a:srgbClr val="16A3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75" name="Text 25"/>
          <p:cNvSpPr/>
          <p:nvPr/>
        </p:nvSpPr>
        <p:spPr>
          <a:xfrm>
            <a:off x="3291840" y="3026520"/>
            <a:ext cx="248688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1" u="none" strike="noStrike">
                <a:solidFill>
                  <a:srgbClr val="1E293B"/>
                </a:solidFill>
                <a:effectLst/>
                <a:uFillTx/>
                <a:latin typeface="Calibri"/>
                <a:ea typeface="Calibri"/>
              </a:rPr>
              <a:t>ZG-OT</a:t>
            </a:r>
            <a:endParaRPr lang="en-US" sz="1500" b="0" u="none" strike="noStrike">
              <a:solidFill>
                <a:srgbClr val="000000"/>
              </a:solidFill>
              <a:effectLst/>
              <a:uFillTx/>
              <a:latin typeface="Arial"/>
            </a:endParaRPr>
          </a:p>
        </p:txBody>
      </p:sp>
      <p:sp>
        <p:nvSpPr>
          <p:cNvPr id="176" name="Text 26"/>
          <p:cNvSpPr/>
          <p:nvPr/>
        </p:nvSpPr>
        <p:spPr>
          <a:xfrm>
            <a:off x="3291840" y="3401640"/>
            <a:ext cx="248688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64748B"/>
                </a:solidFill>
                <a:effectLst/>
                <a:uFillTx/>
                <a:latin typeface="Calibri"/>
                <a:ea typeface="Calibri"/>
              </a:rPr>
              <a:t>OpenPLC · ScadaBR</a:t>
            </a:r>
            <a:endParaRPr lang="en-US" sz="1100" b="0" u="none" strike="noStrike">
              <a:solidFill>
                <a:srgbClr val="000000"/>
              </a:solidFill>
              <a:effectLst/>
              <a:uFillTx/>
              <a:latin typeface="Arial"/>
            </a:endParaRPr>
          </a:p>
        </p:txBody>
      </p:sp>
      <p:sp>
        <p:nvSpPr>
          <p:cNvPr id="177" name="Text 27"/>
          <p:cNvSpPr/>
          <p:nvPr/>
        </p:nvSpPr>
        <p:spPr>
          <a:xfrm>
            <a:off x="3291840" y="3895200"/>
            <a:ext cx="248688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16A34A"/>
                </a:solidFill>
                <a:effectLst/>
                <a:uFillTx/>
                <a:latin typeface="Calibri"/>
                <a:ea typeface="Calibri"/>
              </a:rPr>
              <a:t>1 vCPU · 2 GB RAM</a:t>
            </a:r>
            <a:endParaRPr lang="en-US" sz="1000" b="0" u="none" strike="noStrike">
              <a:solidFill>
                <a:srgbClr val="000000"/>
              </a:solidFill>
              <a:effectLst/>
              <a:uFillTx/>
              <a:latin typeface="Arial"/>
            </a:endParaRPr>
          </a:p>
        </p:txBody>
      </p:sp>
      <p:sp>
        <p:nvSpPr>
          <p:cNvPr id="178" name="Shape 28"/>
          <p:cNvSpPr/>
          <p:nvPr/>
        </p:nvSpPr>
        <p:spPr>
          <a:xfrm>
            <a:off x="6035040" y="2843640"/>
            <a:ext cx="2742840" cy="1462680"/>
          </a:xfrm>
          <a:prstGeom prst="rect">
            <a:avLst/>
          </a:prstGeom>
          <a:solidFill>
            <a:srgbClr val="FFFFFF"/>
          </a:solidFill>
          <a:ln w="12700">
            <a:solidFill>
              <a:srgbClr val="E2E8F0"/>
            </a:solidFill>
            <a:round/>
          </a:ln>
          <a:effectLst>
            <a:outerShdw algn="bl" blurRad="633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9" name="Shape 29"/>
          <p:cNvSpPr/>
          <p:nvPr/>
        </p:nvSpPr>
        <p:spPr>
          <a:xfrm>
            <a:off x="6035040" y="2843640"/>
            <a:ext cx="2742840" cy="109440"/>
          </a:xfrm>
          <a:prstGeom prst="rect">
            <a:avLst/>
          </a:prstGeom>
          <a:solidFill>
            <a:srgbClr val="64748B"/>
          </a:solidFill>
          <a:ln w="12700">
            <a:solidFill>
              <a:srgbClr val="64748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0" name="Text 30"/>
          <p:cNvSpPr/>
          <p:nvPr/>
        </p:nvSpPr>
        <p:spPr>
          <a:xfrm>
            <a:off x="6172200" y="3026520"/>
            <a:ext cx="248688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500" b="1" u="none" strike="noStrike">
                <a:solidFill>
                  <a:srgbClr val="1E293B"/>
                </a:solidFill>
                <a:effectLst/>
                <a:uFillTx/>
                <a:latin typeface="Calibri"/>
                <a:ea typeface="Calibri"/>
              </a:rPr>
              <a:t>ZG-Client</a:t>
            </a:r>
            <a:endParaRPr lang="en-US" sz="1500" b="0" u="none" strike="noStrike">
              <a:solidFill>
                <a:srgbClr val="000000"/>
              </a:solidFill>
              <a:effectLst/>
              <a:uFillTx/>
              <a:latin typeface="Arial"/>
            </a:endParaRPr>
          </a:p>
        </p:txBody>
      </p:sp>
      <p:sp>
        <p:nvSpPr>
          <p:cNvPr id="181" name="Text 31"/>
          <p:cNvSpPr/>
          <p:nvPr/>
        </p:nvSpPr>
        <p:spPr>
          <a:xfrm>
            <a:off x="6172200" y="3401640"/>
            <a:ext cx="248688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64748B"/>
                </a:solidFill>
                <a:effectLst/>
                <a:uFillTx/>
                <a:latin typeface="Calibri"/>
                <a:ea typeface="Calibri"/>
              </a:rPr>
              <a:t>Langile-Estazioa (IsardVDI)</a:t>
            </a:r>
            <a:endParaRPr lang="en-US" sz="1100" b="0" u="none" strike="noStrike">
              <a:solidFill>
                <a:srgbClr val="000000"/>
              </a:solidFill>
              <a:effectLst/>
              <a:uFillTx/>
              <a:latin typeface="Arial"/>
            </a:endParaRPr>
          </a:p>
        </p:txBody>
      </p:sp>
      <p:sp>
        <p:nvSpPr>
          <p:cNvPr id="182" name="Text 32"/>
          <p:cNvSpPr/>
          <p:nvPr/>
        </p:nvSpPr>
        <p:spPr>
          <a:xfrm>
            <a:off x="6172200" y="3895200"/>
            <a:ext cx="248688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64748B"/>
                </a:solidFill>
                <a:effectLst/>
                <a:uFillTx/>
                <a:latin typeface="Calibri"/>
                <a:ea typeface="Calibri"/>
              </a:rPr>
              <a:t>2 vCPU · 4 GB RAM</a:t>
            </a:r>
            <a:endParaRPr lang="en-US" sz="1000" b="0" u="none" strike="noStrike">
              <a:solidFill>
                <a:srgbClr val="000000"/>
              </a:solidFill>
              <a:effectLst/>
              <a:uFillTx/>
              <a:latin typeface="Arial"/>
            </a:endParaRPr>
          </a:p>
        </p:txBody>
      </p:sp>
      <p:sp>
        <p:nvSpPr>
          <p:cNvPr id="183" name="Shape 33"/>
          <p:cNvSpPr/>
          <p:nvPr/>
        </p:nvSpPr>
        <p:spPr>
          <a:xfrm>
            <a:off x="274320" y="4498920"/>
            <a:ext cx="8595000" cy="347040"/>
          </a:xfrm>
          <a:prstGeom prst="rect">
            <a:avLst/>
          </a:prstGeom>
          <a:solidFill>
            <a:srgbClr val="0F2D4A"/>
          </a:solidFill>
          <a:ln w="1270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4" name="Text 34"/>
          <p:cNvSpPr/>
          <p:nvPr/>
        </p:nvSpPr>
        <p:spPr>
          <a:xfrm>
            <a:off x="411480" y="4517280"/>
            <a:ext cx="8320680" cy="310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C8A96E"/>
                </a:solidFill>
                <a:effectLst/>
                <a:uFillTx/>
                <a:latin typeface="Calibri"/>
                <a:ea typeface="Calibri"/>
              </a:rPr>
              <a:t>Ansible bidez automatizatutako konfigurazioa  ·  Proxmox hiperbisorearen gainean  ·  IsardVDI ikasgela birtual gisa erabilita</a:t>
            </a:r>
            <a:endParaRPr lang="en-US" sz="1100" b="0" u="none" strike="noStrike">
              <a:solidFill>
                <a:srgbClr val="000000"/>
              </a:solidFill>
              <a:effectLst/>
              <a:uFillTx/>
              <a:latin typeface="Arial"/>
            </a:endParaRPr>
          </a:p>
        </p:txBody>
      </p:sp>
      <p:sp>
        <p:nvSpPr>
          <p:cNvPr id="185" name="Shape 35"/>
          <p:cNvSpPr/>
          <p:nvPr/>
        </p:nvSpPr>
        <p:spPr>
          <a:xfrm>
            <a:off x="0" y="4937760"/>
            <a:ext cx="9143640" cy="205560"/>
          </a:xfrm>
          <a:prstGeom prst="rect">
            <a:avLst/>
          </a:prstGeom>
          <a:solidFill>
            <a:srgbClr val="0F2D4A"/>
          </a:solidFill>
          <a:ln w="1270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6" name="Text 36"/>
          <p:cNvSpPr/>
          <p:nvPr/>
        </p:nvSpPr>
        <p:spPr>
          <a:xfrm>
            <a:off x="274320" y="4946760"/>
            <a:ext cx="8595000" cy="1825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C8A96E"/>
                </a:solidFill>
                <a:effectLst/>
                <a:uFillTx/>
                <a:latin typeface="Calibri"/>
                <a:ea typeface="Calibri"/>
              </a:rPr>
              <a:t>Zabala Gailetak · Zibersegurtasun Entrega 2026</a:t>
            </a:r>
            <a:endParaRPr lang="en-US" sz="900" b="0" u="none" strike="noStrike">
              <a:solidFill>
                <a:srgbClr val="000000"/>
              </a:solidFill>
              <a:effectLst/>
              <a:uFillTx/>
              <a:latin typeface="Arial"/>
            </a:endParaRPr>
          </a:p>
        </p:txBody>
      </p:sp>
      <p:sp>
        <p:nvSpPr>
          <p:cNvPr id="187" name="Text 37"/>
          <p:cNvSpPr/>
          <p:nvPr/>
        </p:nvSpPr>
        <p:spPr>
          <a:xfrm>
            <a:off x="274320" y="4946760"/>
            <a:ext cx="8595000" cy="18252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6 / 14</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188" name="Shape 0"/>
          <p:cNvSpPr/>
          <p:nvPr/>
        </p:nvSpPr>
        <p:spPr>
          <a:xfrm>
            <a:off x="0" y="0"/>
            <a:ext cx="9143640" cy="1096920"/>
          </a:xfrm>
          <a:prstGeom prst="rect">
            <a:avLst/>
          </a:prstGeom>
          <a:solidFill>
            <a:srgbClr val="0F2D4A"/>
          </a:solidFill>
          <a:ln w="1270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89" name="Text 1"/>
          <p:cNvSpPr/>
          <p:nvPr/>
        </p:nvSpPr>
        <p:spPr>
          <a:xfrm>
            <a:off x="457200" y="73080"/>
            <a:ext cx="8229240" cy="237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pc="201" strike="noStrike">
                <a:solidFill>
                  <a:srgbClr val="C8A96E"/>
                </a:solidFill>
                <a:effectLst/>
                <a:uFillTx/>
                <a:latin typeface="Calibri"/>
                <a:ea typeface="Calibri"/>
              </a:rPr>
              <a:t>03 · BERRIKUNTZA SEGURUA ETA EGUNEROKO OPERAZIOAK</a:t>
            </a:r>
            <a:endParaRPr lang="en-US" sz="1000" b="0" u="none" strike="noStrike">
              <a:solidFill>
                <a:srgbClr val="000000"/>
              </a:solidFill>
              <a:effectLst/>
              <a:uFillTx/>
              <a:latin typeface="Arial"/>
            </a:endParaRPr>
          </a:p>
        </p:txBody>
      </p:sp>
      <p:sp>
        <p:nvSpPr>
          <p:cNvPr id="190" name="Text 2"/>
          <p:cNvSpPr/>
          <p:nvPr/>
        </p:nvSpPr>
        <p:spPr>
          <a:xfrm>
            <a:off x="457200" y="347400"/>
            <a:ext cx="8229240" cy="6854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400" b="1" u="none" strike="noStrike">
                <a:solidFill>
                  <a:srgbClr val="FFFFFF"/>
                </a:solidFill>
                <a:effectLst/>
                <a:uFillTx/>
                <a:latin typeface="Georgia"/>
                <a:ea typeface="Georgia"/>
              </a:rPr>
              <a:t>Langile-Tresnak: RRHH Portala eta App Mugikorra</a:t>
            </a:r>
            <a:endParaRPr lang="en-US" sz="2400" b="0" u="none" strike="noStrike">
              <a:solidFill>
                <a:srgbClr val="000000"/>
              </a:solidFill>
              <a:effectLst/>
              <a:uFillTx/>
              <a:latin typeface="Arial"/>
            </a:endParaRPr>
          </a:p>
        </p:txBody>
      </p:sp>
      <p:sp>
        <p:nvSpPr>
          <p:cNvPr id="191" name="Text 3"/>
          <p:cNvSpPr/>
          <p:nvPr/>
        </p:nvSpPr>
        <p:spPr>
          <a:xfrm>
            <a:off x="274320" y="1170360"/>
            <a:ext cx="411444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1" u="none" spc="201" strike="noStrike">
                <a:solidFill>
                  <a:srgbClr val="0F2D4A"/>
                </a:solidFill>
                <a:effectLst/>
                <a:uFillTx/>
                <a:latin typeface="Calibri"/>
                <a:ea typeface="Calibri"/>
              </a:rPr>
              <a:t>RRHH WEB PORTALA</a:t>
            </a:r>
            <a:endParaRPr lang="en-US" sz="1200" b="0" u="none" strike="noStrike">
              <a:solidFill>
                <a:srgbClr val="000000"/>
              </a:solidFill>
              <a:effectLst/>
              <a:uFillTx/>
              <a:latin typeface="Arial"/>
            </a:endParaRPr>
          </a:p>
        </p:txBody>
      </p:sp>
      <p:sp>
        <p:nvSpPr>
          <p:cNvPr id="192" name="Shape 4"/>
          <p:cNvSpPr/>
          <p:nvPr/>
        </p:nvSpPr>
        <p:spPr>
          <a:xfrm>
            <a:off x="274320" y="1463040"/>
            <a:ext cx="54360" cy="3108600"/>
          </a:xfrm>
          <a:prstGeom prst="rect">
            <a:avLst/>
          </a:prstGeom>
          <a:solidFill>
            <a:srgbClr val="0F2D4A"/>
          </a:solidFill>
          <a:ln w="1270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93" name="Text 5"/>
          <p:cNvSpPr/>
          <p:nvPr/>
        </p:nvSpPr>
        <p:spPr>
          <a:xfrm>
            <a:off x="438840" y="1481400"/>
            <a:ext cx="3840120" cy="292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1E293B"/>
                </a:solidFill>
                <a:effectLst/>
                <a:uFillTx/>
                <a:latin typeface="Calibri"/>
                <a:ea typeface="Calibri"/>
              </a:rPr>
              <a:t>Autentifikazio Anizkoitza (3 geruza)</a:t>
            </a:r>
            <a:endParaRPr lang="en-US" sz="1300" b="0" u="none" strike="noStrike">
              <a:solidFill>
                <a:srgbClr val="000000"/>
              </a:solidFill>
              <a:effectLst/>
              <a:uFillTx/>
              <a:latin typeface="Arial"/>
            </a:endParaRPr>
          </a:p>
        </p:txBody>
      </p:sp>
      <p:sp>
        <p:nvSpPr>
          <p:cNvPr id="194" name="Text 6"/>
          <p:cNvSpPr/>
          <p:nvPr/>
        </p:nvSpPr>
        <p:spPr>
          <a:xfrm>
            <a:off x="438840" y="1783080"/>
            <a:ext cx="384012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0" u="none" strike="noStrike">
                <a:solidFill>
                  <a:srgbClr val="64748B"/>
                </a:solidFill>
                <a:effectLst/>
                <a:uFillTx/>
                <a:latin typeface="Calibri"/>
                <a:ea typeface="Calibri"/>
              </a:rPr>
              <a:t>JWT + TOTP MFA (RFC 6238) + WebAuthn pasahitz fisikoak — Erasotzailearentzat hiru hormak</a:t>
            </a:r>
            <a:endParaRPr lang="en-US" sz="1000" b="0" u="none" strike="noStrike">
              <a:solidFill>
                <a:srgbClr val="000000"/>
              </a:solidFill>
              <a:effectLst/>
              <a:uFillTx/>
              <a:latin typeface="Arial"/>
            </a:endParaRPr>
          </a:p>
        </p:txBody>
      </p:sp>
      <p:sp>
        <p:nvSpPr>
          <p:cNvPr id="195" name="Text 7"/>
          <p:cNvSpPr/>
          <p:nvPr/>
        </p:nvSpPr>
        <p:spPr>
          <a:xfrm>
            <a:off x="438840" y="2258640"/>
            <a:ext cx="3840120" cy="292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1E293B"/>
                </a:solidFill>
                <a:effectLst/>
                <a:uFillTx/>
                <a:latin typeface="Calibri"/>
                <a:ea typeface="Calibri"/>
              </a:rPr>
              <a:t>RBAC 5 Rolen Sistema</a:t>
            </a:r>
            <a:endParaRPr lang="en-US" sz="1300" b="0" u="none" strike="noStrike">
              <a:solidFill>
                <a:srgbClr val="000000"/>
              </a:solidFill>
              <a:effectLst/>
              <a:uFillTx/>
              <a:latin typeface="Arial"/>
            </a:endParaRPr>
          </a:p>
        </p:txBody>
      </p:sp>
      <p:sp>
        <p:nvSpPr>
          <p:cNvPr id="196" name="Text 8"/>
          <p:cNvSpPr/>
          <p:nvPr/>
        </p:nvSpPr>
        <p:spPr>
          <a:xfrm>
            <a:off x="438840" y="2560320"/>
            <a:ext cx="384012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0" u="none" strike="noStrike">
                <a:solidFill>
                  <a:srgbClr val="64748B"/>
                </a:solidFill>
                <a:effectLst/>
                <a:uFillTx/>
                <a:latin typeface="Calibri"/>
                <a:ea typeface="Calibri"/>
              </a:rPr>
              <a:t>ADMIN, RRHH_MGR, JEFE_SECCION, EMPLEADO, AUDITOR — Pribilegio minimoa bermatu</a:t>
            </a:r>
            <a:endParaRPr lang="en-US" sz="1000" b="0" u="none" strike="noStrike">
              <a:solidFill>
                <a:srgbClr val="000000"/>
              </a:solidFill>
              <a:effectLst/>
              <a:uFillTx/>
              <a:latin typeface="Arial"/>
            </a:endParaRPr>
          </a:p>
        </p:txBody>
      </p:sp>
      <p:sp>
        <p:nvSpPr>
          <p:cNvPr id="197" name="Text 9"/>
          <p:cNvSpPr/>
          <p:nvPr/>
        </p:nvSpPr>
        <p:spPr>
          <a:xfrm>
            <a:off x="438840" y="3035880"/>
            <a:ext cx="3840120" cy="292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1E293B"/>
                </a:solidFill>
                <a:effectLst/>
                <a:uFillTx/>
                <a:latin typeface="Calibri"/>
                <a:ea typeface="Calibri"/>
              </a:rPr>
              <a:t>Funtzionalitateak</a:t>
            </a:r>
            <a:endParaRPr lang="en-US" sz="1300" b="0" u="none" strike="noStrike">
              <a:solidFill>
                <a:srgbClr val="000000"/>
              </a:solidFill>
              <a:effectLst/>
              <a:uFillTx/>
              <a:latin typeface="Arial"/>
            </a:endParaRPr>
          </a:p>
        </p:txBody>
      </p:sp>
      <p:sp>
        <p:nvSpPr>
          <p:cNvPr id="198" name="Text 10"/>
          <p:cNvSpPr/>
          <p:nvPr/>
        </p:nvSpPr>
        <p:spPr>
          <a:xfrm>
            <a:off x="438840" y="3337560"/>
            <a:ext cx="384012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0" u="none" strike="noStrike">
                <a:solidFill>
                  <a:srgbClr val="64748B"/>
                </a:solidFill>
                <a:effectLst/>
                <a:uFillTx/>
                <a:latin typeface="Calibri"/>
                <a:ea typeface="Calibri"/>
              </a:rPr>
              <a:t>Oporrak, nomina ikustea, dokumentu zifratu deskargak, txat WebSocket denbora errealekoa</a:t>
            </a:r>
            <a:endParaRPr lang="en-US" sz="1000" b="0" u="none" strike="noStrike">
              <a:solidFill>
                <a:srgbClr val="000000"/>
              </a:solidFill>
              <a:effectLst/>
              <a:uFillTx/>
              <a:latin typeface="Arial"/>
            </a:endParaRPr>
          </a:p>
        </p:txBody>
      </p:sp>
      <p:sp>
        <p:nvSpPr>
          <p:cNvPr id="199" name="Text 11"/>
          <p:cNvSpPr/>
          <p:nvPr/>
        </p:nvSpPr>
        <p:spPr>
          <a:xfrm>
            <a:off x="438840" y="3813120"/>
            <a:ext cx="3840120" cy="292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1E293B"/>
                </a:solidFill>
                <a:effectLst/>
                <a:uFillTx/>
                <a:latin typeface="Calibri"/>
                <a:ea typeface="Calibri"/>
              </a:rPr>
              <a:t>Segurtasun-goiburuak (OWASP)</a:t>
            </a:r>
            <a:endParaRPr lang="en-US" sz="1300" b="0" u="none" strike="noStrike">
              <a:solidFill>
                <a:srgbClr val="000000"/>
              </a:solidFill>
              <a:effectLst/>
              <a:uFillTx/>
              <a:latin typeface="Arial"/>
            </a:endParaRPr>
          </a:p>
        </p:txBody>
      </p:sp>
      <p:sp>
        <p:nvSpPr>
          <p:cNvPr id="200" name="Text 12"/>
          <p:cNvSpPr/>
          <p:nvPr/>
        </p:nvSpPr>
        <p:spPr>
          <a:xfrm>
            <a:off x="438840" y="4114800"/>
            <a:ext cx="384012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0" u="none" strike="noStrike">
                <a:solidFill>
                  <a:srgbClr val="64748B"/>
                </a:solidFill>
                <a:effectLst/>
                <a:uFillTx/>
                <a:latin typeface="Calibri"/>
                <a:ea typeface="Calibri"/>
              </a:rPr>
              <a:t>HSTS, CSP, X-Frame-Options, TLS 1.3 — OWASP Top 10 zerrenda osoa kontuan hartuta</a:t>
            </a:r>
            <a:endParaRPr lang="en-US" sz="1000" b="0" u="none" strike="noStrike">
              <a:solidFill>
                <a:srgbClr val="000000"/>
              </a:solidFill>
              <a:effectLst/>
              <a:uFillTx/>
              <a:latin typeface="Arial"/>
            </a:endParaRPr>
          </a:p>
        </p:txBody>
      </p:sp>
      <p:sp>
        <p:nvSpPr>
          <p:cNvPr id="201" name="Shape 13"/>
          <p:cNvSpPr/>
          <p:nvPr/>
        </p:nvSpPr>
        <p:spPr>
          <a:xfrm>
            <a:off x="4572000" y="1152000"/>
            <a:ext cx="360" cy="3520440"/>
          </a:xfrm>
          <a:prstGeom prst="line">
            <a:avLst/>
          </a:prstGeom>
          <a:ln w="12700">
            <a:solidFill>
              <a:srgbClr val="E2E8F0"/>
            </a:solidFill>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202" name="Text 14"/>
          <p:cNvSpPr/>
          <p:nvPr/>
        </p:nvSpPr>
        <p:spPr>
          <a:xfrm>
            <a:off x="4754880" y="1170360"/>
            <a:ext cx="411444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1" u="none" spc="201" strike="noStrike">
                <a:solidFill>
                  <a:srgbClr val="0F2D4A"/>
                </a:solidFill>
                <a:effectLst/>
                <a:uFillTx/>
                <a:latin typeface="Calibri"/>
                <a:ea typeface="Calibri"/>
              </a:rPr>
              <a:t>APP MUGIKORRA (ANDROID)</a:t>
            </a:r>
            <a:endParaRPr lang="en-US" sz="1200" b="0" u="none" strike="noStrike">
              <a:solidFill>
                <a:srgbClr val="000000"/>
              </a:solidFill>
              <a:effectLst/>
              <a:uFillTx/>
              <a:latin typeface="Arial"/>
            </a:endParaRPr>
          </a:p>
        </p:txBody>
      </p:sp>
      <p:sp>
        <p:nvSpPr>
          <p:cNvPr id="203" name="Shape 15"/>
          <p:cNvSpPr/>
          <p:nvPr/>
        </p:nvSpPr>
        <p:spPr>
          <a:xfrm>
            <a:off x="4754880" y="1463040"/>
            <a:ext cx="54360" cy="3108600"/>
          </a:xfrm>
          <a:prstGeom prst="rect">
            <a:avLst/>
          </a:prstGeom>
          <a:solidFill>
            <a:srgbClr val="16A34A"/>
          </a:solidFill>
          <a:ln w="12700">
            <a:solidFill>
              <a:srgbClr val="16A3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04" name="Text 16"/>
          <p:cNvSpPr/>
          <p:nvPr/>
        </p:nvSpPr>
        <p:spPr>
          <a:xfrm>
            <a:off x="4892040" y="1481400"/>
            <a:ext cx="3931560" cy="292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1E293B"/>
                </a:solidFill>
                <a:effectLst/>
                <a:uFillTx/>
                <a:latin typeface="Calibri"/>
                <a:ea typeface="Calibri"/>
              </a:rPr>
              <a:t>Kotlin 2.0 + Jetpack Compose</a:t>
            </a:r>
            <a:endParaRPr lang="en-US" sz="1300" b="0" u="none" strike="noStrike">
              <a:solidFill>
                <a:srgbClr val="000000"/>
              </a:solidFill>
              <a:effectLst/>
              <a:uFillTx/>
              <a:latin typeface="Arial"/>
            </a:endParaRPr>
          </a:p>
        </p:txBody>
      </p:sp>
      <p:sp>
        <p:nvSpPr>
          <p:cNvPr id="205" name="Text 17"/>
          <p:cNvSpPr/>
          <p:nvPr/>
        </p:nvSpPr>
        <p:spPr>
          <a:xfrm>
            <a:off x="4892040" y="1783080"/>
            <a:ext cx="393156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0" u="none" strike="noStrike">
                <a:solidFill>
                  <a:srgbClr val="64748B"/>
                </a:solidFill>
                <a:effectLst/>
                <a:uFillTx/>
                <a:latin typeface="Calibri"/>
                <a:ea typeface="Calibri"/>
              </a:rPr>
              <a:t>Material 3 diseinua, Clean Architecture + MVI eredua, Hilt dependency injection</a:t>
            </a:r>
            <a:endParaRPr lang="en-US" sz="1000" b="0" u="none" strike="noStrike">
              <a:solidFill>
                <a:srgbClr val="000000"/>
              </a:solidFill>
              <a:effectLst/>
              <a:uFillTx/>
              <a:latin typeface="Arial"/>
            </a:endParaRPr>
          </a:p>
        </p:txBody>
      </p:sp>
      <p:sp>
        <p:nvSpPr>
          <p:cNvPr id="206" name="Text 18"/>
          <p:cNvSpPr/>
          <p:nvPr/>
        </p:nvSpPr>
        <p:spPr>
          <a:xfrm>
            <a:off x="4892040" y="2258640"/>
            <a:ext cx="3931560" cy="292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1E293B"/>
                </a:solidFill>
                <a:effectLst/>
                <a:uFillTx/>
                <a:latin typeface="Calibri"/>
                <a:ea typeface="Calibri"/>
              </a:rPr>
              <a:t>Certificate Pinning aktibo</a:t>
            </a:r>
            <a:endParaRPr lang="en-US" sz="1300" b="0" u="none" strike="noStrike">
              <a:solidFill>
                <a:srgbClr val="000000"/>
              </a:solidFill>
              <a:effectLst/>
              <a:uFillTx/>
              <a:latin typeface="Arial"/>
            </a:endParaRPr>
          </a:p>
        </p:txBody>
      </p:sp>
      <p:sp>
        <p:nvSpPr>
          <p:cNvPr id="207" name="Text 19"/>
          <p:cNvSpPr/>
          <p:nvPr/>
        </p:nvSpPr>
        <p:spPr>
          <a:xfrm>
            <a:off x="4892040" y="2560320"/>
            <a:ext cx="393156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0" u="none" strike="noStrike">
                <a:solidFill>
                  <a:srgbClr val="64748B"/>
                </a:solidFill>
                <a:effectLst/>
                <a:uFillTx/>
                <a:latin typeface="Calibri"/>
                <a:ea typeface="Calibri"/>
              </a:rPr>
              <a:t>TLS ziurtagiriak aplikazioan kodetuta — Man-in-the-Middle erasoak ezinezko</a:t>
            </a:r>
            <a:endParaRPr lang="en-US" sz="1000" b="0" u="none" strike="noStrike">
              <a:solidFill>
                <a:srgbClr val="000000"/>
              </a:solidFill>
              <a:effectLst/>
              <a:uFillTx/>
              <a:latin typeface="Arial"/>
            </a:endParaRPr>
          </a:p>
        </p:txBody>
      </p:sp>
      <p:sp>
        <p:nvSpPr>
          <p:cNvPr id="208" name="Text 20"/>
          <p:cNvSpPr/>
          <p:nvPr/>
        </p:nvSpPr>
        <p:spPr>
          <a:xfrm>
            <a:off x="4892040" y="3035880"/>
            <a:ext cx="3931560" cy="292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1E293B"/>
                </a:solidFill>
                <a:effectLst/>
                <a:uFillTx/>
                <a:latin typeface="Calibri"/>
                <a:ea typeface="Calibri"/>
              </a:rPr>
              <a:t>CI/CD automatikoa</a:t>
            </a:r>
            <a:endParaRPr lang="en-US" sz="1300" b="0" u="none" strike="noStrike">
              <a:solidFill>
                <a:srgbClr val="000000"/>
              </a:solidFill>
              <a:effectLst/>
              <a:uFillTx/>
              <a:latin typeface="Arial"/>
            </a:endParaRPr>
          </a:p>
        </p:txBody>
      </p:sp>
      <p:sp>
        <p:nvSpPr>
          <p:cNvPr id="209" name="Text 21"/>
          <p:cNvSpPr/>
          <p:nvPr/>
        </p:nvSpPr>
        <p:spPr>
          <a:xfrm>
            <a:off x="4892040" y="3337560"/>
            <a:ext cx="393156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0" u="none" strike="noStrike">
                <a:solidFill>
                  <a:srgbClr val="64748B"/>
                </a:solidFill>
                <a:effectLst/>
                <a:uFillTx/>
                <a:latin typeface="Calibri"/>
                <a:ea typeface="Calibri"/>
              </a:rPr>
              <a:t>GitHub Actions bidez eraikia eta sinatua — SHA-256 egiaztatzapena banatzerakoan</a:t>
            </a:r>
            <a:endParaRPr lang="en-US" sz="1000" b="0" u="none" strike="noStrike">
              <a:solidFill>
                <a:srgbClr val="000000"/>
              </a:solidFill>
              <a:effectLst/>
              <a:uFillTx/>
              <a:latin typeface="Arial"/>
            </a:endParaRPr>
          </a:p>
        </p:txBody>
      </p:sp>
      <p:sp>
        <p:nvSpPr>
          <p:cNvPr id="210" name="Text 22"/>
          <p:cNvSpPr/>
          <p:nvPr/>
        </p:nvSpPr>
        <p:spPr>
          <a:xfrm>
            <a:off x="4892040" y="3813120"/>
            <a:ext cx="3931560" cy="2923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1E293B"/>
                </a:solidFill>
                <a:effectLst/>
                <a:uFillTx/>
                <a:latin typeface="Calibri"/>
                <a:ea typeface="Calibri"/>
              </a:rPr>
              <a:t>App Transport Security (HTTPS)</a:t>
            </a:r>
            <a:endParaRPr lang="en-US" sz="1300" b="0" u="none" strike="noStrike">
              <a:solidFill>
                <a:srgbClr val="000000"/>
              </a:solidFill>
              <a:effectLst/>
              <a:uFillTx/>
              <a:latin typeface="Arial"/>
            </a:endParaRPr>
          </a:p>
        </p:txBody>
      </p:sp>
      <p:sp>
        <p:nvSpPr>
          <p:cNvPr id="211" name="Text 23"/>
          <p:cNvSpPr/>
          <p:nvPr/>
        </p:nvSpPr>
        <p:spPr>
          <a:xfrm>
            <a:off x="4892040" y="4114800"/>
            <a:ext cx="3931560" cy="347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0" u="none" strike="noStrike">
                <a:solidFill>
                  <a:srgbClr val="64748B"/>
                </a:solidFill>
                <a:effectLst/>
                <a:uFillTx/>
                <a:latin typeface="Calibri"/>
                <a:ea typeface="Calibri"/>
              </a:rPr>
              <a:t>Cleartext konexiorik ez baimentzen da inoiz — Sare guztiak enkriptatuta</a:t>
            </a:r>
            <a:endParaRPr lang="en-US" sz="1000" b="0" u="none" strike="noStrike">
              <a:solidFill>
                <a:srgbClr val="000000"/>
              </a:solidFill>
              <a:effectLst/>
              <a:uFillTx/>
              <a:latin typeface="Arial"/>
            </a:endParaRPr>
          </a:p>
        </p:txBody>
      </p:sp>
      <p:sp>
        <p:nvSpPr>
          <p:cNvPr id="212" name="Shape 24"/>
          <p:cNvSpPr/>
          <p:nvPr/>
        </p:nvSpPr>
        <p:spPr>
          <a:xfrm>
            <a:off x="0" y="4937760"/>
            <a:ext cx="9143640" cy="205560"/>
          </a:xfrm>
          <a:prstGeom prst="rect">
            <a:avLst/>
          </a:prstGeom>
          <a:solidFill>
            <a:srgbClr val="0F2D4A"/>
          </a:solidFill>
          <a:ln w="1270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13" name="Text 25"/>
          <p:cNvSpPr/>
          <p:nvPr/>
        </p:nvSpPr>
        <p:spPr>
          <a:xfrm>
            <a:off x="274320" y="4946760"/>
            <a:ext cx="8595000" cy="1825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C8A96E"/>
                </a:solidFill>
                <a:effectLst/>
                <a:uFillTx/>
                <a:latin typeface="Calibri"/>
                <a:ea typeface="Calibri"/>
              </a:rPr>
              <a:t>Zabala Gailetak · Zibersegurtasun Entrega 2026</a:t>
            </a:r>
            <a:endParaRPr lang="en-US" sz="900" b="0" u="none" strike="noStrike">
              <a:solidFill>
                <a:srgbClr val="000000"/>
              </a:solidFill>
              <a:effectLst/>
              <a:uFillTx/>
              <a:latin typeface="Arial"/>
            </a:endParaRPr>
          </a:p>
        </p:txBody>
      </p:sp>
      <p:sp>
        <p:nvSpPr>
          <p:cNvPr id="214" name="Text 26"/>
          <p:cNvSpPr/>
          <p:nvPr/>
        </p:nvSpPr>
        <p:spPr>
          <a:xfrm>
            <a:off x="274320" y="4946760"/>
            <a:ext cx="8595000" cy="18252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7 / 14</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215" name="Shape 0"/>
          <p:cNvSpPr/>
          <p:nvPr/>
        </p:nvSpPr>
        <p:spPr>
          <a:xfrm>
            <a:off x="0" y="0"/>
            <a:ext cx="9143640" cy="1096920"/>
          </a:xfrm>
          <a:prstGeom prst="rect">
            <a:avLst/>
          </a:prstGeom>
          <a:solidFill>
            <a:srgbClr val="0F2D4A"/>
          </a:solidFill>
          <a:ln w="1270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16" name="Text 1"/>
          <p:cNvSpPr/>
          <p:nvPr/>
        </p:nvSpPr>
        <p:spPr>
          <a:xfrm>
            <a:off x="457200" y="73080"/>
            <a:ext cx="8229240" cy="237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pc="201" strike="noStrike">
                <a:solidFill>
                  <a:srgbClr val="C8A96E"/>
                </a:solidFill>
                <a:effectLst/>
                <a:uFillTx/>
                <a:latin typeface="Calibri"/>
                <a:ea typeface="Calibri"/>
              </a:rPr>
              <a:t>03 · BERRIKUNTZA SEGURUA ETA EGUNEROKO OPERAZIOAK</a:t>
            </a:r>
            <a:endParaRPr lang="en-US" sz="1000" b="0" u="none" strike="noStrike">
              <a:solidFill>
                <a:srgbClr val="000000"/>
              </a:solidFill>
              <a:effectLst/>
              <a:uFillTx/>
              <a:latin typeface="Arial"/>
            </a:endParaRPr>
          </a:p>
        </p:txBody>
      </p:sp>
      <p:sp>
        <p:nvSpPr>
          <p:cNvPr id="217" name="Text 2"/>
          <p:cNvSpPr/>
          <p:nvPr/>
        </p:nvSpPr>
        <p:spPr>
          <a:xfrm>
            <a:off x="457200" y="347400"/>
            <a:ext cx="8229240" cy="6854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400" b="1" u="none" strike="noStrike">
                <a:solidFill>
                  <a:srgbClr val="FFFFFF"/>
                </a:solidFill>
                <a:effectLst/>
                <a:uFillTx/>
                <a:latin typeface="Georgia"/>
                <a:ea typeface="Georgia"/>
              </a:rPr>
              <a:t>Segurtasuna Hasieratik: DevSecOps Pipeline eta Edukiontzi Estrategia</a:t>
            </a:r>
            <a:endParaRPr lang="en-US" sz="2400" b="0" u="none" strike="noStrike">
              <a:solidFill>
                <a:srgbClr val="000000"/>
              </a:solidFill>
              <a:effectLst/>
              <a:uFillTx/>
              <a:latin typeface="Arial"/>
            </a:endParaRPr>
          </a:p>
        </p:txBody>
      </p:sp>
      <p:sp>
        <p:nvSpPr>
          <p:cNvPr id="218" name="Shape 3"/>
          <p:cNvSpPr/>
          <p:nvPr/>
        </p:nvSpPr>
        <p:spPr>
          <a:xfrm>
            <a:off x="1673280" y="2148840"/>
            <a:ext cx="319680" cy="63720"/>
          </a:xfrm>
          <a:prstGeom prst="rect">
            <a:avLst/>
          </a:prstGeom>
          <a:solidFill>
            <a:srgbClr val="64748B"/>
          </a:solidFill>
          <a:ln w="12700">
            <a:solidFill>
              <a:srgbClr val="64748B"/>
            </a:solidFill>
            <a:round/>
          </a:ln>
        </p:spPr>
        <p:style>
          <a:lnRef idx="0"/>
          <a:fillRef idx="0"/>
          <a:effectRef idx="0"/>
          <a:fontRef idx="minor"/>
        </p:style>
        <p:txBody>
          <a:bodyPr lIns="90000" tIns="19080" rIns="90000" bIns="19080" anchor="t">
            <a:noAutofit/>
          </a:bodyPr>
          <a:p>
            <a:endParaRPr lang="en-US" sz="1800" b="0" u="none" strike="noStrike">
              <a:solidFill>
                <a:srgbClr val="FFFFFF"/>
              </a:solidFill>
              <a:effectLst/>
              <a:uFillTx/>
              <a:latin typeface="Arial"/>
            </a:endParaRPr>
          </a:p>
        </p:txBody>
      </p:sp>
      <p:sp>
        <p:nvSpPr>
          <p:cNvPr id="219" name="Shape 4"/>
          <p:cNvSpPr/>
          <p:nvPr/>
        </p:nvSpPr>
        <p:spPr>
          <a:xfrm>
            <a:off x="255960" y="1207080"/>
            <a:ext cx="1416960" cy="3245760"/>
          </a:xfrm>
          <a:prstGeom prst="rect">
            <a:avLst/>
          </a:prstGeom>
          <a:solidFill>
            <a:srgbClr val="FFFFFF"/>
          </a:solidFill>
          <a:ln w="25400">
            <a:solidFill>
              <a:srgbClr val="0EA5E9"/>
            </a:solidFill>
            <a:round/>
          </a:ln>
          <a:effectLst>
            <a:outerShdw algn="bl" blurRad="633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0" name="Shape 5"/>
          <p:cNvSpPr/>
          <p:nvPr/>
        </p:nvSpPr>
        <p:spPr>
          <a:xfrm>
            <a:off x="255960" y="1207080"/>
            <a:ext cx="1416960" cy="475200"/>
          </a:xfrm>
          <a:prstGeom prst="rect">
            <a:avLst/>
          </a:prstGeom>
          <a:solidFill>
            <a:srgbClr val="0EA5E9"/>
          </a:solidFill>
          <a:ln w="12700">
            <a:solidFill>
              <a:srgbClr val="0EA5E9"/>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21" name="Text 6"/>
          <p:cNvSpPr/>
          <p:nvPr/>
        </p:nvSpPr>
        <p:spPr>
          <a:xfrm>
            <a:off x="255960" y="1207080"/>
            <a:ext cx="1416960" cy="4752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200" b="1" u="none" strike="noStrike">
                <a:solidFill>
                  <a:srgbClr val="FFFFFF"/>
                </a:solidFill>
                <a:effectLst/>
                <a:uFillTx/>
                <a:latin typeface="Georgia"/>
                <a:ea typeface="Georgia"/>
              </a:rPr>
              <a:t>01</a:t>
            </a:r>
            <a:endParaRPr lang="en-US" sz="2200" b="0" u="none" strike="noStrike">
              <a:solidFill>
                <a:srgbClr val="000000"/>
              </a:solidFill>
              <a:effectLst/>
              <a:uFillTx/>
              <a:latin typeface="Arial"/>
            </a:endParaRPr>
          </a:p>
        </p:txBody>
      </p:sp>
      <p:sp>
        <p:nvSpPr>
          <p:cNvPr id="222" name="Text 7"/>
          <p:cNvSpPr/>
          <p:nvPr/>
        </p:nvSpPr>
        <p:spPr>
          <a:xfrm>
            <a:off x="320040" y="1774080"/>
            <a:ext cx="1298160" cy="6580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1E293B"/>
                </a:solidFill>
                <a:effectLst/>
                <a:uFillTx/>
                <a:latin typeface="Calibri"/>
                <a:ea typeface="Calibri"/>
              </a:rPr>
              <a:t>Kodea</a:t>
            </a:r>
            <a:endParaRPr lang="en-US"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1E293B"/>
                </a:solidFill>
                <a:effectLst/>
                <a:uFillTx/>
                <a:latin typeface="Calibri"/>
                <a:ea typeface="Calibri"/>
              </a:rPr>
              <a:t>Idatzi</a:t>
            </a:r>
            <a:endParaRPr lang="en-US" sz="1300" b="0" u="none" strike="noStrike">
              <a:solidFill>
                <a:srgbClr val="000000"/>
              </a:solidFill>
              <a:effectLst/>
              <a:uFillTx/>
              <a:latin typeface="Arial"/>
            </a:endParaRPr>
          </a:p>
        </p:txBody>
      </p:sp>
      <p:sp>
        <p:nvSpPr>
          <p:cNvPr id="223" name="Text 8"/>
          <p:cNvSpPr/>
          <p:nvPr/>
        </p:nvSpPr>
        <p:spPr>
          <a:xfrm>
            <a:off x="320040" y="2514600"/>
            <a:ext cx="1298160" cy="9140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0" u="none" strike="noStrike">
                <a:solidFill>
                  <a:srgbClr val="64748B"/>
                </a:solidFill>
                <a:effectLst/>
                <a:uFillTx/>
                <a:latin typeface="Calibri"/>
                <a:ea typeface="Calibri"/>
              </a:rPr>
              <a:t>PHP 8.4</a:t>
            </a:r>
            <a:endParaRPr lang="en-US" sz="1000" b="0" u="none" strike="noStrike">
              <a:solidFill>
                <a:srgbClr val="000000"/>
              </a:solidFill>
              <a:effectLst/>
              <a:uFillTx/>
              <a:latin typeface="Arial"/>
            </a:endParaRPr>
          </a:p>
          <a:p>
            <a:pPr algn="ctr" defTabSz="914400">
              <a:lnSpc>
                <a:spcPct val="100000"/>
              </a:lnSpc>
              <a:tabLst>
                <a:tab pos="0" algn="l"/>
              </a:tabLst>
            </a:pPr>
            <a:r>
              <a:rPr lang="en-US" sz="1000" b="0" u="none" strike="noStrike">
                <a:solidFill>
                  <a:srgbClr val="64748B"/>
                </a:solidFill>
                <a:effectLst/>
                <a:uFillTx/>
                <a:latin typeface="Calibri"/>
                <a:ea typeface="Calibri"/>
              </a:rPr>
              <a:t>Kotlin 2.0</a:t>
            </a:r>
            <a:endParaRPr lang="en-US" sz="1000" b="0" u="none" strike="noStrike">
              <a:solidFill>
                <a:srgbClr val="000000"/>
              </a:solidFill>
              <a:effectLst/>
              <a:uFillTx/>
              <a:latin typeface="Arial"/>
            </a:endParaRPr>
          </a:p>
          <a:p>
            <a:pPr algn="ctr" defTabSz="914400">
              <a:lnSpc>
                <a:spcPct val="100000"/>
              </a:lnSpc>
              <a:tabLst>
                <a:tab pos="0" algn="l"/>
              </a:tabLst>
            </a:pPr>
            <a:r>
              <a:rPr lang="en-US" sz="1000" b="0" u="none" strike="noStrike">
                <a:solidFill>
                  <a:srgbClr val="64748B"/>
                </a:solidFill>
                <a:effectLst/>
                <a:uFillTx/>
                <a:latin typeface="Calibri"/>
                <a:ea typeface="Calibri"/>
              </a:rPr>
              <a:t>React 18</a:t>
            </a:r>
            <a:endParaRPr lang="en-US" sz="1000" b="0" u="none" strike="noStrike">
              <a:solidFill>
                <a:srgbClr val="000000"/>
              </a:solidFill>
              <a:effectLst/>
              <a:uFillTx/>
              <a:latin typeface="Arial"/>
            </a:endParaRPr>
          </a:p>
        </p:txBody>
      </p:sp>
      <p:sp>
        <p:nvSpPr>
          <p:cNvPr id="224" name="Shape 9"/>
          <p:cNvSpPr/>
          <p:nvPr/>
        </p:nvSpPr>
        <p:spPr>
          <a:xfrm>
            <a:off x="3410640" y="2148840"/>
            <a:ext cx="319680" cy="63720"/>
          </a:xfrm>
          <a:prstGeom prst="rect">
            <a:avLst/>
          </a:prstGeom>
          <a:solidFill>
            <a:srgbClr val="64748B"/>
          </a:solidFill>
          <a:ln w="12700">
            <a:solidFill>
              <a:srgbClr val="64748B"/>
            </a:solidFill>
            <a:round/>
          </a:ln>
        </p:spPr>
        <p:style>
          <a:lnRef idx="0"/>
          <a:fillRef idx="0"/>
          <a:effectRef idx="0"/>
          <a:fontRef idx="minor"/>
        </p:style>
        <p:txBody>
          <a:bodyPr lIns="90000" tIns="19080" rIns="90000" bIns="19080" anchor="t">
            <a:noAutofit/>
          </a:bodyPr>
          <a:p>
            <a:endParaRPr lang="en-US" sz="1800" b="0" u="none" strike="noStrike">
              <a:solidFill>
                <a:srgbClr val="FFFFFF"/>
              </a:solidFill>
              <a:effectLst/>
              <a:uFillTx/>
              <a:latin typeface="Arial"/>
            </a:endParaRPr>
          </a:p>
        </p:txBody>
      </p:sp>
      <p:sp>
        <p:nvSpPr>
          <p:cNvPr id="225" name="Shape 10"/>
          <p:cNvSpPr/>
          <p:nvPr/>
        </p:nvSpPr>
        <p:spPr>
          <a:xfrm>
            <a:off x="1993320" y="1207080"/>
            <a:ext cx="1416960" cy="3245760"/>
          </a:xfrm>
          <a:prstGeom prst="rect">
            <a:avLst/>
          </a:prstGeom>
          <a:solidFill>
            <a:srgbClr val="FFFFFF"/>
          </a:solidFill>
          <a:ln w="25400">
            <a:solidFill>
              <a:srgbClr val="7C3AED"/>
            </a:solidFill>
            <a:round/>
          </a:ln>
          <a:effectLst>
            <a:outerShdw algn="bl" blurRad="633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26" name="Shape 11"/>
          <p:cNvSpPr/>
          <p:nvPr/>
        </p:nvSpPr>
        <p:spPr>
          <a:xfrm>
            <a:off x="1993320" y="1207080"/>
            <a:ext cx="1416960" cy="475200"/>
          </a:xfrm>
          <a:prstGeom prst="rect">
            <a:avLst/>
          </a:prstGeom>
          <a:solidFill>
            <a:srgbClr val="7C3AED"/>
          </a:solidFill>
          <a:ln w="12700">
            <a:solidFill>
              <a:srgbClr val="7C3AED"/>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27" name="Text 12"/>
          <p:cNvSpPr/>
          <p:nvPr/>
        </p:nvSpPr>
        <p:spPr>
          <a:xfrm>
            <a:off x="1993320" y="1207080"/>
            <a:ext cx="1416960" cy="4752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200" b="1" u="none" strike="noStrike">
                <a:solidFill>
                  <a:srgbClr val="FFFFFF"/>
                </a:solidFill>
                <a:effectLst/>
                <a:uFillTx/>
                <a:latin typeface="Georgia"/>
                <a:ea typeface="Georgia"/>
              </a:rPr>
              <a:t>02</a:t>
            </a:r>
            <a:endParaRPr lang="en-US" sz="2200" b="0" u="none" strike="noStrike">
              <a:solidFill>
                <a:srgbClr val="000000"/>
              </a:solidFill>
              <a:effectLst/>
              <a:uFillTx/>
              <a:latin typeface="Arial"/>
            </a:endParaRPr>
          </a:p>
        </p:txBody>
      </p:sp>
      <p:sp>
        <p:nvSpPr>
          <p:cNvPr id="228" name="Text 13"/>
          <p:cNvSpPr/>
          <p:nvPr/>
        </p:nvSpPr>
        <p:spPr>
          <a:xfrm>
            <a:off x="2057400" y="1774080"/>
            <a:ext cx="1298160" cy="6580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1E293B"/>
                </a:solidFill>
                <a:effectLst/>
                <a:uFillTx/>
                <a:latin typeface="Calibri"/>
                <a:ea typeface="Calibri"/>
              </a:rPr>
              <a:t>SAST</a:t>
            </a:r>
            <a:endParaRPr lang="en-US"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1E293B"/>
                </a:solidFill>
                <a:effectLst/>
                <a:uFillTx/>
                <a:latin typeface="Calibri"/>
                <a:ea typeface="Calibri"/>
              </a:rPr>
              <a:t>Analisi</a:t>
            </a:r>
            <a:endParaRPr lang="en-US" sz="1300" b="0" u="none" strike="noStrike">
              <a:solidFill>
                <a:srgbClr val="000000"/>
              </a:solidFill>
              <a:effectLst/>
              <a:uFillTx/>
              <a:latin typeface="Arial"/>
            </a:endParaRPr>
          </a:p>
        </p:txBody>
      </p:sp>
      <p:sp>
        <p:nvSpPr>
          <p:cNvPr id="229" name="Text 14"/>
          <p:cNvSpPr/>
          <p:nvPr/>
        </p:nvSpPr>
        <p:spPr>
          <a:xfrm>
            <a:off x="2057400" y="2514600"/>
            <a:ext cx="1298160" cy="9140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0" u="none" strike="noStrike">
                <a:solidFill>
                  <a:srgbClr val="64748B"/>
                </a:solidFill>
                <a:effectLst/>
                <a:uFillTx/>
                <a:latin typeface="Calibri"/>
                <a:ea typeface="Calibri"/>
              </a:rPr>
              <a:t>Estatiko</a:t>
            </a:r>
            <a:endParaRPr lang="en-US" sz="1000" b="0" u="none" strike="noStrike">
              <a:solidFill>
                <a:srgbClr val="000000"/>
              </a:solidFill>
              <a:effectLst/>
              <a:uFillTx/>
              <a:latin typeface="Arial"/>
            </a:endParaRPr>
          </a:p>
          <a:p>
            <a:pPr algn="ctr" defTabSz="914400">
              <a:lnSpc>
                <a:spcPct val="100000"/>
              </a:lnSpc>
              <a:tabLst>
                <a:tab pos="0" algn="l"/>
              </a:tabLst>
            </a:pPr>
            <a:r>
              <a:rPr lang="en-US" sz="1000" b="0" u="none" strike="noStrike">
                <a:solidFill>
                  <a:srgbClr val="64748B"/>
                </a:solidFill>
                <a:effectLst/>
                <a:uFillTx/>
                <a:latin typeface="Calibri"/>
                <a:ea typeface="Calibri"/>
              </a:rPr>
              <a:t>kode analisi</a:t>
            </a:r>
            <a:endParaRPr lang="en-US" sz="1000" b="0" u="none" strike="noStrike">
              <a:solidFill>
                <a:srgbClr val="000000"/>
              </a:solidFill>
              <a:effectLst/>
              <a:uFillTx/>
              <a:latin typeface="Arial"/>
            </a:endParaRPr>
          </a:p>
          <a:p>
            <a:pPr algn="ctr" defTabSz="914400">
              <a:lnSpc>
                <a:spcPct val="100000"/>
              </a:lnSpc>
              <a:tabLst>
                <a:tab pos="0" algn="l"/>
              </a:tabLst>
            </a:pPr>
            <a:r>
              <a:rPr lang="en-US" sz="1000" b="0" u="none" strike="noStrike">
                <a:solidFill>
                  <a:srgbClr val="64748B"/>
                </a:solidFill>
                <a:effectLst/>
                <a:uFillTx/>
                <a:latin typeface="Calibri"/>
                <a:ea typeface="Calibri"/>
              </a:rPr>
              <a:t>automatikoa</a:t>
            </a:r>
            <a:endParaRPr lang="en-US" sz="1000" b="0" u="none" strike="noStrike">
              <a:solidFill>
                <a:srgbClr val="000000"/>
              </a:solidFill>
              <a:effectLst/>
              <a:uFillTx/>
              <a:latin typeface="Arial"/>
            </a:endParaRPr>
          </a:p>
        </p:txBody>
      </p:sp>
      <p:sp>
        <p:nvSpPr>
          <p:cNvPr id="230" name="Shape 15"/>
          <p:cNvSpPr/>
          <p:nvPr/>
        </p:nvSpPr>
        <p:spPr>
          <a:xfrm>
            <a:off x="5148000" y="2148840"/>
            <a:ext cx="319680" cy="63720"/>
          </a:xfrm>
          <a:prstGeom prst="rect">
            <a:avLst/>
          </a:prstGeom>
          <a:solidFill>
            <a:srgbClr val="64748B"/>
          </a:solidFill>
          <a:ln w="12700">
            <a:solidFill>
              <a:srgbClr val="64748B"/>
            </a:solidFill>
            <a:round/>
          </a:ln>
        </p:spPr>
        <p:style>
          <a:lnRef idx="0"/>
          <a:fillRef idx="0"/>
          <a:effectRef idx="0"/>
          <a:fontRef idx="minor"/>
        </p:style>
        <p:txBody>
          <a:bodyPr lIns="90000" tIns="19080" rIns="90000" bIns="19080" anchor="t">
            <a:noAutofit/>
          </a:bodyPr>
          <a:p>
            <a:endParaRPr lang="en-US" sz="1800" b="0" u="none" strike="noStrike">
              <a:solidFill>
                <a:srgbClr val="FFFFFF"/>
              </a:solidFill>
              <a:effectLst/>
              <a:uFillTx/>
              <a:latin typeface="Arial"/>
            </a:endParaRPr>
          </a:p>
        </p:txBody>
      </p:sp>
      <p:sp>
        <p:nvSpPr>
          <p:cNvPr id="231" name="Shape 16"/>
          <p:cNvSpPr/>
          <p:nvPr/>
        </p:nvSpPr>
        <p:spPr>
          <a:xfrm>
            <a:off x="3730680" y="1207080"/>
            <a:ext cx="1416960" cy="3245760"/>
          </a:xfrm>
          <a:prstGeom prst="rect">
            <a:avLst/>
          </a:prstGeom>
          <a:solidFill>
            <a:srgbClr val="FFFFFF"/>
          </a:solidFill>
          <a:ln w="25400">
            <a:solidFill>
              <a:srgbClr val="F97316"/>
            </a:solidFill>
            <a:round/>
          </a:ln>
          <a:effectLst>
            <a:outerShdw algn="bl" blurRad="633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32" name="Shape 17"/>
          <p:cNvSpPr/>
          <p:nvPr/>
        </p:nvSpPr>
        <p:spPr>
          <a:xfrm>
            <a:off x="3730680" y="1207080"/>
            <a:ext cx="1416960" cy="475200"/>
          </a:xfrm>
          <a:prstGeom prst="rect">
            <a:avLst/>
          </a:prstGeom>
          <a:solidFill>
            <a:srgbClr val="F97316"/>
          </a:solidFill>
          <a:ln w="12700">
            <a:solidFill>
              <a:srgbClr val="F9731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3" name="Text 18"/>
          <p:cNvSpPr/>
          <p:nvPr/>
        </p:nvSpPr>
        <p:spPr>
          <a:xfrm>
            <a:off x="3730680" y="1207080"/>
            <a:ext cx="1416960" cy="4752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200" b="1" u="none" strike="noStrike">
                <a:solidFill>
                  <a:srgbClr val="FFFFFF"/>
                </a:solidFill>
                <a:effectLst/>
                <a:uFillTx/>
                <a:latin typeface="Georgia"/>
                <a:ea typeface="Georgia"/>
              </a:rPr>
              <a:t>03</a:t>
            </a:r>
            <a:endParaRPr lang="en-US" sz="2200" b="0" u="none" strike="noStrike">
              <a:solidFill>
                <a:srgbClr val="000000"/>
              </a:solidFill>
              <a:effectLst/>
              <a:uFillTx/>
              <a:latin typeface="Arial"/>
            </a:endParaRPr>
          </a:p>
        </p:txBody>
      </p:sp>
      <p:sp>
        <p:nvSpPr>
          <p:cNvPr id="234" name="Text 19"/>
          <p:cNvSpPr/>
          <p:nvPr/>
        </p:nvSpPr>
        <p:spPr>
          <a:xfrm>
            <a:off x="3794760" y="1774080"/>
            <a:ext cx="1298160" cy="6580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1E293B"/>
                </a:solidFill>
                <a:effectLst/>
                <a:uFillTx/>
                <a:latin typeface="Calibri"/>
                <a:ea typeface="Calibri"/>
              </a:rPr>
              <a:t>Docker</a:t>
            </a:r>
            <a:endParaRPr lang="en-US"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1E293B"/>
                </a:solidFill>
                <a:effectLst/>
                <a:uFillTx/>
                <a:latin typeface="Calibri"/>
                <a:ea typeface="Calibri"/>
              </a:rPr>
              <a:t>Eraiki</a:t>
            </a:r>
            <a:endParaRPr lang="en-US" sz="1300" b="0" u="none" strike="noStrike">
              <a:solidFill>
                <a:srgbClr val="000000"/>
              </a:solidFill>
              <a:effectLst/>
              <a:uFillTx/>
              <a:latin typeface="Arial"/>
            </a:endParaRPr>
          </a:p>
        </p:txBody>
      </p:sp>
      <p:sp>
        <p:nvSpPr>
          <p:cNvPr id="235" name="Text 20"/>
          <p:cNvSpPr/>
          <p:nvPr/>
        </p:nvSpPr>
        <p:spPr>
          <a:xfrm>
            <a:off x="3794760" y="2514600"/>
            <a:ext cx="1298160" cy="9140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0" u="none" strike="noStrike">
                <a:solidFill>
                  <a:srgbClr val="64748B"/>
                </a:solidFill>
                <a:effectLst/>
                <a:uFillTx/>
                <a:latin typeface="Calibri"/>
                <a:ea typeface="Calibri"/>
              </a:rPr>
              <a:t>Irudiak sinatu</a:t>
            </a:r>
            <a:endParaRPr lang="en-US" sz="1000" b="0" u="none" strike="noStrike">
              <a:solidFill>
                <a:srgbClr val="000000"/>
              </a:solidFill>
              <a:effectLst/>
              <a:uFillTx/>
              <a:latin typeface="Arial"/>
            </a:endParaRPr>
          </a:p>
          <a:p>
            <a:pPr algn="ctr" defTabSz="914400">
              <a:lnSpc>
                <a:spcPct val="100000"/>
              </a:lnSpc>
              <a:tabLst>
                <a:tab pos="0" algn="l"/>
              </a:tabLst>
            </a:pPr>
            <a:r>
              <a:rPr lang="en-US" sz="1000" b="0" u="none" strike="noStrike">
                <a:solidFill>
                  <a:srgbClr val="64748B"/>
                </a:solidFill>
                <a:effectLst/>
                <a:uFillTx/>
                <a:latin typeface="Calibri"/>
                <a:ea typeface="Calibri"/>
              </a:rPr>
              <a:t>eta ziurtagiri</a:t>
            </a:r>
            <a:endParaRPr lang="en-US" sz="1000" b="0" u="none" strike="noStrike">
              <a:solidFill>
                <a:srgbClr val="000000"/>
              </a:solidFill>
              <a:effectLst/>
              <a:uFillTx/>
              <a:latin typeface="Arial"/>
            </a:endParaRPr>
          </a:p>
          <a:p>
            <a:pPr algn="ctr" defTabSz="914400">
              <a:lnSpc>
                <a:spcPct val="100000"/>
              </a:lnSpc>
              <a:tabLst>
                <a:tab pos="0" algn="l"/>
              </a:tabLst>
            </a:pPr>
            <a:r>
              <a:rPr lang="en-US" sz="1000" b="0" u="none" strike="noStrike">
                <a:solidFill>
                  <a:srgbClr val="64748B"/>
                </a:solidFill>
                <a:effectLst/>
                <a:uFillTx/>
                <a:latin typeface="Calibri"/>
                <a:ea typeface="Calibri"/>
              </a:rPr>
              <a:t>bertifikatua</a:t>
            </a:r>
            <a:endParaRPr lang="en-US" sz="1000" b="0" u="none" strike="noStrike">
              <a:solidFill>
                <a:srgbClr val="000000"/>
              </a:solidFill>
              <a:effectLst/>
              <a:uFillTx/>
              <a:latin typeface="Arial"/>
            </a:endParaRPr>
          </a:p>
        </p:txBody>
      </p:sp>
      <p:sp>
        <p:nvSpPr>
          <p:cNvPr id="236" name="Shape 21"/>
          <p:cNvSpPr/>
          <p:nvPr/>
        </p:nvSpPr>
        <p:spPr>
          <a:xfrm>
            <a:off x="6885360" y="2148840"/>
            <a:ext cx="319680" cy="63720"/>
          </a:xfrm>
          <a:prstGeom prst="rect">
            <a:avLst/>
          </a:prstGeom>
          <a:solidFill>
            <a:srgbClr val="64748B"/>
          </a:solidFill>
          <a:ln w="12700">
            <a:solidFill>
              <a:srgbClr val="64748B"/>
            </a:solidFill>
            <a:round/>
          </a:ln>
        </p:spPr>
        <p:style>
          <a:lnRef idx="0"/>
          <a:fillRef idx="0"/>
          <a:effectRef idx="0"/>
          <a:fontRef idx="minor"/>
        </p:style>
        <p:txBody>
          <a:bodyPr lIns="90000" tIns="19080" rIns="90000" bIns="19080" anchor="t">
            <a:noAutofit/>
          </a:bodyPr>
          <a:p>
            <a:endParaRPr lang="en-US" sz="1800" b="0" u="none" strike="noStrike">
              <a:solidFill>
                <a:srgbClr val="FFFFFF"/>
              </a:solidFill>
              <a:effectLst/>
              <a:uFillTx/>
              <a:latin typeface="Arial"/>
            </a:endParaRPr>
          </a:p>
        </p:txBody>
      </p:sp>
      <p:sp>
        <p:nvSpPr>
          <p:cNvPr id="237" name="Shape 22"/>
          <p:cNvSpPr/>
          <p:nvPr/>
        </p:nvSpPr>
        <p:spPr>
          <a:xfrm>
            <a:off x="5468040" y="1207080"/>
            <a:ext cx="1416960" cy="3245760"/>
          </a:xfrm>
          <a:prstGeom prst="rect">
            <a:avLst/>
          </a:prstGeom>
          <a:solidFill>
            <a:srgbClr val="FFFFFF"/>
          </a:solidFill>
          <a:ln w="25400">
            <a:solidFill>
              <a:srgbClr val="DC2626"/>
            </a:solidFill>
            <a:round/>
          </a:ln>
          <a:effectLst>
            <a:outerShdw algn="bl" blurRad="633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38" name="Shape 23"/>
          <p:cNvSpPr/>
          <p:nvPr/>
        </p:nvSpPr>
        <p:spPr>
          <a:xfrm>
            <a:off x="5468040" y="1207080"/>
            <a:ext cx="1416960" cy="475200"/>
          </a:xfrm>
          <a:prstGeom prst="rect">
            <a:avLst/>
          </a:prstGeom>
          <a:solidFill>
            <a:srgbClr val="DC2626"/>
          </a:solidFill>
          <a:ln w="12700">
            <a:solidFill>
              <a:srgbClr val="DC262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39" name="Text 24"/>
          <p:cNvSpPr/>
          <p:nvPr/>
        </p:nvSpPr>
        <p:spPr>
          <a:xfrm>
            <a:off x="5468040" y="1207080"/>
            <a:ext cx="1416960" cy="4752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200" b="1" u="none" strike="noStrike">
                <a:solidFill>
                  <a:srgbClr val="FFFFFF"/>
                </a:solidFill>
                <a:effectLst/>
                <a:uFillTx/>
                <a:latin typeface="Georgia"/>
                <a:ea typeface="Georgia"/>
              </a:rPr>
              <a:t>04</a:t>
            </a:r>
            <a:endParaRPr lang="en-US" sz="2200" b="0" u="none" strike="noStrike">
              <a:solidFill>
                <a:srgbClr val="000000"/>
              </a:solidFill>
              <a:effectLst/>
              <a:uFillTx/>
              <a:latin typeface="Arial"/>
            </a:endParaRPr>
          </a:p>
        </p:txBody>
      </p:sp>
      <p:sp>
        <p:nvSpPr>
          <p:cNvPr id="240" name="Text 25"/>
          <p:cNvSpPr/>
          <p:nvPr/>
        </p:nvSpPr>
        <p:spPr>
          <a:xfrm>
            <a:off x="5532120" y="1774080"/>
            <a:ext cx="1298160" cy="6580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1E293B"/>
                </a:solidFill>
                <a:effectLst/>
                <a:uFillTx/>
                <a:latin typeface="Calibri"/>
                <a:ea typeface="Calibri"/>
              </a:rPr>
              <a:t>DAST</a:t>
            </a:r>
            <a:endParaRPr lang="en-US"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1E293B"/>
                </a:solidFill>
                <a:effectLst/>
                <a:uFillTx/>
                <a:latin typeface="Calibri"/>
                <a:ea typeface="Calibri"/>
              </a:rPr>
              <a:t>Probatu</a:t>
            </a:r>
            <a:endParaRPr lang="en-US" sz="1300" b="0" u="none" strike="noStrike">
              <a:solidFill>
                <a:srgbClr val="000000"/>
              </a:solidFill>
              <a:effectLst/>
              <a:uFillTx/>
              <a:latin typeface="Arial"/>
            </a:endParaRPr>
          </a:p>
        </p:txBody>
      </p:sp>
      <p:sp>
        <p:nvSpPr>
          <p:cNvPr id="241" name="Text 26"/>
          <p:cNvSpPr/>
          <p:nvPr/>
        </p:nvSpPr>
        <p:spPr>
          <a:xfrm>
            <a:off x="5532120" y="2514600"/>
            <a:ext cx="1298160" cy="9140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0" u="none" strike="noStrike">
                <a:solidFill>
                  <a:srgbClr val="64748B"/>
                </a:solidFill>
                <a:effectLst/>
                <a:uFillTx/>
                <a:latin typeface="Calibri"/>
                <a:ea typeface="Calibri"/>
              </a:rPr>
              <a:t>OWASP ZAP</a:t>
            </a:r>
            <a:endParaRPr lang="en-US" sz="1000" b="0" u="none" strike="noStrike">
              <a:solidFill>
                <a:srgbClr val="000000"/>
              </a:solidFill>
              <a:effectLst/>
              <a:uFillTx/>
              <a:latin typeface="Arial"/>
            </a:endParaRPr>
          </a:p>
          <a:p>
            <a:pPr algn="ctr" defTabSz="914400">
              <a:lnSpc>
                <a:spcPct val="100000"/>
              </a:lnSpc>
              <a:tabLst>
                <a:tab pos="0" algn="l"/>
              </a:tabLst>
            </a:pPr>
            <a:r>
              <a:rPr lang="en-US" sz="1000" b="0" u="none" strike="noStrike">
                <a:solidFill>
                  <a:srgbClr val="64748B"/>
                </a:solidFill>
                <a:effectLst/>
                <a:uFillTx/>
                <a:latin typeface="Calibri"/>
                <a:ea typeface="Calibri"/>
              </a:rPr>
              <a:t>eraso-</a:t>
            </a:r>
            <a:endParaRPr lang="en-US" sz="1000" b="0" u="none" strike="noStrike">
              <a:solidFill>
                <a:srgbClr val="000000"/>
              </a:solidFill>
              <a:effectLst/>
              <a:uFillTx/>
              <a:latin typeface="Arial"/>
            </a:endParaRPr>
          </a:p>
          <a:p>
            <a:pPr algn="ctr" defTabSz="914400">
              <a:lnSpc>
                <a:spcPct val="100000"/>
              </a:lnSpc>
              <a:tabLst>
                <a:tab pos="0" algn="l"/>
              </a:tabLst>
            </a:pPr>
            <a:r>
              <a:rPr lang="en-US" sz="1000" b="0" u="none" strike="noStrike">
                <a:solidFill>
                  <a:srgbClr val="64748B"/>
                </a:solidFill>
                <a:effectLst/>
                <a:uFillTx/>
                <a:latin typeface="Calibri"/>
                <a:ea typeface="Calibri"/>
              </a:rPr>
              <a:t>simulakroa</a:t>
            </a:r>
            <a:endParaRPr lang="en-US" sz="1000" b="0" u="none" strike="noStrike">
              <a:solidFill>
                <a:srgbClr val="000000"/>
              </a:solidFill>
              <a:effectLst/>
              <a:uFillTx/>
              <a:latin typeface="Arial"/>
            </a:endParaRPr>
          </a:p>
        </p:txBody>
      </p:sp>
      <p:sp>
        <p:nvSpPr>
          <p:cNvPr id="242" name="Shape 27"/>
          <p:cNvSpPr/>
          <p:nvPr/>
        </p:nvSpPr>
        <p:spPr>
          <a:xfrm>
            <a:off x="7205400" y="1207080"/>
            <a:ext cx="1416960" cy="3245760"/>
          </a:xfrm>
          <a:prstGeom prst="rect">
            <a:avLst/>
          </a:prstGeom>
          <a:solidFill>
            <a:srgbClr val="FFFFFF"/>
          </a:solidFill>
          <a:ln w="25400">
            <a:solidFill>
              <a:srgbClr val="16A34A"/>
            </a:solidFill>
            <a:round/>
          </a:ln>
          <a:effectLst>
            <a:outerShdw algn="bl" blurRad="633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43" name="Shape 28"/>
          <p:cNvSpPr/>
          <p:nvPr/>
        </p:nvSpPr>
        <p:spPr>
          <a:xfrm>
            <a:off x="7205400" y="1207080"/>
            <a:ext cx="1416960" cy="475200"/>
          </a:xfrm>
          <a:prstGeom prst="rect">
            <a:avLst/>
          </a:prstGeom>
          <a:solidFill>
            <a:srgbClr val="16A34A"/>
          </a:solidFill>
          <a:ln w="12700">
            <a:solidFill>
              <a:srgbClr val="16A3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4" name="Text 29"/>
          <p:cNvSpPr/>
          <p:nvPr/>
        </p:nvSpPr>
        <p:spPr>
          <a:xfrm>
            <a:off x="7205400" y="1207080"/>
            <a:ext cx="1416960" cy="4752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200" b="1" u="none" strike="noStrike">
                <a:solidFill>
                  <a:srgbClr val="FFFFFF"/>
                </a:solidFill>
                <a:effectLst/>
                <a:uFillTx/>
                <a:latin typeface="Georgia"/>
                <a:ea typeface="Georgia"/>
              </a:rPr>
              <a:t>05</a:t>
            </a:r>
            <a:endParaRPr lang="en-US" sz="2200" b="0" u="none" strike="noStrike">
              <a:solidFill>
                <a:srgbClr val="000000"/>
              </a:solidFill>
              <a:effectLst/>
              <a:uFillTx/>
              <a:latin typeface="Arial"/>
            </a:endParaRPr>
          </a:p>
        </p:txBody>
      </p:sp>
      <p:sp>
        <p:nvSpPr>
          <p:cNvPr id="245" name="Text 30"/>
          <p:cNvSpPr/>
          <p:nvPr/>
        </p:nvSpPr>
        <p:spPr>
          <a:xfrm>
            <a:off x="7269480" y="1774080"/>
            <a:ext cx="1298160" cy="6580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1E293B"/>
                </a:solidFill>
                <a:effectLst/>
                <a:uFillTx/>
                <a:latin typeface="Calibri"/>
                <a:ea typeface="Calibri"/>
              </a:rPr>
              <a:t>Produkziora</a:t>
            </a:r>
            <a:endParaRPr lang="en-US" sz="1300" b="0" u="none" strike="noStrike">
              <a:solidFill>
                <a:srgbClr val="000000"/>
              </a:solidFill>
              <a:effectLst/>
              <a:uFillTx/>
              <a:latin typeface="Arial"/>
            </a:endParaRPr>
          </a:p>
          <a:p>
            <a:pPr algn="ctr" defTabSz="914400">
              <a:lnSpc>
                <a:spcPct val="100000"/>
              </a:lnSpc>
              <a:tabLst>
                <a:tab pos="0" algn="l"/>
              </a:tabLst>
            </a:pPr>
            <a:r>
              <a:rPr lang="en-US" sz="1300" b="1" u="none" strike="noStrike">
                <a:solidFill>
                  <a:srgbClr val="1E293B"/>
                </a:solidFill>
                <a:effectLst/>
                <a:uFillTx/>
                <a:latin typeface="Calibri"/>
                <a:ea typeface="Calibri"/>
              </a:rPr>
              <a:t>Bidali</a:t>
            </a:r>
            <a:endParaRPr lang="en-US" sz="1300" b="0" u="none" strike="noStrike">
              <a:solidFill>
                <a:srgbClr val="000000"/>
              </a:solidFill>
              <a:effectLst/>
              <a:uFillTx/>
              <a:latin typeface="Arial"/>
            </a:endParaRPr>
          </a:p>
        </p:txBody>
      </p:sp>
      <p:sp>
        <p:nvSpPr>
          <p:cNvPr id="246" name="Text 31"/>
          <p:cNvSpPr/>
          <p:nvPr/>
        </p:nvSpPr>
        <p:spPr>
          <a:xfrm>
            <a:off x="7269480" y="2514600"/>
            <a:ext cx="1298160" cy="9140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0" u="none" strike="noStrike">
                <a:solidFill>
                  <a:srgbClr val="64748B"/>
                </a:solidFill>
                <a:effectLst/>
                <a:uFillTx/>
                <a:latin typeface="Calibri"/>
                <a:ea typeface="Calibri"/>
              </a:rPr>
              <a:t>TLS 1.3</a:t>
            </a:r>
            <a:endParaRPr lang="en-US" sz="1000" b="0" u="none" strike="noStrike">
              <a:solidFill>
                <a:srgbClr val="000000"/>
              </a:solidFill>
              <a:effectLst/>
              <a:uFillTx/>
              <a:latin typeface="Arial"/>
            </a:endParaRPr>
          </a:p>
          <a:p>
            <a:pPr algn="ctr" defTabSz="914400">
              <a:lnSpc>
                <a:spcPct val="100000"/>
              </a:lnSpc>
              <a:tabLst>
                <a:tab pos="0" algn="l"/>
              </a:tabLst>
            </a:pPr>
            <a:r>
              <a:rPr lang="en-US" sz="1000" b="0" u="none" strike="noStrike">
                <a:solidFill>
                  <a:srgbClr val="64748B"/>
                </a:solidFill>
                <a:effectLst/>
                <a:uFillTx/>
                <a:latin typeface="Calibri"/>
                <a:ea typeface="Calibri"/>
              </a:rPr>
              <a:t>JWT zifratu</a:t>
            </a:r>
            <a:endParaRPr lang="en-US" sz="1000" b="0" u="none" strike="noStrike">
              <a:solidFill>
                <a:srgbClr val="000000"/>
              </a:solidFill>
              <a:effectLst/>
              <a:uFillTx/>
              <a:latin typeface="Arial"/>
            </a:endParaRPr>
          </a:p>
          <a:p>
            <a:pPr algn="ctr" defTabSz="914400">
              <a:lnSpc>
                <a:spcPct val="100000"/>
              </a:lnSpc>
              <a:tabLst>
                <a:tab pos="0" algn="l"/>
              </a:tabLst>
            </a:pPr>
            <a:r>
              <a:rPr lang="en-US" sz="1000" b="0" u="none" strike="noStrike">
                <a:solidFill>
                  <a:srgbClr val="64748B"/>
                </a:solidFill>
                <a:effectLst/>
                <a:uFillTx/>
                <a:latin typeface="Calibri"/>
                <a:ea typeface="Calibri"/>
              </a:rPr>
              <a:t>Monitorizazioa</a:t>
            </a:r>
            <a:endParaRPr lang="en-US" sz="1000" b="0" u="none" strike="noStrike">
              <a:solidFill>
                <a:srgbClr val="000000"/>
              </a:solidFill>
              <a:effectLst/>
              <a:uFillTx/>
              <a:latin typeface="Arial"/>
            </a:endParaRPr>
          </a:p>
        </p:txBody>
      </p:sp>
      <p:sp>
        <p:nvSpPr>
          <p:cNvPr id="247" name="Shape 32"/>
          <p:cNvSpPr/>
          <p:nvPr/>
        </p:nvSpPr>
        <p:spPr>
          <a:xfrm>
            <a:off x="255960" y="4544640"/>
            <a:ext cx="8631720" cy="319680"/>
          </a:xfrm>
          <a:prstGeom prst="rect">
            <a:avLst/>
          </a:prstGeom>
          <a:solidFill>
            <a:srgbClr val="0F2D4A">
              <a:alpha val="8000"/>
            </a:srgbClr>
          </a:solidFill>
          <a:ln w="635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48" name="Text 33"/>
          <p:cNvSpPr/>
          <p:nvPr/>
        </p:nvSpPr>
        <p:spPr>
          <a:xfrm>
            <a:off x="347400" y="4563000"/>
            <a:ext cx="8448840" cy="282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i="1" u="none" strike="noStrike">
                <a:solidFill>
                  <a:srgbClr val="0F2D4A"/>
                </a:solidFill>
                <a:effectLst/>
                <a:uFillTx/>
                <a:latin typeface="Calibri"/>
                <a:ea typeface="Calibri"/>
              </a:rPr>
              <a:t>"Shift Left" printzipioa: segurtasun-arazoak kodean aurkitzea produkzioan konpontzea baino 100x merkeagoa da.</a:t>
            </a:r>
            <a:endParaRPr lang="en-US" sz="1100" b="0" u="none" strike="noStrike">
              <a:solidFill>
                <a:srgbClr val="000000"/>
              </a:solidFill>
              <a:effectLst/>
              <a:uFillTx/>
              <a:latin typeface="Arial"/>
            </a:endParaRPr>
          </a:p>
        </p:txBody>
      </p:sp>
      <p:sp>
        <p:nvSpPr>
          <p:cNvPr id="249" name="Shape 34"/>
          <p:cNvSpPr/>
          <p:nvPr/>
        </p:nvSpPr>
        <p:spPr>
          <a:xfrm>
            <a:off x="0" y="4937760"/>
            <a:ext cx="9143640" cy="205560"/>
          </a:xfrm>
          <a:prstGeom prst="rect">
            <a:avLst/>
          </a:prstGeom>
          <a:solidFill>
            <a:srgbClr val="0F2D4A"/>
          </a:solidFill>
          <a:ln w="1270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0" name="Text 35"/>
          <p:cNvSpPr/>
          <p:nvPr/>
        </p:nvSpPr>
        <p:spPr>
          <a:xfrm>
            <a:off x="274320" y="4946760"/>
            <a:ext cx="8595000" cy="1825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C8A96E"/>
                </a:solidFill>
                <a:effectLst/>
                <a:uFillTx/>
                <a:latin typeface="Calibri"/>
                <a:ea typeface="Calibri"/>
              </a:rPr>
              <a:t>Zabala Gailetak · Zibersegurtasun Entrega 2026</a:t>
            </a:r>
            <a:endParaRPr lang="en-US" sz="900" b="0" u="none" strike="noStrike">
              <a:solidFill>
                <a:srgbClr val="000000"/>
              </a:solidFill>
              <a:effectLst/>
              <a:uFillTx/>
              <a:latin typeface="Arial"/>
            </a:endParaRPr>
          </a:p>
        </p:txBody>
      </p:sp>
      <p:sp>
        <p:nvSpPr>
          <p:cNvPr id="251" name="Text 36"/>
          <p:cNvSpPr/>
          <p:nvPr/>
        </p:nvSpPr>
        <p:spPr>
          <a:xfrm>
            <a:off x="274320" y="4946760"/>
            <a:ext cx="8595000" cy="18252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8 / 14</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D1B2A"/>
        </a:solidFill>
      </p:bgPr>
    </p:bg>
    <p:spTree>
      <p:nvGrpSpPr>
        <p:cNvPr id="1" name=""/>
        <p:cNvGrpSpPr/>
        <p:nvPr/>
      </p:nvGrpSpPr>
      <p:grpSpPr>
        <a:xfrm>
          <a:off x="0" y="0"/>
          <a:ext cx="0" cy="0"/>
          <a:chOff x="0" y="0"/>
          <a:chExt cx="0" cy="0"/>
        </a:xfrm>
      </p:grpSpPr>
      <p:sp>
        <p:nvSpPr>
          <p:cNvPr id="252" name="Shape 0"/>
          <p:cNvSpPr/>
          <p:nvPr/>
        </p:nvSpPr>
        <p:spPr>
          <a:xfrm>
            <a:off x="0" y="0"/>
            <a:ext cx="91080" cy="5143320"/>
          </a:xfrm>
          <a:prstGeom prst="rect">
            <a:avLst/>
          </a:prstGeom>
          <a:solidFill>
            <a:srgbClr val="16A34A"/>
          </a:solidFill>
          <a:ln w="12700">
            <a:solidFill>
              <a:srgbClr val="16A3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3" name="Text 1"/>
          <p:cNvSpPr/>
          <p:nvPr/>
        </p:nvSpPr>
        <p:spPr>
          <a:xfrm>
            <a:off x="255960" y="109800"/>
            <a:ext cx="8595000" cy="237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pc="201" strike="noStrike">
                <a:solidFill>
                  <a:srgbClr val="16A34A"/>
                </a:solidFill>
                <a:effectLst/>
                <a:uFillTx/>
                <a:latin typeface="Calibri"/>
                <a:ea typeface="Calibri"/>
              </a:rPr>
              <a:t>04 · ERASOEN AURKAKO PREBENTZIOA ETA ERANTZUNA</a:t>
            </a:r>
            <a:endParaRPr lang="en-US" sz="1000" b="0" u="none" strike="noStrike">
              <a:solidFill>
                <a:srgbClr val="FFFFFF"/>
              </a:solidFill>
              <a:effectLst/>
              <a:uFillTx/>
              <a:latin typeface="Arial"/>
            </a:endParaRPr>
          </a:p>
        </p:txBody>
      </p:sp>
      <p:sp>
        <p:nvSpPr>
          <p:cNvPr id="254" name="Text 2"/>
          <p:cNvSpPr/>
          <p:nvPr/>
        </p:nvSpPr>
        <p:spPr>
          <a:xfrm>
            <a:off x="255960" y="384120"/>
            <a:ext cx="8595000" cy="7495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500" b="1" u="none" strike="noStrike">
                <a:solidFill>
                  <a:srgbClr val="FFFFFF"/>
                </a:solidFill>
                <a:effectLst/>
                <a:uFillTx/>
                <a:latin typeface="Georgia"/>
                <a:ea typeface="Georgia"/>
              </a:rPr>
              <a:t>Gure Defentsak Probatu Ditugu:</a:t>
            </a:r>
            <a:endParaRPr lang="en-US" sz="2500" b="0" u="none" strike="noStrike">
              <a:solidFill>
                <a:srgbClr val="FFFFFF"/>
              </a:solidFill>
              <a:effectLst/>
              <a:uFillTx/>
              <a:latin typeface="Arial"/>
            </a:endParaRPr>
          </a:p>
          <a:p>
            <a:pPr defTabSz="914400">
              <a:lnSpc>
                <a:spcPct val="100000"/>
              </a:lnSpc>
              <a:tabLst>
                <a:tab pos="0" algn="l"/>
              </a:tabLst>
            </a:pPr>
            <a:r>
              <a:rPr lang="en-US" sz="2500" b="1" u="none" strike="noStrike">
                <a:solidFill>
                  <a:srgbClr val="FFFFFF"/>
                </a:solidFill>
                <a:effectLst/>
                <a:uFillTx/>
                <a:latin typeface="Georgia"/>
                <a:ea typeface="Georgia"/>
              </a:rPr>
              <a:t>Pentesting eta WiFi Auditoriaren Emaitzak</a:t>
            </a:r>
            <a:endParaRPr lang="en-US" sz="2500" b="0" u="none" strike="noStrike">
              <a:solidFill>
                <a:srgbClr val="FFFFFF"/>
              </a:solidFill>
              <a:effectLst/>
              <a:uFillTx/>
              <a:latin typeface="Arial"/>
            </a:endParaRPr>
          </a:p>
        </p:txBody>
      </p:sp>
      <p:sp>
        <p:nvSpPr>
          <p:cNvPr id="255" name="Shape 3"/>
          <p:cNvSpPr/>
          <p:nvPr/>
        </p:nvSpPr>
        <p:spPr>
          <a:xfrm>
            <a:off x="255960" y="1280160"/>
            <a:ext cx="4068720" cy="1554120"/>
          </a:xfrm>
          <a:prstGeom prst="rect">
            <a:avLst/>
          </a:prstGeom>
          <a:solidFill>
            <a:srgbClr val="1A2B3C"/>
          </a:solidFill>
          <a:ln w="12700">
            <a:solidFill>
              <a:srgbClr val="16A34A"/>
            </a:solidFill>
            <a:round/>
          </a:ln>
          <a:effectLst>
            <a:outerShdw algn="bl" blurRad="101520" dir="8100000" dist="37674" kx="0" ky="0" rotWithShape="0" sx="100000" sy="100000">
              <a:srgbClr val="000000">
                <a:alpha val="1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6" name="Shape 4"/>
          <p:cNvSpPr/>
          <p:nvPr/>
        </p:nvSpPr>
        <p:spPr>
          <a:xfrm>
            <a:off x="255960" y="1280160"/>
            <a:ext cx="91080" cy="1554120"/>
          </a:xfrm>
          <a:prstGeom prst="rect">
            <a:avLst/>
          </a:prstGeom>
          <a:solidFill>
            <a:srgbClr val="16A34A"/>
          </a:solidFill>
          <a:ln w="12700">
            <a:solidFill>
              <a:srgbClr val="16A3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57" name="Text 5"/>
          <p:cNvSpPr/>
          <p:nvPr/>
        </p:nvSpPr>
        <p:spPr>
          <a:xfrm>
            <a:off x="420480" y="1389960"/>
            <a:ext cx="1005480" cy="914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5600" b="1" u="none" strike="noStrike">
                <a:solidFill>
                  <a:srgbClr val="16A34A"/>
                </a:solidFill>
                <a:effectLst/>
                <a:uFillTx/>
                <a:latin typeface="Georgia"/>
                <a:ea typeface="Georgia"/>
              </a:rPr>
              <a:t>0</a:t>
            </a:r>
            <a:endParaRPr lang="en-US" sz="5600" b="0" u="none" strike="noStrike">
              <a:solidFill>
                <a:srgbClr val="FFFFFF"/>
              </a:solidFill>
              <a:effectLst/>
              <a:uFillTx/>
              <a:latin typeface="Arial"/>
            </a:endParaRPr>
          </a:p>
        </p:txBody>
      </p:sp>
      <p:sp>
        <p:nvSpPr>
          <p:cNvPr id="258" name="Text 6"/>
          <p:cNvSpPr/>
          <p:nvPr/>
        </p:nvSpPr>
        <p:spPr>
          <a:xfrm>
            <a:off x="1517760" y="1463040"/>
            <a:ext cx="2697120" cy="5025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700" b="1" u="none" strike="noStrike">
                <a:solidFill>
                  <a:srgbClr val="FFFFFF"/>
                </a:solidFill>
                <a:effectLst/>
                <a:uFillTx/>
                <a:latin typeface="Calibri"/>
                <a:ea typeface="Calibri"/>
              </a:rPr>
              <a:t>Arazo Kritiko</a:t>
            </a:r>
            <a:endParaRPr lang="en-US" sz="1700" b="0" u="none" strike="noStrike">
              <a:solidFill>
                <a:srgbClr val="FFFFFF"/>
              </a:solidFill>
              <a:effectLst/>
              <a:uFillTx/>
              <a:latin typeface="Arial"/>
            </a:endParaRPr>
          </a:p>
        </p:txBody>
      </p:sp>
      <p:sp>
        <p:nvSpPr>
          <p:cNvPr id="259" name="Text 7"/>
          <p:cNvSpPr/>
          <p:nvPr/>
        </p:nvSpPr>
        <p:spPr>
          <a:xfrm>
            <a:off x="1517760" y="2057400"/>
            <a:ext cx="2697120" cy="5025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CBD5E1"/>
                </a:solidFill>
                <a:effectLst/>
                <a:uFillTx/>
                <a:latin typeface="Calibri"/>
                <a:ea typeface="Calibri"/>
              </a:rPr>
              <a:t>CVSS 9.0+ — Sektorearen gailurrean</a:t>
            </a:r>
            <a:endParaRPr lang="en-US" sz="1100" b="0" u="none" strike="noStrike">
              <a:solidFill>
                <a:srgbClr val="FFFFFF"/>
              </a:solidFill>
              <a:effectLst/>
              <a:uFillTx/>
              <a:latin typeface="Arial"/>
            </a:endParaRPr>
          </a:p>
        </p:txBody>
      </p:sp>
      <p:sp>
        <p:nvSpPr>
          <p:cNvPr id="260" name="Shape 8"/>
          <p:cNvSpPr/>
          <p:nvPr/>
        </p:nvSpPr>
        <p:spPr>
          <a:xfrm>
            <a:off x="4572000" y="1280160"/>
            <a:ext cx="4068720" cy="1554120"/>
          </a:xfrm>
          <a:prstGeom prst="rect">
            <a:avLst/>
          </a:prstGeom>
          <a:solidFill>
            <a:srgbClr val="1A2B3C"/>
          </a:solidFill>
          <a:ln w="12700">
            <a:solidFill>
              <a:srgbClr val="F97316"/>
            </a:solidFill>
            <a:round/>
          </a:ln>
          <a:effectLst>
            <a:outerShdw algn="bl" blurRad="101520" dir="8100000" dist="37674" kx="0" ky="0" rotWithShape="0" sx="100000" sy="100000">
              <a:srgbClr val="000000">
                <a:alpha val="1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1" name="Shape 9"/>
          <p:cNvSpPr/>
          <p:nvPr/>
        </p:nvSpPr>
        <p:spPr>
          <a:xfrm>
            <a:off x="4572000" y="1280160"/>
            <a:ext cx="91080" cy="1554120"/>
          </a:xfrm>
          <a:prstGeom prst="rect">
            <a:avLst/>
          </a:prstGeom>
          <a:solidFill>
            <a:srgbClr val="F97316"/>
          </a:solidFill>
          <a:ln w="12700">
            <a:solidFill>
              <a:srgbClr val="F9731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2" name="Text 10"/>
          <p:cNvSpPr/>
          <p:nvPr/>
        </p:nvSpPr>
        <p:spPr>
          <a:xfrm>
            <a:off x="4736520" y="1389960"/>
            <a:ext cx="1005480" cy="914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5600" b="1" u="none" strike="noStrike">
                <a:solidFill>
                  <a:srgbClr val="F97316"/>
                </a:solidFill>
                <a:effectLst/>
                <a:uFillTx/>
                <a:latin typeface="Georgia"/>
                <a:ea typeface="Georgia"/>
              </a:rPr>
              <a:t>2</a:t>
            </a:r>
            <a:endParaRPr lang="en-US" sz="5600" b="0" u="none" strike="noStrike">
              <a:solidFill>
                <a:srgbClr val="FFFFFF"/>
              </a:solidFill>
              <a:effectLst/>
              <a:uFillTx/>
              <a:latin typeface="Arial"/>
            </a:endParaRPr>
          </a:p>
        </p:txBody>
      </p:sp>
      <p:sp>
        <p:nvSpPr>
          <p:cNvPr id="263" name="Text 11"/>
          <p:cNvSpPr/>
          <p:nvPr/>
        </p:nvSpPr>
        <p:spPr>
          <a:xfrm>
            <a:off x="5833800" y="1463040"/>
            <a:ext cx="2697120" cy="5025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700" b="1" u="none" strike="noStrike">
                <a:solidFill>
                  <a:srgbClr val="FFFFFF"/>
                </a:solidFill>
                <a:effectLst/>
                <a:uFillTx/>
                <a:latin typeface="Calibri"/>
                <a:ea typeface="Calibri"/>
              </a:rPr>
              <a:t>Arazo Garrantzitsu</a:t>
            </a:r>
            <a:endParaRPr lang="en-US" sz="1700" b="0" u="none" strike="noStrike">
              <a:solidFill>
                <a:srgbClr val="FFFFFF"/>
              </a:solidFill>
              <a:effectLst/>
              <a:uFillTx/>
              <a:latin typeface="Arial"/>
            </a:endParaRPr>
          </a:p>
        </p:txBody>
      </p:sp>
      <p:sp>
        <p:nvSpPr>
          <p:cNvPr id="264" name="Text 12"/>
          <p:cNvSpPr/>
          <p:nvPr/>
        </p:nvSpPr>
        <p:spPr>
          <a:xfrm>
            <a:off x="5833800" y="2057400"/>
            <a:ext cx="2697120" cy="5025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CBD5E1"/>
                </a:solidFill>
                <a:effectLst/>
                <a:uFillTx/>
                <a:latin typeface="Calibri"/>
                <a:ea typeface="Calibri"/>
              </a:rPr>
              <a:t>CVSS 7.5-7.8 — Biok konponduta</a:t>
            </a:r>
            <a:endParaRPr lang="en-US" sz="1100" b="0" u="none" strike="noStrike">
              <a:solidFill>
                <a:srgbClr val="FFFFFF"/>
              </a:solidFill>
              <a:effectLst/>
              <a:uFillTx/>
              <a:latin typeface="Arial"/>
            </a:endParaRPr>
          </a:p>
        </p:txBody>
      </p:sp>
      <p:sp>
        <p:nvSpPr>
          <p:cNvPr id="265" name="Shape 13"/>
          <p:cNvSpPr/>
          <p:nvPr/>
        </p:nvSpPr>
        <p:spPr>
          <a:xfrm>
            <a:off x="255960" y="2999160"/>
            <a:ext cx="4068720" cy="1554120"/>
          </a:xfrm>
          <a:prstGeom prst="rect">
            <a:avLst/>
          </a:prstGeom>
          <a:solidFill>
            <a:srgbClr val="1A2B3C"/>
          </a:solidFill>
          <a:ln w="12700">
            <a:solidFill>
              <a:srgbClr val="0EA5E9"/>
            </a:solidFill>
            <a:round/>
          </a:ln>
          <a:effectLst>
            <a:outerShdw algn="bl" blurRad="101520" dir="8100000" dist="37674" kx="0" ky="0" rotWithShape="0" sx="100000" sy="100000">
              <a:srgbClr val="000000">
                <a:alpha val="1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6" name="Shape 14"/>
          <p:cNvSpPr/>
          <p:nvPr/>
        </p:nvSpPr>
        <p:spPr>
          <a:xfrm>
            <a:off x="255960" y="2999160"/>
            <a:ext cx="91080" cy="1554120"/>
          </a:xfrm>
          <a:prstGeom prst="rect">
            <a:avLst/>
          </a:prstGeom>
          <a:solidFill>
            <a:srgbClr val="0EA5E9"/>
          </a:solidFill>
          <a:ln w="12700">
            <a:solidFill>
              <a:srgbClr val="0EA5E9"/>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67" name="Text 15"/>
          <p:cNvSpPr/>
          <p:nvPr/>
        </p:nvSpPr>
        <p:spPr>
          <a:xfrm>
            <a:off x="420480" y="3108960"/>
            <a:ext cx="1005480" cy="914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5600" b="1" u="none" strike="noStrike">
                <a:solidFill>
                  <a:srgbClr val="0EA5E9"/>
                </a:solidFill>
                <a:effectLst/>
                <a:uFillTx/>
                <a:latin typeface="Georgia"/>
                <a:ea typeface="Georgia"/>
              </a:rPr>
              <a:t>4</a:t>
            </a:r>
            <a:endParaRPr lang="en-US" sz="5600" b="0" u="none" strike="noStrike">
              <a:solidFill>
                <a:srgbClr val="FFFFFF"/>
              </a:solidFill>
              <a:effectLst/>
              <a:uFillTx/>
              <a:latin typeface="Arial"/>
            </a:endParaRPr>
          </a:p>
        </p:txBody>
      </p:sp>
      <p:sp>
        <p:nvSpPr>
          <p:cNvPr id="268" name="Text 16"/>
          <p:cNvSpPr/>
          <p:nvPr/>
        </p:nvSpPr>
        <p:spPr>
          <a:xfrm>
            <a:off x="1517760" y="3182040"/>
            <a:ext cx="2697120" cy="5025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700" b="1" u="none" strike="noStrike">
                <a:solidFill>
                  <a:srgbClr val="FFFFFF"/>
                </a:solidFill>
                <a:effectLst/>
                <a:uFillTx/>
                <a:latin typeface="Calibri"/>
                <a:ea typeface="Calibri"/>
              </a:rPr>
              <a:t>Arazo Ertain</a:t>
            </a:r>
            <a:endParaRPr lang="en-US" sz="1700" b="0" u="none" strike="noStrike">
              <a:solidFill>
                <a:srgbClr val="FFFFFF"/>
              </a:solidFill>
              <a:effectLst/>
              <a:uFillTx/>
              <a:latin typeface="Arial"/>
            </a:endParaRPr>
          </a:p>
        </p:txBody>
      </p:sp>
      <p:sp>
        <p:nvSpPr>
          <p:cNvPr id="269" name="Text 17"/>
          <p:cNvSpPr/>
          <p:nvPr/>
        </p:nvSpPr>
        <p:spPr>
          <a:xfrm>
            <a:off x="1517760" y="3776400"/>
            <a:ext cx="2697120" cy="5025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CBD5E1"/>
                </a:solidFill>
                <a:effectLst/>
                <a:uFillTx/>
                <a:latin typeface="Calibri"/>
                <a:ea typeface="Calibri"/>
              </a:rPr>
              <a:t>CVSS 5.3-6.5 — Guztiak kontrolpean</a:t>
            </a:r>
            <a:endParaRPr lang="en-US" sz="1100" b="0" u="none" strike="noStrike">
              <a:solidFill>
                <a:srgbClr val="FFFFFF"/>
              </a:solidFill>
              <a:effectLst/>
              <a:uFillTx/>
              <a:latin typeface="Arial"/>
            </a:endParaRPr>
          </a:p>
        </p:txBody>
      </p:sp>
      <p:sp>
        <p:nvSpPr>
          <p:cNvPr id="270" name="Shape 18"/>
          <p:cNvSpPr/>
          <p:nvPr/>
        </p:nvSpPr>
        <p:spPr>
          <a:xfrm>
            <a:off x="4572000" y="2999160"/>
            <a:ext cx="4068720" cy="1554120"/>
          </a:xfrm>
          <a:prstGeom prst="rect">
            <a:avLst/>
          </a:prstGeom>
          <a:solidFill>
            <a:srgbClr val="1A2B3C"/>
          </a:solidFill>
          <a:ln w="12700">
            <a:solidFill>
              <a:srgbClr val="64748B"/>
            </a:solidFill>
            <a:round/>
          </a:ln>
          <a:effectLst>
            <a:outerShdw algn="bl" blurRad="101520" dir="8100000" dist="37674" kx="0" ky="0" rotWithShape="0" sx="100000" sy="100000">
              <a:srgbClr val="000000">
                <a:alpha val="1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71" name="Shape 19"/>
          <p:cNvSpPr/>
          <p:nvPr/>
        </p:nvSpPr>
        <p:spPr>
          <a:xfrm>
            <a:off x="4572000" y="2999160"/>
            <a:ext cx="91080" cy="1554120"/>
          </a:xfrm>
          <a:prstGeom prst="rect">
            <a:avLst/>
          </a:prstGeom>
          <a:solidFill>
            <a:srgbClr val="64748B"/>
          </a:solidFill>
          <a:ln w="12700">
            <a:solidFill>
              <a:srgbClr val="64748B"/>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72" name="Text 20"/>
          <p:cNvSpPr/>
          <p:nvPr/>
        </p:nvSpPr>
        <p:spPr>
          <a:xfrm>
            <a:off x="4736520" y="3108960"/>
            <a:ext cx="1005480" cy="9140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5600" b="1" u="none" strike="noStrike">
                <a:solidFill>
                  <a:srgbClr val="64748B"/>
                </a:solidFill>
                <a:effectLst/>
                <a:uFillTx/>
                <a:latin typeface="Georgia"/>
                <a:ea typeface="Georgia"/>
              </a:rPr>
              <a:t>3</a:t>
            </a:r>
            <a:endParaRPr lang="en-US" sz="5600" b="0" u="none" strike="noStrike">
              <a:solidFill>
                <a:srgbClr val="FFFFFF"/>
              </a:solidFill>
              <a:effectLst/>
              <a:uFillTx/>
              <a:latin typeface="Arial"/>
            </a:endParaRPr>
          </a:p>
        </p:txBody>
      </p:sp>
      <p:sp>
        <p:nvSpPr>
          <p:cNvPr id="273" name="Text 21"/>
          <p:cNvSpPr/>
          <p:nvPr/>
        </p:nvSpPr>
        <p:spPr>
          <a:xfrm>
            <a:off x="5833800" y="3182040"/>
            <a:ext cx="2697120" cy="5025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700" b="1" u="none" strike="noStrike">
                <a:solidFill>
                  <a:srgbClr val="FFFFFF"/>
                </a:solidFill>
                <a:effectLst/>
                <a:uFillTx/>
                <a:latin typeface="Calibri"/>
                <a:ea typeface="Calibri"/>
              </a:rPr>
              <a:t>Arazo Txiki</a:t>
            </a:r>
            <a:endParaRPr lang="en-US" sz="1700" b="0" u="none" strike="noStrike">
              <a:solidFill>
                <a:srgbClr val="FFFFFF"/>
              </a:solidFill>
              <a:effectLst/>
              <a:uFillTx/>
              <a:latin typeface="Arial"/>
            </a:endParaRPr>
          </a:p>
        </p:txBody>
      </p:sp>
      <p:sp>
        <p:nvSpPr>
          <p:cNvPr id="274" name="Text 22"/>
          <p:cNvSpPr/>
          <p:nvPr/>
        </p:nvSpPr>
        <p:spPr>
          <a:xfrm>
            <a:off x="5833800" y="3776400"/>
            <a:ext cx="2697120" cy="5025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0" u="none" strike="noStrike">
                <a:solidFill>
                  <a:srgbClr val="CBD5E1"/>
                </a:solidFill>
                <a:effectLst/>
                <a:uFillTx/>
                <a:latin typeface="Calibri"/>
                <a:ea typeface="Calibri"/>
              </a:rPr>
              <a:t>CVSS 3.1-4.3 — Dokumentatuta</a:t>
            </a:r>
            <a:endParaRPr lang="en-US" sz="1100" b="0" u="none" strike="noStrike">
              <a:solidFill>
                <a:srgbClr val="FFFFFF"/>
              </a:solidFill>
              <a:effectLst/>
              <a:uFillTx/>
              <a:latin typeface="Arial"/>
            </a:endParaRPr>
          </a:p>
        </p:txBody>
      </p:sp>
      <p:sp>
        <p:nvSpPr>
          <p:cNvPr id="275" name="Shape 23"/>
          <p:cNvSpPr/>
          <p:nvPr/>
        </p:nvSpPr>
        <p:spPr>
          <a:xfrm>
            <a:off x="255960" y="4599360"/>
            <a:ext cx="8631720" cy="383760"/>
          </a:xfrm>
          <a:prstGeom prst="rect">
            <a:avLst/>
          </a:prstGeom>
          <a:solidFill>
            <a:srgbClr val="1A2B3C"/>
          </a:solidFill>
          <a:ln w="6350">
            <a:solidFill>
              <a:srgbClr val="C8A96E"/>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76" name="Text 24"/>
          <p:cNvSpPr/>
          <p:nvPr/>
        </p:nvSpPr>
        <p:spPr>
          <a:xfrm>
            <a:off x="365760" y="4626720"/>
            <a:ext cx="8412120" cy="328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0" u="none" strike="noStrike">
                <a:solidFill>
                  <a:srgbClr val="C8A96E"/>
                </a:solidFill>
                <a:effectLst/>
                <a:uFillTx/>
                <a:latin typeface="Calibri"/>
                <a:ea typeface="Calibri"/>
              </a:rPr>
              <a:t>WiFi Auditoria (PTES metodologia): 4 eszénario probatu (WPA2-PSK, WPA3-SAE, Open, Hidden SSID). Gomendio nagusia: WPA3-Enterprise + 802.1X + RADIUS zerbitzaria.</a:t>
            </a:r>
            <a:endParaRPr lang="en-US" sz="10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277" name="Shape 0"/>
          <p:cNvSpPr/>
          <p:nvPr/>
        </p:nvSpPr>
        <p:spPr>
          <a:xfrm>
            <a:off x="0" y="0"/>
            <a:ext cx="9143640" cy="1096920"/>
          </a:xfrm>
          <a:prstGeom prst="rect">
            <a:avLst/>
          </a:prstGeom>
          <a:solidFill>
            <a:srgbClr val="0F2D4A"/>
          </a:solidFill>
          <a:ln w="1270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78" name="Text 1"/>
          <p:cNvSpPr/>
          <p:nvPr/>
        </p:nvSpPr>
        <p:spPr>
          <a:xfrm>
            <a:off x="457200" y="73080"/>
            <a:ext cx="8229240" cy="237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pc="201" strike="noStrike">
                <a:solidFill>
                  <a:srgbClr val="C8A96E"/>
                </a:solidFill>
                <a:effectLst/>
                <a:uFillTx/>
                <a:latin typeface="Calibri"/>
                <a:ea typeface="Calibri"/>
              </a:rPr>
              <a:t>04 · ERASOEN AURKAKO PREBENTZIOA</a:t>
            </a:r>
            <a:endParaRPr lang="en-US" sz="1000" b="0" u="none" strike="noStrike">
              <a:solidFill>
                <a:srgbClr val="000000"/>
              </a:solidFill>
              <a:effectLst/>
              <a:uFillTx/>
              <a:latin typeface="Arial"/>
            </a:endParaRPr>
          </a:p>
        </p:txBody>
      </p:sp>
      <p:sp>
        <p:nvSpPr>
          <p:cNvPr id="279" name="Text 2"/>
          <p:cNvSpPr/>
          <p:nvPr/>
        </p:nvSpPr>
        <p:spPr>
          <a:xfrm>
            <a:off x="457200" y="347400"/>
            <a:ext cx="8229240" cy="6854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400" b="1" u="none" strike="noStrike">
                <a:solidFill>
                  <a:srgbClr val="FFFFFF"/>
                </a:solidFill>
                <a:effectLst/>
                <a:uFillTx/>
                <a:latin typeface="Georgia"/>
                <a:ea typeface="Georgia"/>
              </a:rPr>
              <a:t>Begiak Beti Irekita: Wazuh SIEM eta Denbora Errealeko Monitorizazioa</a:t>
            </a:r>
            <a:endParaRPr lang="en-US" sz="2400" b="0" u="none" strike="noStrike">
              <a:solidFill>
                <a:srgbClr val="000000"/>
              </a:solidFill>
              <a:effectLst/>
              <a:uFillTx/>
              <a:latin typeface="Arial"/>
            </a:endParaRPr>
          </a:p>
        </p:txBody>
      </p:sp>
      <p:sp>
        <p:nvSpPr>
          <p:cNvPr id="280" name="Text 3"/>
          <p:cNvSpPr/>
          <p:nvPr/>
        </p:nvSpPr>
        <p:spPr>
          <a:xfrm>
            <a:off x="274320" y="1170360"/>
            <a:ext cx="416016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1" u="none" spc="201" strike="noStrike">
                <a:solidFill>
                  <a:srgbClr val="0F2D4A"/>
                </a:solidFill>
                <a:effectLst/>
                <a:uFillTx/>
                <a:latin typeface="Calibri"/>
                <a:ea typeface="Calibri"/>
              </a:rPr>
              <a:t>SIEM SISTEMAREN BALIOA</a:t>
            </a:r>
            <a:endParaRPr lang="en-US" sz="1200" b="0" u="none" strike="noStrike">
              <a:solidFill>
                <a:srgbClr val="000000"/>
              </a:solidFill>
              <a:effectLst/>
              <a:uFillTx/>
              <a:latin typeface="Arial"/>
            </a:endParaRPr>
          </a:p>
        </p:txBody>
      </p:sp>
      <p:sp>
        <p:nvSpPr>
          <p:cNvPr id="281" name="Shape 4"/>
          <p:cNvSpPr/>
          <p:nvPr/>
        </p:nvSpPr>
        <p:spPr>
          <a:xfrm>
            <a:off x="274320" y="1591200"/>
            <a:ext cx="347040" cy="347040"/>
          </a:xfrm>
          <a:prstGeom prst="ellipse">
            <a:avLst/>
          </a:prstGeom>
          <a:solidFill>
            <a:srgbClr val="0F2D4A"/>
          </a:solidFill>
          <a:ln w="1270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82" name="Text 5"/>
          <p:cNvSpPr/>
          <p:nvPr/>
        </p:nvSpPr>
        <p:spPr>
          <a:xfrm>
            <a:off x="274320" y="1572840"/>
            <a:ext cx="347040" cy="3470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C8A96E"/>
                </a:solidFill>
                <a:effectLst/>
                <a:uFillTx/>
                <a:latin typeface="Georgia"/>
                <a:ea typeface="Georgia"/>
              </a:rPr>
              <a:t>1</a:t>
            </a:r>
            <a:endParaRPr lang="en-US" sz="1300" b="0" u="none" strike="noStrike">
              <a:solidFill>
                <a:srgbClr val="000000"/>
              </a:solidFill>
              <a:effectLst/>
              <a:uFillTx/>
              <a:latin typeface="Arial"/>
            </a:endParaRPr>
          </a:p>
        </p:txBody>
      </p:sp>
      <p:sp>
        <p:nvSpPr>
          <p:cNvPr id="283" name="Text 6"/>
          <p:cNvSpPr/>
          <p:nvPr/>
        </p:nvSpPr>
        <p:spPr>
          <a:xfrm>
            <a:off x="731520" y="1536120"/>
            <a:ext cx="365724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1E293B"/>
                </a:solidFill>
                <a:effectLst/>
                <a:uFillTx/>
                <a:latin typeface="Calibri"/>
                <a:ea typeface="Calibri"/>
              </a:rPr>
              <a:t>Denbora errealeko monitorizazioa</a:t>
            </a:r>
            <a:endParaRPr lang="en-US" sz="1300" b="0" u="none" strike="noStrike">
              <a:solidFill>
                <a:srgbClr val="000000"/>
              </a:solidFill>
              <a:effectLst/>
              <a:uFillTx/>
              <a:latin typeface="Arial"/>
            </a:endParaRPr>
          </a:p>
        </p:txBody>
      </p:sp>
      <p:sp>
        <p:nvSpPr>
          <p:cNvPr id="284" name="Text 7"/>
          <p:cNvSpPr/>
          <p:nvPr/>
        </p:nvSpPr>
        <p:spPr>
          <a:xfrm>
            <a:off x="731520" y="1810440"/>
            <a:ext cx="3657240" cy="383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0" u="none" strike="noStrike">
                <a:solidFill>
                  <a:srgbClr val="64748B"/>
                </a:solidFill>
                <a:effectLst/>
                <a:uFillTx/>
                <a:latin typeface="Calibri"/>
                <a:ea typeface="Calibri"/>
              </a:rPr>
              <a:t>Suebakia, zerbitzariak, web-aplikazioa eta OT gailuak aldi berean ikusten ditu</a:t>
            </a:r>
            <a:endParaRPr lang="en-US" sz="1000" b="0" u="none" strike="noStrike">
              <a:solidFill>
                <a:srgbClr val="000000"/>
              </a:solidFill>
              <a:effectLst/>
              <a:uFillTx/>
              <a:latin typeface="Arial"/>
            </a:endParaRPr>
          </a:p>
        </p:txBody>
      </p:sp>
      <p:sp>
        <p:nvSpPr>
          <p:cNvPr id="285" name="Shape 8"/>
          <p:cNvSpPr/>
          <p:nvPr/>
        </p:nvSpPr>
        <p:spPr>
          <a:xfrm>
            <a:off x="274320" y="2350080"/>
            <a:ext cx="347040" cy="347040"/>
          </a:xfrm>
          <a:prstGeom prst="ellipse">
            <a:avLst/>
          </a:prstGeom>
          <a:solidFill>
            <a:srgbClr val="0F2D4A"/>
          </a:solidFill>
          <a:ln w="1270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86" name="Text 9"/>
          <p:cNvSpPr/>
          <p:nvPr/>
        </p:nvSpPr>
        <p:spPr>
          <a:xfrm>
            <a:off x="274320" y="2331720"/>
            <a:ext cx="347040" cy="3470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C8A96E"/>
                </a:solidFill>
                <a:effectLst/>
                <a:uFillTx/>
                <a:latin typeface="Georgia"/>
                <a:ea typeface="Georgia"/>
              </a:rPr>
              <a:t>2</a:t>
            </a:r>
            <a:endParaRPr lang="en-US" sz="1300" b="0" u="none" strike="noStrike">
              <a:solidFill>
                <a:srgbClr val="000000"/>
              </a:solidFill>
              <a:effectLst/>
              <a:uFillTx/>
              <a:latin typeface="Arial"/>
            </a:endParaRPr>
          </a:p>
        </p:txBody>
      </p:sp>
      <p:sp>
        <p:nvSpPr>
          <p:cNvPr id="287" name="Text 10"/>
          <p:cNvSpPr/>
          <p:nvPr/>
        </p:nvSpPr>
        <p:spPr>
          <a:xfrm>
            <a:off x="731520" y="2295000"/>
            <a:ext cx="365724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1E293B"/>
                </a:solidFill>
                <a:effectLst/>
                <a:uFillTx/>
                <a:latin typeface="Calibri"/>
                <a:ea typeface="Calibri"/>
              </a:rPr>
              <a:t>Alerta automatikoak</a:t>
            </a:r>
            <a:endParaRPr lang="en-US" sz="1300" b="0" u="none" strike="noStrike">
              <a:solidFill>
                <a:srgbClr val="000000"/>
              </a:solidFill>
              <a:effectLst/>
              <a:uFillTx/>
              <a:latin typeface="Arial"/>
            </a:endParaRPr>
          </a:p>
        </p:txBody>
      </p:sp>
      <p:sp>
        <p:nvSpPr>
          <p:cNvPr id="288" name="Text 11"/>
          <p:cNvSpPr/>
          <p:nvPr/>
        </p:nvSpPr>
        <p:spPr>
          <a:xfrm>
            <a:off x="731520" y="2569320"/>
            <a:ext cx="3657240" cy="383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0" u="none" strike="noStrike">
                <a:solidFill>
                  <a:srgbClr val="64748B"/>
                </a:solidFill>
                <a:effectLst/>
                <a:uFillTx/>
                <a:latin typeface="Calibri"/>
                <a:ea typeface="Calibri"/>
              </a:rPr>
              <a:t>5 saiakera huts / minutu: blokeo automatikoa. Eskaner berria: jakinarazpen berehalakoa</a:t>
            </a:r>
            <a:endParaRPr lang="en-US" sz="1000" b="0" u="none" strike="noStrike">
              <a:solidFill>
                <a:srgbClr val="000000"/>
              </a:solidFill>
              <a:effectLst/>
              <a:uFillTx/>
              <a:latin typeface="Arial"/>
            </a:endParaRPr>
          </a:p>
        </p:txBody>
      </p:sp>
      <p:sp>
        <p:nvSpPr>
          <p:cNvPr id="289" name="Shape 12"/>
          <p:cNvSpPr/>
          <p:nvPr/>
        </p:nvSpPr>
        <p:spPr>
          <a:xfrm>
            <a:off x="274320" y="3108960"/>
            <a:ext cx="347040" cy="347040"/>
          </a:xfrm>
          <a:prstGeom prst="ellipse">
            <a:avLst/>
          </a:prstGeom>
          <a:solidFill>
            <a:srgbClr val="0F2D4A"/>
          </a:solidFill>
          <a:ln w="1270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90" name="Text 13"/>
          <p:cNvSpPr/>
          <p:nvPr/>
        </p:nvSpPr>
        <p:spPr>
          <a:xfrm>
            <a:off x="274320" y="3090600"/>
            <a:ext cx="347040" cy="3470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C8A96E"/>
                </a:solidFill>
                <a:effectLst/>
                <a:uFillTx/>
                <a:latin typeface="Georgia"/>
                <a:ea typeface="Georgia"/>
              </a:rPr>
              <a:t>3</a:t>
            </a:r>
            <a:endParaRPr lang="en-US" sz="1300" b="0" u="none" strike="noStrike">
              <a:solidFill>
                <a:srgbClr val="000000"/>
              </a:solidFill>
              <a:effectLst/>
              <a:uFillTx/>
              <a:latin typeface="Arial"/>
            </a:endParaRPr>
          </a:p>
        </p:txBody>
      </p:sp>
      <p:sp>
        <p:nvSpPr>
          <p:cNvPr id="291" name="Text 14"/>
          <p:cNvSpPr/>
          <p:nvPr/>
        </p:nvSpPr>
        <p:spPr>
          <a:xfrm>
            <a:off x="731520" y="3054240"/>
            <a:ext cx="365724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1E293B"/>
                </a:solidFill>
                <a:effectLst/>
                <a:uFillTx/>
                <a:latin typeface="Calibri"/>
                <a:ea typeface="Calibri"/>
              </a:rPr>
              <a:t>FIM (File Integrity Monitoring)</a:t>
            </a:r>
            <a:endParaRPr lang="en-US" sz="1300" b="0" u="none" strike="noStrike">
              <a:solidFill>
                <a:srgbClr val="000000"/>
              </a:solidFill>
              <a:effectLst/>
              <a:uFillTx/>
              <a:latin typeface="Arial"/>
            </a:endParaRPr>
          </a:p>
        </p:txBody>
      </p:sp>
      <p:sp>
        <p:nvSpPr>
          <p:cNvPr id="292" name="Text 15"/>
          <p:cNvSpPr/>
          <p:nvPr/>
        </p:nvSpPr>
        <p:spPr>
          <a:xfrm>
            <a:off x="731520" y="3328560"/>
            <a:ext cx="3657240" cy="383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0" u="none" strike="noStrike">
                <a:solidFill>
                  <a:srgbClr val="64748B"/>
                </a:solidFill>
                <a:effectLst/>
                <a:uFillTx/>
                <a:latin typeface="Calibri"/>
                <a:ea typeface="Calibri"/>
              </a:rPr>
              <a:t>Edozein fitxategi kritikoren aldaketa detektatzen eta jakinarazten du segundotan</a:t>
            </a:r>
            <a:endParaRPr lang="en-US" sz="1000" b="0" u="none" strike="noStrike">
              <a:solidFill>
                <a:srgbClr val="000000"/>
              </a:solidFill>
              <a:effectLst/>
              <a:uFillTx/>
              <a:latin typeface="Arial"/>
            </a:endParaRPr>
          </a:p>
        </p:txBody>
      </p:sp>
      <p:sp>
        <p:nvSpPr>
          <p:cNvPr id="293" name="Shape 16"/>
          <p:cNvSpPr/>
          <p:nvPr/>
        </p:nvSpPr>
        <p:spPr>
          <a:xfrm>
            <a:off x="274320" y="3867840"/>
            <a:ext cx="347040" cy="347040"/>
          </a:xfrm>
          <a:prstGeom prst="ellipse">
            <a:avLst/>
          </a:prstGeom>
          <a:solidFill>
            <a:srgbClr val="0F2D4A"/>
          </a:solidFill>
          <a:ln w="1270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294" name="Text 17"/>
          <p:cNvSpPr/>
          <p:nvPr/>
        </p:nvSpPr>
        <p:spPr>
          <a:xfrm>
            <a:off x="274320" y="3849480"/>
            <a:ext cx="347040" cy="3470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1" u="none" strike="noStrike">
                <a:solidFill>
                  <a:srgbClr val="C8A96E"/>
                </a:solidFill>
                <a:effectLst/>
                <a:uFillTx/>
                <a:latin typeface="Georgia"/>
                <a:ea typeface="Georgia"/>
              </a:rPr>
              <a:t>4</a:t>
            </a:r>
            <a:endParaRPr lang="en-US" sz="1300" b="0" u="none" strike="noStrike">
              <a:solidFill>
                <a:srgbClr val="000000"/>
              </a:solidFill>
              <a:effectLst/>
              <a:uFillTx/>
              <a:latin typeface="Arial"/>
            </a:endParaRPr>
          </a:p>
        </p:txBody>
      </p:sp>
      <p:sp>
        <p:nvSpPr>
          <p:cNvPr id="295" name="Text 18"/>
          <p:cNvSpPr/>
          <p:nvPr/>
        </p:nvSpPr>
        <p:spPr>
          <a:xfrm>
            <a:off x="731520" y="3813120"/>
            <a:ext cx="365724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1E293B"/>
                </a:solidFill>
                <a:effectLst/>
                <a:uFillTx/>
                <a:latin typeface="Calibri"/>
                <a:ea typeface="Calibri"/>
              </a:rPr>
              <a:t>Kibana panel bisuala (port 5601)</a:t>
            </a:r>
            <a:endParaRPr lang="en-US" sz="1300" b="0" u="none" strike="noStrike">
              <a:solidFill>
                <a:srgbClr val="000000"/>
              </a:solidFill>
              <a:effectLst/>
              <a:uFillTx/>
              <a:latin typeface="Arial"/>
            </a:endParaRPr>
          </a:p>
        </p:txBody>
      </p:sp>
      <p:sp>
        <p:nvSpPr>
          <p:cNvPr id="296" name="Text 19"/>
          <p:cNvSpPr/>
          <p:nvPr/>
        </p:nvSpPr>
        <p:spPr>
          <a:xfrm>
            <a:off x="731520" y="4087440"/>
            <a:ext cx="3657240" cy="3837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0" u="none" strike="noStrike">
                <a:solidFill>
                  <a:srgbClr val="64748B"/>
                </a:solidFill>
                <a:effectLst/>
                <a:uFillTx/>
                <a:latin typeface="Calibri"/>
                <a:ea typeface="Calibri"/>
              </a:rPr>
              <a:t>Incidenteak kolore bidez sailkatuta, joerak grafikoetan, erantzuteko pista argiak</a:t>
            </a:r>
            <a:endParaRPr lang="en-US" sz="1000" b="0" u="none" strike="noStrike">
              <a:solidFill>
                <a:srgbClr val="000000"/>
              </a:solidFill>
              <a:effectLst/>
              <a:uFillTx/>
              <a:latin typeface="Arial"/>
            </a:endParaRPr>
          </a:p>
        </p:txBody>
      </p:sp>
      <p:sp>
        <p:nvSpPr>
          <p:cNvPr id="297" name="Shape 20"/>
          <p:cNvSpPr/>
          <p:nvPr/>
        </p:nvSpPr>
        <p:spPr>
          <a:xfrm>
            <a:off x="4617720" y="1152000"/>
            <a:ext cx="360" cy="3520440"/>
          </a:xfrm>
          <a:prstGeom prst="line">
            <a:avLst/>
          </a:prstGeom>
          <a:ln w="12700">
            <a:solidFill>
              <a:srgbClr val="E2E8F0"/>
            </a:solidFill>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298" name="Text 21"/>
          <p:cNvSpPr/>
          <p:nvPr/>
        </p:nvSpPr>
        <p:spPr>
          <a:xfrm>
            <a:off x="4754880" y="1170360"/>
            <a:ext cx="411444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1" u="none" spc="201" strike="noStrike">
                <a:solidFill>
                  <a:srgbClr val="0F2D4A"/>
                </a:solidFill>
                <a:effectLst/>
                <a:uFillTx/>
                <a:latin typeface="Calibri"/>
                <a:ea typeface="Calibri"/>
              </a:rPr>
              <a:t>ALERTA ARAUAK (ADIBIDEAK)</a:t>
            </a:r>
            <a:endParaRPr lang="en-US" sz="1200" b="0" u="none" strike="noStrike">
              <a:solidFill>
                <a:srgbClr val="000000"/>
              </a:solidFill>
              <a:effectLst/>
              <a:uFillTx/>
              <a:latin typeface="Arial"/>
            </a:endParaRPr>
          </a:p>
        </p:txBody>
      </p:sp>
      <p:sp>
        <p:nvSpPr>
          <p:cNvPr id="299" name="Shape 22"/>
          <p:cNvSpPr/>
          <p:nvPr/>
        </p:nvSpPr>
        <p:spPr>
          <a:xfrm>
            <a:off x="4754880" y="1536120"/>
            <a:ext cx="4114440" cy="667080"/>
          </a:xfrm>
          <a:prstGeom prst="rect">
            <a:avLst/>
          </a:prstGeom>
          <a:solidFill>
            <a:srgbClr val="FFFFFF"/>
          </a:solidFill>
          <a:ln w="12700">
            <a:solidFill>
              <a:srgbClr val="E2E8F0"/>
            </a:solidFill>
            <a:round/>
          </a:ln>
          <a:effectLst>
            <a:outerShdw algn="bl" blurRad="633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00" name="Shape 23"/>
          <p:cNvSpPr/>
          <p:nvPr/>
        </p:nvSpPr>
        <p:spPr>
          <a:xfrm>
            <a:off x="4754880" y="1536120"/>
            <a:ext cx="91080" cy="667080"/>
          </a:xfrm>
          <a:prstGeom prst="rect">
            <a:avLst/>
          </a:prstGeom>
          <a:solidFill>
            <a:srgbClr val="DC2626"/>
          </a:solidFill>
          <a:ln w="12700">
            <a:solidFill>
              <a:srgbClr val="DC262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1" name="Text 24"/>
          <p:cNvSpPr/>
          <p:nvPr/>
        </p:nvSpPr>
        <p:spPr>
          <a:xfrm>
            <a:off x="4892040" y="1591200"/>
            <a:ext cx="146268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1" u="none" spc="99" strike="noStrike">
                <a:solidFill>
                  <a:srgbClr val="DC2626"/>
                </a:solidFill>
                <a:effectLst/>
                <a:uFillTx/>
                <a:latin typeface="Calibri"/>
                <a:ea typeface="Calibri"/>
              </a:rPr>
              <a:t>KRITIKOA</a:t>
            </a:r>
            <a:endParaRPr lang="en-US" sz="900" b="0" u="none" strike="noStrike">
              <a:solidFill>
                <a:srgbClr val="000000"/>
              </a:solidFill>
              <a:effectLst/>
              <a:uFillTx/>
              <a:latin typeface="Arial"/>
            </a:endParaRPr>
          </a:p>
        </p:txBody>
      </p:sp>
      <p:sp>
        <p:nvSpPr>
          <p:cNvPr id="302" name="Text 25"/>
          <p:cNvSpPr/>
          <p:nvPr/>
        </p:nvSpPr>
        <p:spPr>
          <a:xfrm>
            <a:off x="4892040" y="1865520"/>
            <a:ext cx="388584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0" u="none" strike="noStrike">
                <a:solidFill>
                  <a:srgbClr val="1E293B"/>
                </a:solidFill>
                <a:effectLst/>
                <a:uFillTx/>
                <a:latin typeface="Calibri"/>
                <a:ea typeface="Calibri"/>
              </a:rPr>
              <a:t>Pribilegioaren eskalada detektatua</a:t>
            </a:r>
            <a:endParaRPr lang="en-US" sz="1200" b="0" u="none" strike="noStrike">
              <a:solidFill>
                <a:srgbClr val="000000"/>
              </a:solidFill>
              <a:effectLst/>
              <a:uFillTx/>
              <a:latin typeface="Arial"/>
            </a:endParaRPr>
          </a:p>
        </p:txBody>
      </p:sp>
      <p:sp>
        <p:nvSpPr>
          <p:cNvPr id="303" name="Shape 26"/>
          <p:cNvSpPr/>
          <p:nvPr/>
        </p:nvSpPr>
        <p:spPr>
          <a:xfrm>
            <a:off x="4754880" y="2331720"/>
            <a:ext cx="4114440" cy="667080"/>
          </a:xfrm>
          <a:prstGeom prst="rect">
            <a:avLst/>
          </a:prstGeom>
          <a:solidFill>
            <a:srgbClr val="FFFFFF"/>
          </a:solidFill>
          <a:ln w="12700">
            <a:solidFill>
              <a:srgbClr val="E2E8F0"/>
            </a:solidFill>
            <a:round/>
          </a:ln>
          <a:effectLst>
            <a:outerShdw algn="bl" blurRad="633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04" name="Shape 27"/>
          <p:cNvSpPr/>
          <p:nvPr/>
        </p:nvSpPr>
        <p:spPr>
          <a:xfrm>
            <a:off x="4754880" y="2331720"/>
            <a:ext cx="91080" cy="667080"/>
          </a:xfrm>
          <a:prstGeom prst="rect">
            <a:avLst/>
          </a:prstGeom>
          <a:solidFill>
            <a:srgbClr val="F97316"/>
          </a:solidFill>
          <a:ln w="12700">
            <a:solidFill>
              <a:srgbClr val="F9731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5" name="Text 28"/>
          <p:cNvSpPr/>
          <p:nvPr/>
        </p:nvSpPr>
        <p:spPr>
          <a:xfrm>
            <a:off x="4892040" y="2386440"/>
            <a:ext cx="146268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1" u="none" spc="99" strike="noStrike">
                <a:solidFill>
                  <a:srgbClr val="F97316"/>
                </a:solidFill>
                <a:effectLst/>
                <a:uFillTx/>
                <a:latin typeface="Calibri"/>
                <a:ea typeface="Calibri"/>
              </a:rPr>
              <a:t>ALTUA</a:t>
            </a:r>
            <a:endParaRPr lang="en-US" sz="900" b="0" u="none" strike="noStrike">
              <a:solidFill>
                <a:srgbClr val="000000"/>
              </a:solidFill>
              <a:effectLst/>
              <a:uFillTx/>
              <a:latin typeface="Arial"/>
            </a:endParaRPr>
          </a:p>
        </p:txBody>
      </p:sp>
      <p:sp>
        <p:nvSpPr>
          <p:cNvPr id="306" name="Text 29"/>
          <p:cNvSpPr/>
          <p:nvPr/>
        </p:nvSpPr>
        <p:spPr>
          <a:xfrm>
            <a:off x="4892040" y="2660760"/>
            <a:ext cx="388584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0" u="none" strike="noStrike">
                <a:solidFill>
                  <a:srgbClr val="1E293B"/>
                </a:solidFill>
                <a:effectLst/>
                <a:uFillTx/>
                <a:latin typeface="Calibri"/>
                <a:ea typeface="Calibri"/>
              </a:rPr>
              <a:t>Brute-force erasoa (5 huts. / minutu)</a:t>
            </a:r>
            <a:endParaRPr lang="en-US" sz="1200" b="0" u="none" strike="noStrike">
              <a:solidFill>
                <a:srgbClr val="000000"/>
              </a:solidFill>
              <a:effectLst/>
              <a:uFillTx/>
              <a:latin typeface="Arial"/>
            </a:endParaRPr>
          </a:p>
        </p:txBody>
      </p:sp>
      <p:sp>
        <p:nvSpPr>
          <p:cNvPr id="307" name="Shape 30"/>
          <p:cNvSpPr/>
          <p:nvPr/>
        </p:nvSpPr>
        <p:spPr>
          <a:xfrm>
            <a:off x="4754880" y="3127320"/>
            <a:ext cx="4114440" cy="667080"/>
          </a:xfrm>
          <a:prstGeom prst="rect">
            <a:avLst/>
          </a:prstGeom>
          <a:solidFill>
            <a:srgbClr val="FFFFFF"/>
          </a:solidFill>
          <a:ln w="12700">
            <a:solidFill>
              <a:srgbClr val="E2E8F0"/>
            </a:solidFill>
            <a:round/>
          </a:ln>
          <a:effectLst>
            <a:outerShdw algn="bl" blurRad="633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08" name="Shape 31"/>
          <p:cNvSpPr/>
          <p:nvPr/>
        </p:nvSpPr>
        <p:spPr>
          <a:xfrm>
            <a:off x="4754880" y="3127320"/>
            <a:ext cx="91080" cy="667080"/>
          </a:xfrm>
          <a:prstGeom prst="rect">
            <a:avLst/>
          </a:prstGeom>
          <a:solidFill>
            <a:srgbClr val="0EA5E9"/>
          </a:solidFill>
          <a:ln w="12700">
            <a:solidFill>
              <a:srgbClr val="0EA5E9"/>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09" name="Text 32"/>
          <p:cNvSpPr/>
          <p:nvPr/>
        </p:nvSpPr>
        <p:spPr>
          <a:xfrm>
            <a:off x="4892040" y="3182040"/>
            <a:ext cx="146268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1" u="none" spc="99" strike="noStrike">
                <a:solidFill>
                  <a:srgbClr val="0EA5E9"/>
                </a:solidFill>
                <a:effectLst/>
                <a:uFillTx/>
                <a:latin typeface="Calibri"/>
                <a:ea typeface="Calibri"/>
              </a:rPr>
              <a:t>ERTAINA</a:t>
            </a:r>
            <a:endParaRPr lang="en-US" sz="900" b="0" u="none" strike="noStrike">
              <a:solidFill>
                <a:srgbClr val="000000"/>
              </a:solidFill>
              <a:effectLst/>
              <a:uFillTx/>
              <a:latin typeface="Arial"/>
            </a:endParaRPr>
          </a:p>
        </p:txBody>
      </p:sp>
      <p:sp>
        <p:nvSpPr>
          <p:cNvPr id="310" name="Text 33"/>
          <p:cNvSpPr/>
          <p:nvPr/>
        </p:nvSpPr>
        <p:spPr>
          <a:xfrm>
            <a:off x="4892040" y="3456360"/>
            <a:ext cx="388584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0" u="none" strike="noStrike">
                <a:solidFill>
                  <a:srgbClr val="1E293B"/>
                </a:solidFill>
                <a:effectLst/>
                <a:uFillTx/>
                <a:latin typeface="Calibri"/>
                <a:ea typeface="Calibri"/>
              </a:rPr>
              <a:t>Eskaner berria OT sarean detektatua</a:t>
            </a:r>
            <a:endParaRPr lang="en-US" sz="1200" b="0" u="none" strike="noStrike">
              <a:solidFill>
                <a:srgbClr val="000000"/>
              </a:solidFill>
              <a:effectLst/>
              <a:uFillTx/>
              <a:latin typeface="Arial"/>
            </a:endParaRPr>
          </a:p>
        </p:txBody>
      </p:sp>
      <p:sp>
        <p:nvSpPr>
          <p:cNvPr id="311" name="Shape 34"/>
          <p:cNvSpPr/>
          <p:nvPr/>
        </p:nvSpPr>
        <p:spPr>
          <a:xfrm>
            <a:off x="4754880" y="3922920"/>
            <a:ext cx="4114440" cy="667080"/>
          </a:xfrm>
          <a:prstGeom prst="rect">
            <a:avLst/>
          </a:prstGeom>
          <a:solidFill>
            <a:srgbClr val="FFFFFF"/>
          </a:solidFill>
          <a:ln w="12700">
            <a:solidFill>
              <a:srgbClr val="E2E8F0"/>
            </a:solidFill>
            <a:round/>
          </a:ln>
          <a:effectLst>
            <a:outerShdw algn="bl" blurRad="633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12" name="Shape 35"/>
          <p:cNvSpPr/>
          <p:nvPr/>
        </p:nvSpPr>
        <p:spPr>
          <a:xfrm>
            <a:off x="4754880" y="3922920"/>
            <a:ext cx="91080" cy="667080"/>
          </a:xfrm>
          <a:prstGeom prst="rect">
            <a:avLst/>
          </a:prstGeom>
          <a:solidFill>
            <a:srgbClr val="16A34A"/>
          </a:solidFill>
          <a:ln w="12700">
            <a:solidFill>
              <a:srgbClr val="16A3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13" name="Text 36"/>
          <p:cNvSpPr/>
          <p:nvPr/>
        </p:nvSpPr>
        <p:spPr>
          <a:xfrm>
            <a:off x="4892040" y="3977640"/>
            <a:ext cx="146268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1" u="none" spc="99" strike="noStrike">
                <a:solidFill>
                  <a:srgbClr val="16A34A"/>
                </a:solidFill>
                <a:effectLst/>
                <a:uFillTx/>
                <a:latin typeface="Calibri"/>
                <a:ea typeface="Calibri"/>
              </a:rPr>
              <a:t>BAXUA</a:t>
            </a:r>
            <a:endParaRPr lang="en-US" sz="900" b="0" u="none" strike="noStrike">
              <a:solidFill>
                <a:srgbClr val="000000"/>
              </a:solidFill>
              <a:effectLst/>
              <a:uFillTx/>
              <a:latin typeface="Arial"/>
            </a:endParaRPr>
          </a:p>
        </p:txBody>
      </p:sp>
      <p:sp>
        <p:nvSpPr>
          <p:cNvPr id="314" name="Text 37"/>
          <p:cNvSpPr/>
          <p:nvPr/>
        </p:nvSpPr>
        <p:spPr>
          <a:xfrm>
            <a:off x="4892040" y="4251960"/>
            <a:ext cx="388584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0" u="none" strike="noStrike">
                <a:solidFill>
                  <a:srgbClr val="1E293B"/>
                </a:solidFill>
                <a:effectLst/>
                <a:uFillTx/>
                <a:latin typeface="Calibri"/>
                <a:ea typeface="Calibri"/>
              </a:rPr>
              <a:t>Port-eskanerrak kanpotik detektatuta</a:t>
            </a:r>
            <a:endParaRPr lang="en-US" sz="1200" b="0" u="none" strike="noStrike">
              <a:solidFill>
                <a:srgbClr val="000000"/>
              </a:solidFill>
              <a:effectLst/>
              <a:uFillTx/>
              <a:latin typeface="Arial"/>
            </a:endParaRPr>
          </a:p>
        </p:txBody>
      </p:sp>
      <p:sp>
        <p:nvSpPr>
          <p:cNvPr id="315" name="Shape 38"/>
          <p:cNvSpPr/>
          <p:nvPr/>
        </p:nvSpPr>
        <p:spPr>
          <a:xfrm>
            <a:off x="0" y="4937760"/>
            <a:ext cx="9143640" cy="205560"/>
          </a:xfrm>
          <a:prstGeom prst="rect">
            <a:avLst/>
          </a:prstGeom>
          <a:solidFill>
            <a:srgbClr val="0F2D4A"/>
          </a:solidFill>
          <a:ln w="1270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16" name="Text 39"/>
          <p:cNvSpPr/>
          <p:nvPr/>
        </p:nvSpPr>
        <p:spPr>
          <a:xfrm>
            <a:off x="274320" y="4946760"/>
            <a:ext cx="8595000" cy="1825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C8A96E"/>
                </a:solidFill>
                <a:effectLst/>
                <a:uFillTx/>
                <a:latin typeface="Calibri"/>
                <a:ea typeface="Calibri"/>
              </a:rPr>
              <a:t>Zabala Gailetak · Zibersegurtasun Entrega 2026</a:t>
            </a:r>
            <a:endParaRPr lang="en-US" sz="900" b="0" u="none" strike="noStrike">
              <a:solidFill>
                <a:srgbClr val="000000"/>
              </a:solidFill>
              <a:effectLst/>
              <a:uFillTx/>
              <a:latin typeface="Arial"/>
            </a:endParaRPr>
          </a:p>
        </p:txBody>
      </p:sp>
      <p:sp>
        <p:nvSpPr>
          <p:cNvPr id="317" name="Text 40"/>
          <p:cNvSpPr/>
          <p:nvPr/>
        </p:nvSpPr>
        <p:spPr>
          <a:xfrm>
            <a:off x="274320" y="4946760"/>
            <a:ext cx="8595000" cy="18252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10 / 14</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318" name="Shape 0"/>
          <p:cNvSpPr/>
          <p:nvPr/>
        </p:nvSpPr>
        <p:spPr>
          <a:xfrm>
            <a:off x="0" y="0"/>
            <a:ext cx="9143640" cy="1096920"/>
          </a:xfrm>
          <a:prstGeom prst="rect">
            <a:avLst/>
          </a:prstGeom>
          <a:solidFill>
            <a:srgbClr val="0F2D4A"/>
          </a:solidFill>
          <a:ln w="1270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19" name="Text 1"/>
          <p:cNvSpPr/>
          <p:nvPr/>
        </p:nvSpPr>
        <p:spPr>
          <a:xfrm>
            <a:off x="457200" y="73080"/>
            <a:ext cx="8229240" cy="237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pc="201" strike="noStrike">
                <a:solidFill>
                  <a:srgbClr val="C8A96E"/>
                </a:solidFill>
                <a:effectLst/>
                <a:uFillTx/>
                <a:latin typeface="Calibri"/>
                <a:ea typeface="Calibri"/>
              </a:rPr>
              <a:t>04 · ERASOEN AURKAKO PREBENTZIOA</a:t>
            </a:r>
            <a:endParaRPr lang="en-US" sz="1000" b="0" u="none" strike="noStrike">
              <a:solidFill>
                <a:srgbClr val="000000"/>
              </a:solidFill>
              <a:effectLst/>
              <a:uFillTx/>
              <a:latin typeface="Arial"/>
            </a:endParaRPr>
          </a:p>
        </p:txBody>
      </p:sp>
      <p:sp>
        <p:nvSpPr>
          <p:cNvPr id="320" name="Text 2"/>
          <p:cNvSpPr/>
          <p:nvPr/>
        </p:nvSpPr>
        <p:spPr>
          <a:xfrm>
            <a:off x="457200" y="347400"/>
            <a:ext cx="8229240" cy="6854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400" b="1" u="none" strike="noStrike">
                <a:solidFill>
                  <a:srgbClr val="FFFFFF"/>
                </a:solidFill>
                <a:effectLst/>
                <a:uFillTx/>
                <a:latin typeface="Georgia"/>
                <a:ea typeface="Georgia"/>
              </a:rPr>
              <a:t>Tranpak Erasotzaileentzat eta Plan Aktiboa Erantzuteko</a:t>
            </a:r>
            <a:endParaRPr lang="en-US" sz="2400" b="0" u="none" strike="noStrike">
              <a:solidFill>
                <a:srgbClr val="000000"/>
              </a:solidFill>
              <a:effectLst/>
              <a:uFillTx/>
              <a:latin typeface="Arial"/>
            </a:endParaRPr>
          </a:p>
        </p:txBody>
      </p:sp>
      <p:sp>
        <p:nvSpPr>
          <p:cNvPr id="321" name="Text 3"/>
          <p:cNvSpPr/>
          <p:nvPr/>
        </p:nvSpPr>
        <p:spPr>
          <a:xfrm>
            <a:off x="274320" y="1170360"/>
            <a:ext cx="416016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1" u="none" spc="201" strike="noStrike">
                <a:solidFill>
                  <a:srgbClr val="0F2D4A"/>
                </a:solidFill>
                <a:effectLst/>
                <a:uFillTx/>
                <a:latin typeface="Calibri"/>
                <a:ea typeface="Calibri"/>
              </a:rPr>
              <a:t>HONEYPOT ESTRATEGIA</a:t>
            </a:r>
            <a:endParaRPr lang="en-US" sz="1200" b="0" u="none" strike="noStrike">
              <a:solidFill>
                <a:srgbClr val="000000"/>
              </a:solidFill>
              <a:effectLst/>
              <a:uFillTx/>
              <a:latin typeface="Arial"/>
            </a:endParaRPr>
          </a:p>
        </p:txBody>
      </p:sp>
      <p:sp>
        <p:nvSpPr>
          <p:cNvPr id="322" name="Shape 4"/>
          <p:cNvSpPr/>
          <p:nvPr/>
        </p:nvSpPr>
        <p:spPr>
          <a:xfrm>
            <a:off x="274320" y="1508760"/>
            <a:ext cx="4160160" cy="2697120"/>
          </a:xfrm>
          <a:prstGeom prst="rect">
            <a:avLst/>
          </a:prstGeom>
          <a:solidFill>
            <a:srgbClr val="1A2B3C"/>
          </a:solidFill>
          <a:ln w="12700">
            <a:solidFill>
              <a:srgbClr val="F97316"/>
            </a:solidFill>
            <a:round/>
          </a:ln>
          <a:effectLst>
            <a:outerShdw algn="bl" blurRad="101520" dir="8100000" dist="37674" kx="0" ky="0" rotWithShape="0" sx="100000" sy="100000">
              <a:srgbClr val="000000">
                <a:alpha val="15000"/>
              </a:srgbClr>
            </a:outerShdw>
          </a:effectLst>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3" name="Shape 5"/>
          <p:cNvSpPr/>
          <p:nvPr/>
        </p:nvSpPr>
        <p:spPr>
          <a:xfrm>
            <a:off x="411480" y="1664280"/>
            <a:ext cx="1051200" cy="566640"/>
          </a:xfrm>
          <a:prstGeom prst="rect">
            <a:avLst/>
          </a:prstGeom>
          <a:solidFill>
            <a:srgbClr val="F97316"/>
          </a:solidFill>
          <a:ln w="12700">
            <a:solidFill>
              <a:srgbClr val="F9731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4" name="Text 6"/>
          <p:cNvSpPr/>
          <p:nvPr/>
        </p:nvSpPr>
        <p:spPr>
          <a:xfrm>
            <a:off x="411480" y="1664280"/>
            <a:ext cx="1051200" cy="5666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200" b="1" u="none" strike="noStrike">
                <a:solidFill>
                  <a:srgbClr val="FFFFFF"/>
                </a:solidFill>
                <a:effectLst/>
                <a:uFillTx/>
                <a:latin typeface="Calibri"/>
                <a:ea typeface="Calibri"/>
              </a:rPr>
              <a:t>Cowrie</a:t>
            </a:r>
            <a:endParaRPr lang="en-US" sz="1200" b="0" u="none" strike="noStrike">
              <a:solidFill>
                <a:srgbClr val="000000"/>
              </a:solidFill>
              <a:effectLst/>
              <a:uFillTx/>
              <a:latin typeface="Arial"/>
            </a:endParaRPr>
          </a:p>
        </p:txBody>
      </p:sp>
      <p:sp>
        <p:nvSpPr>
          <p:cNvPr id="325" name="Text 7"/>
          <p:cNvSpPr/>
          <p:nvPr/>
        </p:nvSpPr>
        <p:spPr>
          <a:xfrm>
            <a:off x="1572840" y="1664280"/>
            <a:ext cx="2742840" cy="5666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0" u="none" strike="noStrike">
                <a:solidFill>
                  <a:srgbClr val="CBD5E1"/>
                </a:solidFill>
                <a:effectLst/>
                <a:uFillTx/>
                <a:latin typeface="Calibri"/>
                <a:ea typeface="Calibri"/>
              </a:rPr>
              <a:t>SSH/Telnet tranpa. Saiakera guztiak grabatu,</a:t>
            </a:r>
            <a:endParaRPr lang="en-US"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CBD5E1"/>
                </a:solidFill>
                <a:effectLst/>
                <a:uFillTx/>
                <a:latin typeface="Calibri"/>
                <a:ea typeface="Calibri"/>
              </a:rPr>
              <a:t>erabiltzaile+pasahitz patroiak analizatu</a:t>
            </a:r>
            <a:endParaRPr lang="en-US" sz="1000" b="0" u="none" strike="noStrike">
              <a:solidFill>
                <a:srgbClr val="000000"/>
              </a:solidFill>
              <a:effectLst/>
              <a:uFillTx/>
              <a:latin typeface="Arial"/>
            </a:endParaRPr>
          </a:p>
        </p:txBody>
      </p:sp>
      <p:sp>
        <p:nvSpPr>
          <p:cNvPr id="326" name="Shape 8"/>
          <p:cNvSpPr/>
          <p:nvPr/>
        </p:nvSpPr>
        <p:spPr>
          <a:xfrm>
            <a:off x="411480" y="2468880"/>
            <a:ext cx="1051200" cy="566640"/>
          </a:xfrm>
          <a:prstGeom prst="rect">
            <a:avLst/>
          </a:prstGeom>
          <a:solidFill>
            <a:srgbClr val="F97316"/>
          </a:solidFill>
          <a:ln w="12700">
            <a:solidFill>
              <a:srgbClr val="F9731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27" name="Text 9"/>
          <p:cNvSpPr/>
          <p:nvPr/>
        </p:nvSpPr>
        <p:spPr>
          <a:xfrm>
            <a:off x="411480" y="2468880"/>
            <a:ext cx="1051200" cy="5666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200" b="1" u="none" strike="noStrike">
                <a:solidFill>
                  <a:srgbClr val="FFFFFF"/>
                </a:solidFill>
                <a:effectLst/>
                <a:uFillTx/>
                <a:latin typeface="Calibri"/>
                <a:ea typeface="Calibri"/>
              </a:rPr>
              <a:t>Conpot</a:t>
            </a:r>
            <a:endParaRPr lang="en-US" sz="1200" b="0" u="none" strike="noStrike">
              <a:solidFill>
                <a:srgbClr val="000000"/>
              </a:solidFill>
              <a:effectLst/>
              <a:uFillTx/>
              <a:latin typeface="Arial"/>
            </a:endParaRPr>
          </a:p>
        </p:txBody>
      </p:sp>
      <p:sp>
        <p:nvSpPr>
          <p:cNvPr id="328" name="Text 10"/>
          <p:cNvSpPr/>
          <p:nvPr/>
        </p:nvSpPr>
        <p:spPr>
          <a:xfrm>
            <a:off x="1572840" y="2468880"/>
            <a:ext cx="2742840" cy="5666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0" u="none" strike="noStrike">
                <a:solidFill>
                  <a:srgbClr val="CBD5E1"/>
                </a:solidFill>
                <a:effectLst/>
                <a:uFillTx/>
                <a:latin typeface="Calibri"/>
                <a:ea typeface="Calibri"/>
              </a:rPr>
              <a:t>OT/ICS simulakroa. Modbus TCP baimendua.</a:t>
            </a:r>
            <a:endParaRPr lang="en-US"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CBD5E1"/>
                </a:solidFill>
                <a:effectLst/>
                <a:uFillTx/>
                <a:latin typeface="Calibri"/>
                <a:ea typeface="Calibri"/>
              </a:rPr>
              <a:t>Industria-erasotzaileak erakarri eta detektatu</a:t>
            </a:r>
            <a:endParaRPr lang="en-US" sz="1000" b="0" u="none" strike="noStrike">
              <a:solidFill>
                <a:srgbClr val="000000"/>
              </a:solidFill>
              <a:effectLst/>
              <a:uFillTx/>
              <a:latin typeface="Arial"/>
            </a:endParaRPr>
          </a:p>
        </p:txBody>
      </p:sp>
      <p:sp>
        <p:nvSpPr>
          <p:cNvPr id="329" name="Shape 11"/>
          <p:cNvSpPr/>
          <p:nvPr/>
        </p:nvSpPr>
        <p:spPr>
          <a:xfrm>
            <a:off x="411480" y="3273480"/>
            <a:ext cx="1051200" cy="566640"/>
          </a:xfrm>
          <a:prstGeom prst="rect">
            <a:avLst/>
          </a:prstGeom>
          <a:solidFill>
            <a:srgbClr val="F97316"/>
          </a:solidFill>
          <a:ln w="12700">
            <a:solidFill>
              <a:srgbClr val="F9731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30" name="Text 12"/>
          <p:cNvSpPr/>
          <p:nvPr/>
        </p:nvSpPr>
        <p:spPr>
          <a:xfrm>
            <a:off x="411480" y="3273480"/>
            <a:ext cx="1051200" cy="56664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200" b="1" u="none" strike="noStrike">
                <a:solidFill>
                  <a:srgbClr val="FFFFFF"/>
                </a:solidFill>
                <a:effectLst/>
                <a:uFillTx/>
                <a:latin typeface="Calibri"/>
                <a:ea typeface="Calibri"/>
              </a:rPr>
              <a:t>T-Pot</a:t>
            </a:r>
            <a:endParaRPr lang="en-US" sz="1200" b="0" u="none" strike="noStrike">
              <a:solidFill>
                <a:srgbClr val="000000"/>
              </a:solidFill>
              <a:effectLst/>
              <a:uFillTx/>
              <a:latin typeface="Arial"/>
            </a:endParaRPr>
          </a:p>
        </p:txBody>
      </p:sp>
      <p:sp>
        <p:nvSpPr>
          <p:cNvPr id="331" name="Text 13"/>
          <p:cNvSpPr/>
          <p:nvPr/>
        </p:nvSpPr>
        <p:spPr>
          <a:xfrm>
            <a:off x="1572840" y="3273480"/>
            <a:ext cx="2742840" cy="5666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0" u="none" strike="noStrike">
                <a:solidFill>
                  <a:srgbClr val="CBD5E1"/>
                </a:solidFill>
                <a:effectLst/>
                <a:uFillTx/>
                <a:latin typeface="Calibri"/>
                <a:ea typeface="Calibri"/>
              </a:rPr>
              <a:t>Plataforma orokor. GeoIP jatorria, malware-</a:t>
            </a:r>
            <a:endParaRPr lang="en-US" sz="1000" b="0" u="none" strike="noStrike">
              <a:solidFill>
                <a:srgbClr val="000000"/>
              </a:solidFill>
              <a:effectLst/>
              <a:uFillTx/>
              <a:latin typeface="Arial"/>
            </a:endParaRPr>
          </a:p>
          <a:p>
            <a:pPr defTabSz="914400">
              <a:lnSpc>
                <a:spcPct val="100000"/>
              </a:lnSpc>
              <a:tabLst>
                <a:tab pos="0" algn="l"/>
              </a:tabLst>
            </a:pPr>
            <a:r>
              <a:rPr lang="en-US" sz="1000" b="0" u="none" strike="noStrike">
                <a:solidFill>
                  <a:srgbClr val="CBD5E1"/>
                </a:solidFill>
                <a:effectLst/>
                <a:uFillTx/>
                <a:latin typeface="Calibri"/>
                <a:ea typeface="Calibri"/>
              </a:rPr>
              <a:t>laginen bilketa eta analisi automatikoa</a:t>
            </a:r>
            <a:endParaRPr lang="en-US" sz="1000" b="0" u="none" strike="noStrike">
              <a:solidFill>
                <a:srgbClr val="000000"/>
              </a:solidFill>
              <a:effectLst/>
              <a:uFillTx/>
              <a:latin typeface="Arial"/>
            </a:endParaRPr>
          </a:p>
        </p:txBody>
      </p:sp>
      <p:sp>
        <p:nvSpPr>
          <p:cNvPr id="332" name="Text 14"/>
          <p:cNvSpPr/>
          <p:nvPr/>
        </p:nvSpPr>
        <p:spPr>
          <a:xfrm>
            <a:off x="411480" y="4133160"/>
            <a:ext cx="388584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0" i="1" u="none" strike="noStrike">
                <a:solidFill>
                  <a:srgbClr val="C8A96E"/>
                </a:solidFill>
                <a:effectLst/>
                <a:uFillTx/>
                <a:latin typeface="Calibri"/>
                <a:ea typeface="Calibri"/>
              </a:rPr>
              <a:t>Sare isolatua: 172.16.99.0/24  |  Produktioan eraginik ez</a:t>
            </a:r>
            <a:endParaRPr lang="en-US" sz="1000" b="0" u="none" strike="noStrike">
              <a:solidFill>
                <a:srgbClr val="000000"/>
              </a:solidFill>
              <a:effectLst/>
              <a:uFillTx/>
              <a:latin typeface="Arial"/>
            </a:endParaRPr>
          </a:p>
        </p:txBody>
      </p:sp>
      <p:sp>
        <p:nvSpPr>
          <p:cNvPr id="333" name="Shape 15"/>
          <p:cNvSpPr/>
          <p:nvPr/>
        </p:nvSpPr>
        <p:spPr>
          <a:xfrm>
            <a:off x="4617720" y="1152000"/>
            <a:ext cx="360" cy="3520440"/>
          </a:xfrm>
          <a:prstGeom prst="line">
            <a:avLst/>
          </a:prstGeom>
          <a:ln w="12700">
            <a:solidFill>
              <a:srgbClr val="E2E8F0"/>
            </a:solidFill>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334" name="Text 16"/>
          <p:cNvSpPr/>
          <p:nvPr/>
        </p:nvSpPr>
        <p:spPr>
          <a:xfrm>
            <a:off x="4754880" y="1170360"/>
            <a:ext cx="411444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1" u="none" spc="201" strike="noStrike">
                <a:solidFill>
                  <a:srgbClr val="0F2D4A"/>
                </a:solidFill>
                <a:effectLst/>
                <a:uFillTx/>
                <a:latin typeface="Calibri"/>
                <a:ea typeface="Calibri"/>
              </a:rPr>
              <a:t>INCIDENT RESPONSE PLANA</a:t>
            </a:r>
            <a:endParaRPr lang="en-US" sz="1200" b="0" u="none" strike="noStrike">
              <a:solidFill>
                <a:srgbClr val="000000"/>
              </a:solidFill>
              <a:effectLst/>
              <a:uFillTx/>
              <a:latin typeface="Arial"/>
            </a:endParaRPr>
          </a:p>
        </p:txBody>
      </p:sp>
      <p:sp>
        <p:nvSpPr>
          <p:cNvPr id="335" name="Shape 17"/>
          <p:cNvSpPr/>
          <p:nvPr/>
        </p:nvSpPr>
        <p:spPr>
          <a:xfrm>
            <a:off x="4754880" y="1536120"/>
            <a:ext cx="4114440" cy="667080"/>
          </a:xfrm>
          <a:prstGeom prst="rect">
            <a:avLst/>
          </a:prstGeom>
          <a:solidFill>
            <a:srgbClr val="FFFFFF"/>
          </a:solidFill>
          <a:ln w="12700">
            <a:solidFill>
              <a:srgbClr val="E2E8F0"/>
            </a:solidFill>
            <a:round/>
          </a:ln>
          <a:effectLst>
            <a:outerShdw algn="bl" blurRad="633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36" name="Shape 18"/>
          <p:cNvSpPr/>
          <p:nvPr/>
        </p:nvSpPr>
        <p:spPr>
          <a:xfrm>
            <a:off x="4754880" y="1536120"/>
            <a:ext cx="91080" cy="667080"/>
          </a:xfrm>
          <a:prstGeom prst="rect">
            <a:avLst/>
          </a:prstGeom>
          <a:solidFill>
            <a:srgbClr val="DC2626"/>
          </a:solidFill>
          <a:ln w="12700">
            <a:solidFill>
              <a:srgbClr val="DC262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37" name="Text 19"/>
          <p:cNvSpPr/>
          <p:nvPr/>
        </p:nvSpPr>
        <p:spPr>
          <a:xfrm>
            <a:off x="4892040" y="1581840"/>
            <a:ext cx="109692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DC2626"/>
                </a:solidFill>
                <a:effectLst/>
                <a:uFillTx/>
                <a:latin typeface="Calibri"/>
                <a:ea typeface="Calibri"/>
              </a:rPr>
              <a:t>0-24 h</a:t>
            </a:r>
            <a:endParaRPr lang="en-US" sz="1100" b="0" u="none" strike="noStrike">
              <a:solidFill>
                <a:srgbClr val="000000"/>
              </a:solidFill>
              <a:effectLst/>
              <a:uFillTx/>
              <a:latin typeface="Arial"/>
            </a:endParaRPr>
          </a:p>
        </p:txBody>
      </p:sp>
      <p:sp>
        <p:nvSpPr>
          <p:cNvPr id="338" name="Text 20"/>
          <p:cNvSpPr/>
          <p:nvPr/>
        </p:nvSpPr>
        <p:spPr>
          <a:xfrm>
            <a:off x="4892040" y="1865520"/>
            <a:ext cx="388584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0" u="none" strike="noStrike">
                <a:solidFill>
                  <a:srgbClr val="1E293B"/>
                </a:solidFill>
                <a:effectLst/>
                <a:uFillTx/>
                <a:latin typeface="Calibri"/>
                <a:ea typeface="Calibri"/>
              </a:rPr>
              <a:t>Detekzioa eta lehenengo albistea</a:t>
            </a:r>
            <a:endParaRPr lang="en-US" sz="1200" b="0" u="none" strike="noStrike">
              <a:solidFill>
                <a:srgbClr val="000000"/>
              </a:solidFill>
              <a:effectLst/>
              <a:uFillTx/>
              <a:latin typeface="Arial"/>
            </a:endParaRPr>
          </a:p>
        </p:txBody>
      </p:sp>
      <p:sp>
        <p:nvSpPr>
          <p:cNvPr id="339" name="Shape 21"/>
          <p:cNvSpPr/>
          <p:nvPr/>
        </p:nvSpPr>
        <p:spPr>
          <a:xfrm>
            <a:off x="4754880" y="2331720"/>
            <a:ext cx="4114440" cy="667080"/>
          </a:xfrm>
          <a:prstGeom prst="rect">
            <a:avLst/>
          </a:prstGeom>
          <a:solidFill>
            <a:srgbClr val="FFFFFF"/>
          </a:solidFill>
          <a:ln w="12700">
            <a:solidFill>
              <a:srgbClr val="E2E8F0"/>
            </a:solidFill>
            <a:round/>
          </a:ln>
          <a:effectLst>
            <a:outerShdw algn="bl" blurRad="633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0" name="Shape 22"/>
          <p:cNvSpPr/>
          <p:nvPr/>
        </p:nvSpPr>
        <p:spPr>
          <a:xfrm>
            <a:off x="4754880" y="2331720"/>
            <a:ext cx="91080" cy="667080"/>
          </a:xfrm>
          <a:prstGeom prst="rect">
            <a:avLst/>
          </a:prstGeom>
          <a:solidFill>
            <a:srgbClr val="F97316"/>
          </a:solidFill>
          <a:ln w="12700">
            <a:solidFill>
              <a:srgbClr val="F9731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41" name="Text 23"/>
          <p:cNvSpPr/>
          <p:nvPr/>
        </p:nvSpPr>
        <p:spPr>
          <a:xfrm>
            <a:off x="4892040" y="2377440"/>
            <a:ext cx="109692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F97316"/>
                </a:solidFill>
                <a:effectLst/>
                <a:uFillTx/>
                <a:latin typeface="Calibri"/>
                <a:ea typeface="Calibri"/>
              </a:rPr>
              <a:t>24-72 h</a:t>
            </a:r>
            <a:endParaRPr lang="en-US" sz="1100" b="0" u="none" strike="noStrike">
              <a:solidFill>
                <a:srgbClr val="000000"/>
              </a:solidFill>
              <a:effectLst/>
              <a:uFillTx/>
              <a:latin typeface="Arial"/>
            </a:endParaRPr>
          </a:p>
        </p:txBody>
      </p:sp>
      <p:sp>
        <p:nvSpPr>
          <p:cNvPr id="342" name="Text 24"/>
          <p:cNvSpPr/>
          <p:nvPr/>
        </p:nvSpPr>
        <p:spPr>
          <a:xfrm>
            <a:off x="4892040" y="2660760"/>
            <a:ext cx="388584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0" u="none" strike="noStrike">
                <a:solidFill>
                  <a:srgbClr val="1E293B"/>
                </a:solidFill>
                <a:effectLst/>
                <a:uFillTx/>
                <a:latin typeface="Calibri"/>
                <a:ea typeface="Calibri"/>
              </a:rPr>
              <a:t>Analisi zehatza + NIS2 txosten ofiziala</a:t>
            </a:r>
            <a:endParaRPr lang="en-US" sz="1200" b="0" u="none" strike="noStrike">
              <a:solidFill>
                <a:srgbClr val="000000"/>
              </a:solidFill>
              <a:effectLst/>
              <a:uFillTx/>
              <a:latin typeface="Arial"/>
            </a:endParaRPr>
          </a:p>
        </p:txBody>
      </p:sp>
      <p:sp>
        <p:nvSpPr>
          <p:cNvPr id="343" name="Shape 25"/>
          <p:cNvSpPr/>
          <p:nvPr/>
        </p:nvSpPr>
        <p:spPr>
          <a:xfrm>
            <a:off x="4754880" y="3127320"/>
            <a:ext cx="4114440" cy="667080"/>
          </a:xfrm>
          <a:prstGeom prst="rect">
            <a:avLst/>
          </a:prstGeom>
          <a:solidFill>
            <a:srgbClr val="FFFFFF"/>
          </a:solidFill>
          <a:ln w="12700">
            <a:solidFill>
              <a:srgbClr val="E2E8F0"/>
            </a:solidFill>
            <a:round/>
          </a:ln>
          <a:effectLst>
            <a:outerShdw algn="bl" blurRad="633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4" name="Shape 26"/>
          <p:cNvSpPr/>
          <p:nvPr/>
        </p:nvSpPr>
        <p:spPr>
          <a:xfrm>
            <a:off x="4754880" y="3127320"/>
            <a:ext cx="91080" cy="667080"/>
          </a:xfrm>
          <a:prstGeom prst="rect">
            <a:avLst/>
          </a:prstGeom>
          <a:solidFill>
            <a:srgbClr val="0EA5E9"/>
          </a:solidFill>
          <a:ln w="12700">
            <a:solidFill>
              <a:srgbClr val="0EA5E9"/>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45" name="Text 27"/>
          <p:cNvSpPr/>
          <p:nvPr/>
        </p:nvSpPr>
        <p:spPr>
          <a:xfrm>
            <a:off x="4892040" y="3173040"/>
            <a:ext cx="109692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0EA5E9"/>
                </a:solidFill>
                <a:effectLst/>
                <a:uFillTx/>
                <a:latin typeface="Calibri"/>
                <a:ea typeface="Calibri"/>
              </a:rPr>
              <a:t>72 h+</a:t>
            </a:r>
            <a:endParaRPr lang="en-US" sz="1100" b="0" u="none" strike="noStrike">
              <a:solidFill>
                <a:srgbClr val="000000"/>
              </a:solidFill>
              <a:effectLst/>
              <a:uFillTx/>
              <a:latin typeface="Arial"/>
            </a:endParaRPr>
          </a:p>
        </p:txBody>
      </p:sp>
      <p:sp>
        <p:nvSpPr>
          <p:cNvPr id="346" name="Text 28"/>
          <p:cNvSpPr/>
          <p:nvPr/>
        </p:nvSpPr>
        <p:spPr>
          <a:xfrm>
            <a:off x="4892040" y="3456360"/>
            <a:ext cx="388584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0" u="none" strike="noStrike">
                <a:solidFill>
                  <a:srgbClr val="1E293B"/>
                </a:solidFill>
                <a:effectLst/>
                <a:uFillTx/>
                <a:latin typeface="Calibri"/>
                <a:ea typeface="Calibri"/>
              </a:rPr>
              <a:t>Konponketa eta sistema-berreskurapena</a:t>
            </a:r>
            <a:endParaRPr lang="en-US" sz="1200" b="0" u="none" strike="noStrike">
              <a:solidFill>
                <a:srgbClr val="000000"/>
              </a:solidFill>
              <a:effectLst/>
              <a:uFillTx/>
              <a:latin typeface="Arial"/>
            </a:endParaRPr>
          </a:p>
        </p:txBody>
      </p:sp>
      <p:sp>
        <p:nvSpPr>
          <p:cNvPr id="347" name="Shape 29"/>
          <p:cNvSpPr/>
          <p:nvPr/>
        </p:nvSpPr>
        <p:spPr>
          <a:xfrm>
            <a:off x="4754880" y="3922920"/>
            <a:ext cx="4114440" cy="667080"/>
          </a:xfrm>
          <a:prstGeom prst="rect">
            <a:avLst/>
          </a:prstGeom>
          <a:solidFill>
            <a:srgbClr val="FFFFFF"/>
          </a:solidFill>
          <a:ln w="12700">
            <a:solidFill>
              <a:srgbClr val="E2E8F0"/>
            </a:solidFill>
            <a:round/>
          </a:ln>
          <a:effectLst>
            <a:outerShdw algn="bl" blurRad="633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8" name="Shape 30"/>
          <p:cNvSpPr/>
          <p:nvPr/>
        </p:nvSpPr>
        <p:spPr>
          <a:xfrm>
            <a:off x="4754880" y="3922920"/>
            <a:ext cx="91080" cy="667080"/>
          </a:xfrm>
          <a:prstGeom prst="rect">
            <a:avLst/>
          </a:prstGeom>
          <a:solidFill>
            <a:srgbClr val="16A34A"/>
          </a:solidFill>
          <a:ln w="12700">
            <a:solidFill>
              <a:srgbClr val="16A3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49" name="Text 31"/>
          <p:cNvSpPr/>
          <p:nvPr/>
        </p:nvSpPr>
        <p:spPr>
          <a:xfrm>
            <a:off x="4892040" y="3968640"/>
            <a:ext cx="109692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trike="noStrike">
                <a:solidFill>
                  <a:srgbClr val="16A34A"/>
                </a:solidFill>
                <a:effectLst/>
                <a:uFillTx/>
                <a:latin typeface="Calibri"/>
                <a:ea typeface="Calibri"/>
              </a:rPr>
              <a:t>Post</a:t>
            </a:r>
            <a:endParaRPr lang="en-US" sz="1100" b="0" u="none" strike="noStrike">
              <a:solidFill>
                <a:srgbClr val="000000"/>
              </a:solidFill>
              <a:effectLst/>
              <a:uFillTx/>
              <a:latin typeface="Arial"/>
            </a:endParaRPr>
          </a:p>
        </p:txBody>
      </p:sp>
      <p:sp>
        <p:nvSpPr>
          <p:cNvPr id="350" name="Text 32"/>
          <p:cNvSpPr/>
          <p:nvPr/>
        </p:nvSpPr>
        <p:spPr>
          <a:xfrm>
            <a:off x="4892040" y="4251960"/>
            <a:ext cx="388584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0" u="none" strike="noStrike">
                <a:solidFill>
                  <a:srgbClr val="1E293B"/>
                </a:solidFill>
                <a:effectLst/>
                <a:uFillTx/>
                <a:latin typeface="Calibri"/>
                <a:ea typeface="Calibri"/>
              </a:rPr>
              <a:t>Forentse-analisia + Ikaskuntzak dokumentatu</a:t>
            </a:r>
            <a:endParaRPr lang="en-US" sz="1200" b="0" u="none" strike="noStrike">
              <a:solidFill>
                <a:srgbClr val="000000"/>
              </a:solidFill>
              <a:effectLst/>
              <a:uFillTx/>
              <a:latin typeface="Arial"/>
            </a:endParaRPr>
          </a:p>
        </p:txBody>
      </p:sp>
      <p:sp>
        <p:nvSpPr>
          <p:cNvPr id="351" name="Text 33"/>
          <p:cNvSpPr/>
          <p:nvPr/>
        </p:nvSpPr>
        <p:spPr>
          <a:xfrm>
            <a:off x="4754880" y="4718160"/>
            <a:ext cx="411444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i="1" u="none" strike="noStrike">
                <a:solidFill>
                  <a:srgbClr val="64748B"/>
                </a:solidFill>
                <a:effectLst/>
                <a:uFillTx/>
                <a:latin typeface="Calibri"/>
                <a:ea typeface="Calibri"/>
              </a:rPr>
              <a:t>Forentse-analisia: log-ak, memoria-argazkiak eta artefaktuen azterketa</a:t>
            </a:r>
            <a:endParaRPr lang="en-US" sz="900" b="0" u="none" strike="noStrike">
              <a:solidFill>
                <a:srgbClr val="000000"/>
              </a:solidFill>
              <a:effectLst/>
              <a:uFillTx/>
              <a:latin typeface="Arial"/>
            </a:endParaRPr>
          </a:p>
        </p:txBody>
      </p:sp>
      <p:sp>
        <p:nvSpPr>
          <p:cNvPr id="352" name="Shape 34"/>
          <p:cNvSpPr/>
          <p:nvPr/>
        </p:nvSpPr>
        <p:spPr>
          <a:xfrm>
            <a:off x="0" y="4937760"/>
            <a:ext cx="9143640" cy="205560"/>
          </a:xfrm>
          <a:prstGeom prst="rect">
            <a:avLst/>
          </a:prstGeom>
          <a:solidFill>
            <a:srgbClr val="0F2D4A"/>
          </a:solidFill>
          <a:ln w="1270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53" name="Text 35"/>
          <p:cNvSpPr/>
          <p:nvPr/>
        </p:nvSpPr>
        <p:spPr>
          <a:xfrm>
            <a:off x="274320" y="4946760"/>
            <a:ext cx="8595000" cy="1825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C8A96E"/>
                </a:solidFill>
                <a:effectLst/>
                <a:uFillTx/>
                <a:latin typeface="Calibri"/>
                <a:ea typeface="Calibri"/>
              </a:rPr>
              <a:t>Zabala Gailetak · Zibersegurtasun Entrega 2026</a:t>
            </a:r>
            <a:endParaRPr lang="en-US" sz="900" b="0" u="none" strike="noStrike">
              <a:solidFill>
                <a:srgbClr val="000000"/>
              </a:solidFill>
              <a:effectLst/>
              <a:uFillTx/>
              <a:latin typeface="Arial"/>
            </a:endParaRPr>
          </a:p>
        </p:txBody>
      </p:sp>
      <p:sp>
        <p:nvSpPr>
          <p:cNvPr id="354" name="Text 36"/>
          <p:cNvSpPr/>
          <p:nvPr/>
        </p:nvSpPr>
        <p:spPr>
          <a:xfrm>
            <a:off x="274320" y="4946760"/>
            <a:ext cx="8595000" cy="18252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11 / 14</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8FAFC"/>
        </a:solidFill>
      </p:bgPr>
    </p:bg>
    <p:spTree>
      <p:nvGrpSpPr>
        <p:cNvPr id="1" name=""/>
        <p:cNvGrpSpPr/>
        <p:nvPr/>
      </p:nvGrpSpPr>
      <p:grpSpPr>
        <a:xfrm>
          <a:off x="0" y="0"/>
          <a:ext cx="0" cy="0"/>
          <a:chOff x="0" y="0"/>
          <a:chExt cx="0" cy="0"/>
        </a:xfrm>
      </p:grpSpPr>
      <p:sp>
        <p:nvSpPr>
          <p:cNvPr id="355" name="Shape 0"/>
          <p:cNvSpPr/>
          <p:nvPr/>
        </p:nvSpPr>
        <p:spPr>
          <a:xfrm>
            <a:off x="0" y="0"/>
            <a:ext cx="9143640" cy="1096920"/>
          </a:xfrm>
          <a:prstGeom prst="rect">
            <a:avLst/>
          </a:prstGeom>
          <a:solidFill>
            <a:srgbClr val="0F2D4A"/>
          </a:solidFill>
          <a:ln w="1270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56" name="Text 1"/>
          <p:cNvSpPr/>
          <p:nvPr/>
        </p:nvSpPr>
        <p:spPr>
          <a:xfrm>
            <a:off x="457200" y="73080"/>
            <a:ext cx="8229240" cy="237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pc="201" strike="noStrike">
                <a:solidFill>
                  <a:srgbClr val="C8A96E"/>
                </a:solidFill>
                <a:effectLst/>
                <a:uFillTx/>
                <a:latin typeface="Calibri"/>
                <a:ea typeface="Calibri"/>
              </a:rPr>
              <a:t>05 · BETETZE LEGALA ETA ETORKIZUNA</a:t>
            </a:r>
            <a:endParaRPr lang="en-US" sz="1000" b="0" u="none" strike="noStrike">
              <a:solidFill>
                <a:srgbClr val="000000"/>
              </a:solidFill>
              <a:effectLst/>
              <a:uFillTx/>
              <a:latin typeface="Arial"/>
            </a:endParaRPr>
          </a:p>
        </p:txBody>
      </p:sp>
      <p:sp>
        <p:nvSpPr>
          <p:cNvPr id="357" name="Text 2"/>
          <p:cNvSpPr/>
          <p:nvPr/>
        </p:nvSpPr>
        <p:spPr>
          <a:xfrm>
            <a:off x="457200" y="347400"/>
            <a:ext cx="8229240" cy="6854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400" b="1" u="none" strike="noStrike">
                <a:solidFill>
                  <a:srgbClr val="FFFFFF"/>
                </a:solidFill>
                <a:effectLst/>
                <a:uFillTx/>
                <a:latin typeface="Georgia"/>
                <a:ea typeface="Georgia"/>
              </a:rPr>
              <a:t>Lege-Betetzea: NIS2 Direktiba, RGPD eta IEC 62443</a:t>
            </a:r>
            <a:endParaRPr lang="en-US" sz="2400" b="0" u="none" strike="noStrike">
              <a:solidFill>
                <a:srgbClr val="000000"/>
              </a:solidFill>
              <a:effectLst/>
              <a:uFillTx/>
              <a:latin typeface="Arial"/>
            </a:endParaRPr>
          </a:p>
        </p:txBody>
      </p:sp>
      <p:sp>
        <p:nvSpPr>
          <p:cNvPr id="358" name="Shape 3"/>
          <p:cNvSpPr/>
          <p:nvPr/>
        </p:nvSpPr>
        <p:spPr>
          <a:xfrm>
            <a:off x="274320" y="1152000"/>
            <a:ext cx="2761200" cy="3638880"/>
          </a:xfrm>
          <a:prstGeom prst="rect">
            <a:avLst/>
          </a:prstGeom>
          <a:solidFill>
            <a:srgbClr val="FFFFFF"/>
          </a:solidFill>
          <a:ln w="12700">
            <a:solidFill>
              <a:srgbClr val="E2E8F0"/>
            </a:solidFill>
            <a:round/>
          </a:ln>
          <a:effectLst>
            <a:outerShdw algn="bl" blurRad="633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59" name="Shape 4"/>
          <p:cNvSpPr/>
          <p:nvPr/>
        </p:nvSpPr>
        <p:spPr>
          <a:xfrm>
            <a:off x="274320" y="1152000"/>
            <a:ext cx="2761200" cy="438480"/>
          </a:xfrm>
          <a:prstGeom prst="rect">
            <a:avLst/>
          </a:prstGeom>
          <a:solidFill>
            <a:srgbClr val="0EA5E9"/>
          </a:solidFill>
          <a:ln w="12700">
            <a:solidFill>
              <a:srgbClr val="0EA5E9"/>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60" name="Text 5"/>
          <p:cNvSpPr/>
          <p:nvPr/>
        </p:nvSpPr>
        <p:spPr>
          <a:xfrm>
            <a:off x="365760" y="1161360"/>
            <a:ext cx="2578320" cy="4201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pc="99" strike="noStrike">
                <a:solidFill>
                  <a:srgbClr val="FFFFFF"/>
                </a:solidFill>
                <a:effectLst/>
                <a:uFillTx/>
                <a:latin typeface="Calibri"/>
                <a:ea typeface="Calibri"/>
              </a:rPr>
              <a:t>NIS2 DIREKTIBA</a:t>
            </a:r>
            <a:endParaRPr lang="en-US" sz="1300" b="0" u="none" strike="noStrike">
              <a:solidFill>
                <a:srgbClr val="000000"/>
              </a:solidFill>
              <a:effectLst/>
              <a:uFillTx/>
              <a:latin typeface="Arial"/>
            </a:endParaRPr>
          </a:p>
        </p:txBody>
      </p:sp>
      <p:sp>
        <p:nvSpPr>
          <p:cNvPr id="361" name="Shape 6"/>
          <p:cNvSpPr/>
          <p:nvPr/>
        </p:nvSpPr>
        <p:spPr>
          <a:xfrm>
            <a:off x="365760" y="1664280"/>
            <a:ext cx="2578320" cy="301320"/>
          </a:xfrm>
          <a:prstGeom prst="rect">
            <a:avLst/>
          </a:prstGeom>
          <a:solidFill>
            <a:srgbClr val="F97316">
              <a:alpha val="14000"/>
            </a:srgbClr>
          </a:solidFill>
          <a:ln w="6350">
            <a:solidFill>
              <a:srgbClr val="F9731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62" name="Text 7"/>
          <p:cNvSpPr/>
          <p:nvPr/>
        </p:nvSpPr>
        <p:spPr>
          <a:xfrm>
            <a:off x="411480" y="1682640"/>
            <a:ext cx="248688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F97316"/>
                </a:solidFill>
                <a:effectLst/>
                <a:uFillTx/>
                <a:latin typeface="Calibri"/>
                <a:ea typeface="Calibri"/>
              </a:rPr>
              <a:t>60% · Helburua: 2026ko Urria</a:t>
            </a:r>
            <a:endParaRPr lang="en-US" sz="1000" b="0" u="none" strike="noStrike">
              <a:solidFill>
                <a:srgbClr val="000000"/>
              </a:solidFill>
              <a:effectLst/>
              <a:uFillTx/>
              <a:latin typeface="Arial"/>
            </a:endParaRPr>
          </a:p>
        </p:txBody>
      </p:sp>
      <p:sp>
        <p:nvSpPr>
          <p:cNvPr id="363" name="Text 8"/>
          <p:cNvSpPr/>
          <p:nvPr/>
        </p:nvSpPr>
        <p:spPr>
          <a:xfrm>
            <a:off x="384120" y="2048400"/>
            <a:ext cx="254160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0EA5E9"/>
                </a:solidFill>
                <a:effectLst/>
                <a:uFillTx/>
                <a:latin typeface="Calibri"/>
                <a:ea typeface="Calibri"/>
              </a:rPr>
              <a:t>·  </a:t>
            </a:r>
            <a:r>
              <a:rPr lang="en-US" sz="1000" b="0" u="none" strike="noStrike">
                <a:solidFill>
                  <a:srgbClr val="1E293B"/>
                </a:solidFill>
                <a:effectLst/>
                <a:uFillTx/>
                <a:latin typeface="Calibri"/>
                <a:ea typeface="Calibri"/>
              </a:rPr>
              <a:t>Enpresa 'GARRANTZITSUA' gisa sailkatua (Art. 3)</a:t>
            </a:r>
            <a:endParaRPr lang="en-US" sz="1000" b="0" u="none" strike="noStrike">
              <a:solidFill>
                <a:srgbClr val="000000"/>
              </a:solidFill>
              <a:effectLst/>
              <a:uFillTx/>
              <a:latin typeface="Arial"/>
            </a:endParaRPr>
          </a:p>
        </p:txBody>
      </p:sp>
      <p:sp>
        <p:nvSpPr>
          <p:cNvPr id="364" name="Text 9"/>
          <p:cNvSpPr/>
          <p:nvPr/>
        </p:nvSpPr>
        <p:spPr>
          <a:xfrm>
            <a:off x="384120" y="2560320"/>
            <a:ext cx="254160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0EA5E9"/>
                </a:solidFill>
                <a:effectLst/>
                <a:uFillTx/>
                <a:latin typeface="Calibri"/>
                <a:ea typeface="Calibri"/>
              </a:rPr>
              <a:t>·  </a:t>
            </a:r>
            <a:r>
              <a:rPr lang="en-US" sz="1000" b="0" u="none" strike="noStrike">
                <a:solidFill>
                  <a:srgbClr val="1E293B"/>
                </a:solidFill>
                <a:effectLst/>
                <a:uFillTx/>
                <a:latin typeface="Calibri"/>
                <a:ea typeface="Calibri"/>
              </a:rPr>
              <a:t>24 h: Lehenengo jakinarazpena autoritate eskudunari</a:t>
            </a:r>
            <a:endParaRPr lang="en-US" sz="1000" b="0" u="none" strike="noStrike">
              <a:solidFill>
                <a:srgbClr val="000000"/>
              </a:solidFill>
              <a:effectLst/>
              <a:uFillTx/>
              <a:latin typeface="Arial"/>
            </a:endParaRPr>
          </a:p>
        </p:txBody>
      </p:sp>
      <p:sp>
        <p:nvSpPr>
          <p:cNvPr id="365" name="Text 10"/>
          <p:cNvSpPr/>
          <p:nvPr/>
        </p:nvSpPr>
        <p:spPr>
          <a:xfrm>
            <a:off x="384120" y="3072240"/>
            <a:ext cx="254160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0EA5E9"/>
                </a:solidFill>
                <a:effectLst/>
                <a:uFillTx/>
                <a:latin typeface="Calibri"/>
                <a:ea typeface="Calibri"/>
              </a:rPr>
              <a:t>·  </a:t>
            </a:r>
            <a:r>
              <a:rPr lang="en-US" sz="1000" b="0" u="none" strike="noStrike">
                <a:solidFill>
                  <a:srgbClr val="1E293B"/>
                </a:solidFill>
                <a:effectLst/>
                <a:uFillTx/>
                <a:latin typeface="Calibri"/>
                <a:ea typeface="Calibri"/>
              </a:rPr>
              <a:t>72 h: Txosten osoa incidente larriari buruz</a:t>
            </a:r>
            <a:endParaRPr lang="en-US" sz="1000" b="0" u="none" strike="noStrike">
              <a:solidFill>
                <a:srgbClr val="000000"/>
              </a:solidFill>
              <a:effectLst/>
              <a:uFillTx/>
              <a:latin typeface="Arial"/>
            </a:endParaRPr>
          </a:p>
        </p:txBody>
      </p:sp>
      <p:sp>
        <p:nvSpPr>
          <p:cNvPr id="366" name="Text 11"/>
          <p:cNvSpPr/>
          <p:nvPr/>
        </p:nvSpPr>
        <p:spPr>
          <a:xfrm>
            <a:off x="384120" y="3584520"/>
            <a:ext cx="254160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0EA5E9"/>
                </a:solidFill>
                <a:effectLst/>
                <a:uFillTx/>
                <a:latin typeface="Calibri"/>
                <a:ea typeface="Calibri"/>
              </a:rPr>
              <a:t>·  </a:t>
            </a:r>
            <a:r>
              <a:rPr lang="en-US" sz="1000" b="0" u="none" strike="noStrike">
                <a:solidFill>
                  <a:srgbClr val="1E293B"/>
                </a:solidFill>
                <a:effectLst/>
                <a:uFillTx/>
                <a:latin typeface="Calibri"/>
                <a:ea typeface="Calibri"/>
              </a:rPr>
              <a:t>Hornidura-kate segurtasuna (Art. 21.2.e)</a:t>
            </a:r>
            <a:endParaRPr lang="en-US" sz="1000" b="0" u="none" strike="noStrike">
              <a:solidFill>
                <a:srgbClr val="000000"/>
              </a:solidFill>
              <a:effectLst/>
              <a:uFillTx/>
              <a:latin typeface="Arial"/>
            </a:endParaRPr>
          </a:p>
        </p:txBody>
      </p:sp>
      <p:sp>
        <p:nvSpPr>
          <p:cNvPr id="367" name="Text 12"/>
          <p:cNvSpPr/>
          <p:nvPr/>
        </p:nvSpPr>
        <p:spPr>
          <a:xfrm>
            <a:off x="384120" y="4096440"/>
            <a:ext cx="254160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0EA5E9"/>
                </a:solidFill>
                <a:effectLst/>
                <a:uFillTx/>
                <a:latin typeface="Calibri"/>
                <a:ea typeface="Calibri"/>
              </a:rPr>
              <a:t>·  </a:t>
            </a:r>
            <a:r>
              <a:rPr lang="en-US" sz="1000" b="0" u="none" strike="noStrike">
                <a:solidFill>
                  <a:srgbClr val="1E293B"/>
                </a:solidFill>
                <a:effectLst/>
                <a:uFillTx/>
                <a:latin typeface="Calibri"/>
                <a:ea typeface="Calibri"/>
              </a:rPr>
              <a:t>Q4 2026: Betetze osoa planifikatua</a:t>
            </a:r>
            <a:endParaRPr lang="en-US" sz="1000" b="0" u="none" strike="noStrike">
              <a:solidFill>
                <a:srgbClr val="000000"/>
              </a:solidFill>
              <a:effectLst/>
              <a:uFillTx/>
              <a:latin typeface="Arial"/>
            </a:endParaRPr>
          </a:p>
        </p:txBody>
      </p:sp>
      <p:sp>
        <p:nvSpPr>
          <p:cNvPr id="368" name="Shape 13"/>
          <p:cNvSpPr/>
          <p:nvPr/>
        </p:nvSpPr>
        <p:spPr>
          <a:xfrm>
            <a:off x="3182040" y="1152000"/>
            <a:ext cx="2761200" cy="3638880"/>
          </a:xfrm>
          <a:prstGeom prst="rect">
            <a:avLst/>
          </a:prstGeom>
          <a:solidFill>
            <a:srgbClr val="FFFFFF"/>
          </a:solidFill>
          <a:ln w="12700">
            <a:solidFill>
              <a:srgbClr val="E2E8F0"/>
            </a:solidFill>
            <a:round/>
          </a:ln>
          <a:effectLst>
            <a:outerShdw algn="bl" blurRad="633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69" name="Shape 14"/>
          <p:cNvSpPr/>
          <p:nvPr/>
        </p:nvSpPr>
        <p:spPr>
          <a:xfrm>
            <a:off x="3182040" y="1152000"/>
            <a:ext cx="2761200" cy="438480"/>
          </a:xfrm>
          <a:prstGeom prst="rect">
            <a:avLst/>
          </a:prstGeom>
          <a:solidFill>
            <a:srgbClr val="16A34A"/>
          </a:solidFill>
          <a:ln w="12700">
            <a:solidFill>
              <a:srgbClr val="16A3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70" name="Text 15"/>
          <p:cNvSpPr/>
          <p:nvPr/>
        </p:nvSpPr>
        <p:spPr>
          <a:xfrm>
            <a:off x="3273480" y="1161360"/>
            <a:ext cx="2578320" cy="4201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pc="99" strike="noStrike">
                <a:solidFill>
                  <a:srgbClr val="FFFFFF"/>
                </a:solidFill>
                <a:effectLst/>
                <a:uFillTx/>
                <a:latin typeface="Calibri"/>
                <a:ea typeface="Calibri"/>
              </a:rPr>
              <a:t>RGPD / GDPR</a:t>
            </a:r>
            <a:endParaRPr lang="en-US" sz="1300" b="0" u="none" strike="noStrike">
              <a:solidFill>
                <a:srgbClr val="000000"/>
              </a:solidFill>
              <a:effectLst/>
              <a:uFillTx/>
              <a:latin typeface="Arial"/>
            </a:endParaRPr>
          </a:p>
        </p:txBody>
      </p:sp>
      <p:sp>
        <p:nvSpPr>
          <p:cNvPr id="371" name="Shape 16"/>
          <p:cNvSpPr/>
          <p:nvPr/>
        </p:nvSpPr>
        <p:spPr>
          <a:xfrm>
            <a:off x="3273480" y="1664280"/>
            <a:ext cx="2578320" cy="301320"/>
          </a:xfrm>
          <a:prstGeom prst="rect">
            <a:avLst/>
          </a:prstGeom>
          <a:solidFill>
            <a:srgbClr val="16A34A">
              <a:alpha val="14000"/>
            </a:srgbClr>
          </a:solidFill>
          <a:ln w="6350">
            <a:solidFill>
              <a:srgbClr val="16A3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72" name="Text 17"/>
          <p:cNvSpPr/>
          <p:nvPr/>
        </p:nvSpPr>
        <p:spPr>
          <a:xfrm>
            <a:off x="3319200" y="1682640"/>
            <a:ext cx="248688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16A34A"/>
                </a:solidFill>
                <a:effectLst/>
                <a:uFillTx/>
                <a:latin typeface="Calibri"/>
                <a:ea typeface="Calibri"/>
              </a:rPr>
              <a:t>100% · Beteta</a:t>
            </a:r>
            <a:endParaRPr lang="en-US" sz="1000" b="0" u="none" strike="noStrike">
              <a:solidFill>
                <a:srgbClr val="000000"/>
              </a:solidFill>
              <a:effectLst/>
              <a:uFillTx/>
              <a:latin typeface="Arial"/>
            </a:endParaRPr>
          </a:p>
        </p:txBody>
      </p:sp>
      <p:sp>
        <p:nvSpPr>
          <p:cNvPr id="373" name="Text 18"/>
          <p:cNvSpPr/>
          <p:nvPr/>
        </p:nvSpPr>
        <p:spPr>
          <a:xfrm>
            <a:off x="3291840" y="2048400"/>
            <a:ext cx="254160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16A34A"/>
                </a:solidFill>
                <a:effectLst/>
                <a:uFillTx/>
                <a:latin typeface="Calibri"/>
                <a:ea typeface="Calibri"/>
              </a:rPr>
              <a:t>·  </a:t>
            </a:r>
            <a:r>
              <a:rPr lang="en-US" sz="1000" b="0" u="none" strike="noStrike">
                <a:solidFill>
                  <a:srgbClr val="1E293B"/>
                </a:solidFill>
                <a:effectLst/>
                <a:uFillTx/>
                <a:latin typeface="Calibri"/>
                <a:ea typeface="Calibri"/>
              </a:rPr>
              <a:t>DPIA ebaluazioak (RRHH portala + OT sistemak)</a:t>
            </a:r>
            <a:endParaRPr lang="en-US" sz="1000" b="0" u="none" strike="noStrike">
              <a:solidFill>
                <a:srgbClr val="000000"/>
              </a:solidFill>
              <a:effectLst/>
              <a:uFillTx/>
              <a:latin typeface="Arial"/>
            </a:endParaRPr>
          </a:p>
        </p:txBody>
      </p:sp>
      <p:sp>
        <p:nvSpPr>
          <p:cNvPr id="374" name="Text 19"/>
          <p:cNvSpPr/>
          <p:nvPr/>
        </p:nvSpPr>
        <p:spPr>
          <a:xfrm>
            <a:off x="3291840" y="2560320"/>
            <a:ext cx="254160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16A34A"/>
                </a:solidFill>
                <a:effectLst/>
                <a:uFillTx/>
                <a:latin typeface="Calibri"/>
                <a:ea typeface="Calibri"/>
              </a:rPr>
              <a:t>·  </a:t>
            </a:r>
            <a:r>
              <a:rPr lang="en-US" sz="1000" b="0" u="none" strike="noStrike">
                <a:solidFill>
                  <a:srgbClr val="1E293B"/>
                </a:solidFill>
                <a:effectLst/>
                <a:uFillTx/>
                <a:latin typeface="Calibri"/>
                <a:ea typeface="Calibri"/>
              </a:rPr>
              <a:t>Datu-tratamendu erregistroa (RoPA) osatuta</a:t>
            </a:r>
            <a:endParaRPr lang="en-US" sz="1000" b="0" u="none" strike="noStrike">
              <a:solidFill>
                <a:srgbClr val="000000"/>
              </a:solidFill>
              <a:effectLst/>
              <a:uFillTx/>
              <a:latin typeface="Arial"/>
            </a:endParaRPr>
          </a:p>
        </p:txBody>
      </p:sp>
      <p:sp>
        <p:nvSpPr>
          <p:cNvPr id="375" name="Text 20"/>
          <p:cNvSpPr/>
          <p:nvPr/>
        </p:nvSpPr>
        <p:spPr>
          <a:xfrm>
            <a:off x="3291840" y="3072240"/>
            <a:ext cx="254160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16A34A"/>
                </a:solidFill>
                <a:effectLst/>
                <a:uFillTx/>
                <a:latin typeface="Calibri"/>
                <a:ea typeface="Calibri"/>
              </a:rPr>
              <a:t>·  </a:t>
            </a:r>
            <a:r>
              <a:rPr lang="en-US" sz="1000" b="0" u="none" strike="noStrike">
                <a:solidFill>
                  <a:srgbClr val="1E293B"/>
                </a:solidFill>
                <a:effectLst/>
                <a:uFillTx/>
                <a:latin typeface="Calibri"/>
                <a:ea typeface="Calibri"/>
              </a:rPr>
              <a:t>Eskubide-prozedurak dokumentatuta (ARCO+)</a:t>
            </a:r>
            <a:endParaRPr lang="en-US" sz="1000" b="0" u="none" strike="noStrike">
              <a:solidFill>
                <a:srgbClr val="000000"/>
              </a:solidFill>
              <a:effectLst/>
              <a:uFillTx/>
              <a:latin typeface="Arial"/>
            </a:endParaRPr>
          </a:p>
        </p:txBody>
      </p:sp>
      <p:sp>
        <p:nvSpPr>
          <p:cNvPr id="376" name="Text 21"/>
          <p:cNvSpPr/>
          <p:nvPr/>
        </p:nvSpPr>
        <p:spPr>
          <a:xfrm>
            <a:off x="3291840" y="3584520"/>
            <a:ext cx="254160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16A34A"/>
                </a:solidFill>
                <a:effectLst/>
                <a:uFillTx/>
                <a:latin typeface="Calibri"/>
                <a:ea typeface="Calibri"/>
              </a:rPr>
              <a:t>·  </a:t>
            </a:r>
            <a:r>
              <a:rPr lang="en-US" sz="1000" b="0" u="none" strike="noStrike">
                <a:solidFill>
                  <a:srgbClr val="1E293B"/>
                </a:solidFill>
                <a:effectLst/>
                <a:uFillTx/>
                <a:latin typeface="Calibri"/>
                <a:ea typeface="Calibri"/>
              </a:rPr>
              <a:t>Datuen babesa diseinutik bertatik (Privacy by Design)</a:t>
            </a:r>
            <a:endParaRPr lang="en-US" sz="1000" b="0" u="none" strike="noStrike">
              <a:solidFill>
                <a:srgbClr val="000000"/>
              </a:solidFill>
              <a:effectLst/>
              <a:uFillTx/>
              <a:latin typeface="Arial"/>
            </a:endParaRPr>
          </a:p>
        </p:txBody>
      </p:sp>
      <p:sp>
        <p:nvSpPr>
          <p:cNvPr id="377" name="Text 22"/>
          <p:cNvSpPr/>
          <p:nvPr/>
        </p:nvSpPr>
        <p:spPr>
          <a:xfrm>
            <a:off x="3291840" y="4096440"/>
            <a:ext cx="254160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16A34A"/>
                </a:solidFill>
                <a:effectLst/>
                <a:uFillTx/>
                <a:latin typeface="Calibri"/>
                <a:ea typeface="Calibri"/>
              </a:rPr>
              <a:t>·  </a:t>
            </a:r>
            <a:r>
              <a:rPr lang="en-US" sz="1000" b="0" u="none" strike="noStrike">
                <a:solidFill>
                  <a:srgbClr val="1E293B"/>
                </a:solidFill>
                <a:effectLst/>
                <a:uFillTx/>
                <a:latin typeface="Calibri"/>
                <a:ea typeface="Calibri"/>
              </a:rPr>
              <a:t>Cookie politika eta uko egiteko aukerak aktibo</a:t>
            </a:r>
            <a:endParaRPr lang="en-US" sz="1000" b="0" u="none" strike="noStrike">
              <a:solidFill>
                <a:srgbClr val="000000"/>
              </a:solidFill>
              <a:effectLst/>
              <a:uFillTx/>
              <a:latin typeface="Arial"/>
            </a:endParaRPr>
          </a:p>
        </p:txBody>
      </p:sp>
      <p:sp>
        <p:nvSpPr>
          <p:cNvPr id="378" name="Shape 23"/>
          <p:cNvSpPr/>
          <p:nvPr/>
        </p:nvSpPr>
        <p:spPr>
          <a:xfrm>
            <a:off x="6089760" y="1152000"/>
            <a:ext cx="2761200" cy="3638880"/>
          </a:xfrm>
          <a:prstGeom prst="rect">
            <a:avLst/>
          </a:prstGeom>
          <a:solidFill>
            <a:srgbClr val="FFFFFF"/>
          </a:solidFill>
          <a:ln w="12700">
            <a:solidFill>
              <a:srgbClr val="E2E8F0"/>
            </a:solidFill>
            <a:round/>
          </a:ln>
          <a:effectLst>
            <a:outerShdw algn="bl" blurRad="63360" dir="8100000" dist="25455" kx="0" ky="0" rotWithShape="0" sx="100000" sy="100000">
              <a:srgbClr val="000000">
                <a:alpha val="10000"/>
              </a:srgbClr>
            </a:outerShdw>
          </a:effectLst>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79" name="Shape 24"/>
          <p:cNvSpPr/>
          <p:nvPr/>
        </p:nvSpPr>
        <p:spPr>
          <a:xfrm>
            <a:off x="6089760" y="1152000"/>
            <a:ext cx="2761200" cy="438480"/>
          </a:xfrm>
          <a:prstGeom prst="rect">
            <a:avLst/>
          </a:prstGeom>
          <a:solidFill>
            <a:srgbClr val="F97316"/>
          </a:solidFill>
          <a:ln w="12700">
            <a:solidFill>
              <a:srgbClr val="F9731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80" name="Text 25"/>
          <p:cNvSpPr/>
          <p:nvPr/>
        </p:nvSpPr>
        <p:spPr>
          <a:xfrm>
            <a:off x="6181200" y="1161360"/>
            <a:ext cx="2578320" cy="4201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pc="99" strike="noStrike">
                <a:solidFill>
                  <a:srgbClr val="FFFFFF"/>
                </a:solidFill>
                <a:effectLst/>
                <a:uFillTx/>
                <a:latin typeface="Calibri"/>
                <a:ea typeface="Calibri"/>
              </a:rPr>
              <a:t>IEC 62443</a:t>
            </a:r>
            <a:endParaRPr lang="en-US" sz="1300" b="0" u="none" strike="noStrike">
              <a:solidFill>
                <a:srgbClr val="000000"/>
              </a:solidFill>
              <a:effectLst/>
              <a:uFillTx/>
              <a:latin typeface="Arial"/>
            </a:endParaRPr>
          </a:p>
        </p:txBody>
      </p:sp>
      <p:sp>
        <p:nvSpPr>
          <p:cNvPr id="381" name="Shape 26"/>
          <p:cNvSpPr/>
          <p:nvPr/>
        </p:nvSpPr>
        <p:spPr>
          <a:xfrm>
            <a:off x="6181200" y="1664280"/>
            <a:ext cx="2578320" cy="301320"/>
          </a:xfrm>
          <a:prstGeom prst="rect">
            <a:avLst/>
          </a:prstGeom>
          <a:solidFill>
            <a:srgbClr val="0EA5E9">
              <a:alpha val="14000"/>
            </a:srgbClr>
          </a:solidFill>
          <a:ln w="6350">
            <a:solidFill>
              <a:srgbClr val="0EA5E9"/>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82" name="Text 27"/>
          <p:cNvSpPr/>
          <p:nvPr/>
        </p:nvSpPr>
        <p:spPr>
          <a:xfrm>
            <a:off x="6226920" y="1682640"/>
            <a:ext cx="2486880" cy="25560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0EA5E9"/>
                </a:solidFill>
                <a:effectLst/>
                <a:uFillTx/>
                <a:latin typeface="Calibri"/>
                <a:ea typeface="Calibri"/>
              </a:rPr>
              <a:t>70% · SL2 Lortuta</a:t>
            </a:r>
            <a:endParaRPr lang="en-US" sz="1000" b="0" u="none" strike="noStrike">
              <a:solidFill>
                <a:srgbClr val="000000"/>
              </a:solidFill>
              <a:effectLst/>
              <a:uFillTx/>
              <a:latin typeface="Arial"/>
            </a:endParaRPr>
          </a:p>
        </p:txBody>
      </p:sp>
      <p:sp>
        <p:nvSpPr>
          <p:cNvPr id="383" name="Text 28"/>
          <p:cNvSpPr/>
          <p:nvPr/>
        </p:nvSpPr>
        <p:spPr>
          <a:xfrm>
            <a:off x="6199560" y="2048400"/>
            <a:ext cx="254160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F97316"/>
                </a:solidFill>
                <a:effectLst/>
                <a:uFillTx/>
                <a:latin typeface="Calibri"/>
                <a:ea typeface="Calibri"/>
              </a:rPr>
              <a:t>·  </a:t>
            </a:r>
            <a:r>
              <a:rPr lang="en-US" sz="1000" b="0" u="none" strike="noStrike">
                <a:solidFill>
                  <a:srgbClr val="1E293B"/>
                </a:solidFill>
                <a:effectLst/>
                <a:uFillTx/>
                <a:latin typeface="Calibri"/>
                <a:ea typeface="Calibri"/>
              </a:rPr>
              <a:t>Purdue Eredua (0-5 mailak) ezarrita OT sisteman</a:t>
            </a:r>
            <a:endParaRPr lang="en-US" sz="1000" b="0" u="none" strike="noStrike">
              <a:solidFill>
                <a:srgbClr val="000000"/>
              </a:solidFill>
              <a:effectLst/>
              <a:uFillTx/>
              <a:latin typeface="Arial"/>
            </a:endParaRPr>
          </a:p>
        </p:txBody>
      </p:sp>
      <p:sp>
        <p:nvSpPr>
          <p:cNvPr id="384" name="Text 29"/>
          <p:cNvSpPr/>
          <p:nvPr/>
        </p:nvSpPr>
        <p:spPr>
          <a:xfrm>
            <a:off x="6199560" y="2560320"/>
            <a:ext cx="254160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F97316"/>
                </a:solidFill>
                <a:effectLst/>
                <a:uFillTx/>
                <a:latin typeface="Calibri"/>
                <a:ea typeface="Calibri"/>
              </a:rPr>
              <a:t>·  </a:t>
            </a:r>
            <a:r>
              <a:rPr lang="en-US" sz="1000" b="0" u="none" strike="noStrike">
                <a:solidFill>
                  <a:srgbClr val="1E293B"/>
                </a:solidFill>
                <a:effectLst/>
                <a:uFillTx/>
                <a:latin typeface="Calibri"/>
                <a:ea typeface="Calibri"/>
              </a:rPr>
              <a:t>Zona / Konduit segmentazioa (IT/OT bereiztea)</a:t>
            </a:r>
            <a:endParaRPr lang="en-US" sz="1000" b="0" u="none" strike="noStrike">
              <a:solidFill>
                <a:srgbClr val="000000"/>
              </a:solidFill>
              <a:effectLst/>
              <a:uFillTx/>
              <a:latin typeface="Arial"/>
            </a:endParaRPr>
          </a:p>
        </p:txBody>
      </p:sp>
      <p:sp>
        <p:nvSpPr>
          <p:cNvPr id="385" name="Text 30"/>
          <p:cNvSpPr/>
          <p:nvPr/>
        </p:nvSpPr>
        <p:spPr>
          <a:xfrm>
            <a:off x="6199560" y="3072240"/>
            <a:ext cx="254160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F97316"/>
                </a:solidFill>
                <a:effectLst/>
                <a:uFillTx/>
                <a:latin typeface="Calibri"/>
                <a:ea typeface="Calibri"/>
              </a:rPr>
              <a:t>·  </a:t>
            </a:r>
            <a:r>
              <a:rPr lang="en-US" sz="1000" b="0" u="none" strike="noStrike">
                <a:solidFill>
                  <a:srgbClr val="1E293B"/>
                </a:solidFill>
                <a:effectLst/>
                <a:uFillTx/>
                <a:latin typeface="Calibri"/>
                <a:ea typeface="Calibri"/>
              </a:rPr>
              <a:t>SL 2 lortua: autentifikazioa + auditoria aktibo</a:t>
            </a:r>
            <a:endParaRPr lang="en-US" sz="1000" b="0" u="none" strike="noStrike">
              <a:solidFill>
                <a:srgbClr val="000000"/>
              </a:solidFill>
              <a:effectLst/>
              <a:uFillTx/>
              <a:latin typeface="Arial"/>
            </a:endParaRPr>
          </a:p>
        </p:txBody>
      </p:sp>
      <p:sp>
        <p:nvSpPr>
          <p:cNvPr id="386" name="Text 31"/>
          <p:cNvSpPr/>
          <p:nvPr/>
        </p:nvSpPr>
        <p:spPr>
          <a:xfrm>
            <a:off x="6199560" y="3584520"/>
            <a:ext cx="254160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F97316"/>
                </a:solidFill>
                <a:effectLst/>
                <a:uFillTx/>
                <a:latin typeface="Calibri"/>
                <a:ea typeface="Calibri"/>
              </a:rPr>
              <a:t>·  </a:t>
            </a:r>
            <a:r>
              <a:rPr lang="en-US" sz="1000" b="0" u="none" strike="noStrike">
                <a:solidFill>
                  <a:srgbClr val="1E293B"/>
                </a:solidFill>
                <a:effectLst/>
                <a:uFillTx/>
                <a:latin typeface="Calibri"/>
                <a:ea typeface="Calibri"/>
              </a:rPr>
              <a:t>Data Diode: telemetria uni-norabidekoa</a:t>
            </a:r>
            <a:endParaRPr lang="en-US" sz="1000" b="0" u="none" strike="noStrike">
              <a:solidFill>
                <a:srgbClr val="000000"/>
              </a:solidFill>
              <a:effectLst/>
              <a:uFillTx/>
              <a:latin typeface="Arial"/>
            </a:endParaRPr>
          </a:p>
        </p:txBody>
      </p:sp>
      <p:sp>
        <p:nvSpPr>
          <p:cNvPr id="387" name="Text 32"/>
          <p:cNvSpPr/>
          <p:nvPr/>
        </p:nvSpPr>
        <p:spPr>
          <a:xfrm>
            <a:off x="6199560" y="4096440"/>
            <a:ext cx="2541600" cy="4384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trike="noStrike">
                <a:solidFill>
                  <a:srgbClr val="F97316"/>
                </a:solidFill>
                <a:effectLst/>
                <a:uFillTx/>
                <a:latin typeface="Calibri"/>
                <a:ea typeface="Calibri"/>
              </a:rPr>
              <a:t>·  </a:t>
            </a:r>
            <a:r>
              <a:rPr lang="en-US" sz="1000" b="0" u="none" strike="noStrike">
                <a:solidFill>
                  <a:srgbClr val="1E293B"/>
                </a:solidFill>
                <a:effectLst/>
                <a:uFillTx/>
                <a:latin typeface="Calibri"/>
                <a:ea typeface="Calibri"/>
              </a:rPr>
              <a:t>SL 3 bidea (sistema kritikoak): Q3 2026</a:t>
            </a:r>
            <a:endParaRPr lang="en-US" sz="1000" b="0" u="none" strike="noStrike">
              <a:solidFill>
                <a:srgbClr val="000000"/>
              </a:solidFill>
              <a:effectLst/>
              <a:uFillTx/>
              <a:latin typeface="Arial"/>
            </a:endParaRPr>
          </a:p>
        </p:txBody>
      </p:sp>
      <p:sp>
        <p:nvSpPr>
          <p:cNvPr id="388" name="Shape 33"/>
          <p:cNvSpPr/>
          <p:nvPr/>
        </p:nvSpPr>
        <p:spPr>
          <a:xfrm>
            <a:off x="274320" y="4663440"/>
            <a:ext cx="8595000" cy="219240"/>
          </a:xfrm>
          <a:prstGeom prst="rect">
            <a:avLst/>
          </a:prstGeom>
          <a:solidFill>
            <a:srgbClr val="0F2D4A"/>
          </a:solidFill>
          <a:ln w="1270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89" name="Text 34"/>
          <p:cNvSpPr/>
          <p:nvPr/>
        </p:nvSpPr>
        <p:spPr>
          <a:xfrm>
            <a:off x="365760" y="4681800"/>
            <a:ext cx="8412120" cy="1825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0" u="none" strike="noStrike">
                <a:solidFill>
                  <a:srgbClr val="C8A96E"/>
                </a:solidFill>
                <a:effectLst/>
                <a:uFillTx/>
                <a:latin typeface="Calibri"/>
                <a:ea typeface="Calibri"/>
              </a:rPr>
              <a:t>ISO 27001:2022 — 87 / 93 kontrol aktibo (93% betetzea)    ·    OWASP Top 10 — A01-A09 mitigazioak dokumentatuta</a:t>
            </a:r>
            <a:endParaRPr lang="en-US" sz="1000" b="0" u="none" strike="noStrike">
              <a:solidFill>
                <a:srgbClr val="000000"/>
              </a:solidFill>
              <a:effectLst/>
              <a:uFillTx/>
              <a:latin typeface="Arial"/>
            </a:endParaRPr>
          </a:p>
        </p:txBody>
      </p:sp>
      <p:sp>
        <p:nvSpPr>
          <p:cNvPr id="390" name="Shape 35"/>
          <p:cNvSpPr/>
          <p:nvPr/>
        </p:nvSpPr>
        <p:spPr>
          <a:xfrm>
            <a:off x="0" y="4937760"/>
            <a:ext cx="9143640" cy="205560"/>
          </a:xfrm>
          <a:prstGeom prst="rect">
            <a:avLst/>
          </a:prstGeom>
          <a:solidFill>
            <a:srgbClr val="0F2D4A"/>
          </a:solidFill>
          <a:ln w="12700">
            <a:solidFill>
              <a:srgbClr val="0F2D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91" name="Text 36"/>
          <p:cNvSpPr/>
          <p:nvPr/>
        </p:nvSpPr>
        <p:spPr>
          <a:xfrm>
            <a:off x="274320" y="4946760"/>
            <a:ext cx="8595000" cy="1825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C8A96E"/>
                </a:solidFill>
                <a:effectLst/>
                <a:uFillTx/>
                <a:latin typeface="Calibri"/>
                <a:ea typeface="Calibri"/>
              </a:rPr>
              <a:t>Zabala Gailetak · Zibersegurtasun Entrega 2026</a:t>
            </a:r>
            <a:endParaRPr lang="en-US" sz="900" b="0" u="none" strike="noStrike">
              <a:solidFill>
                <a:srgbClr val="000000"/>
              </a:solidFill>
              <a:effectLst/>
              <a:uFillTx/>
              <a:latin typeface="Arial"/>
            </a:endParaRPr>
          </a:p>
        </p:txBody>
      </p:sp>
      <p:sp>
        <p:nvSpPr>
          <p:cNvPr id="392" name="Text 37"/>
          <p:cNvSpPr/>
          <p:nvPr/>
        </p:nvSpPr>
        <p:spPr>
          <a:xfrm>
            <a:off x="274320" y="4946760"/>
            <a:ext cx="8595000" cy="18252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12 / 14</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2D4A"/>
        </a:solidFill>
      </p:bgPr>
    </p:bg>
    <p:spTree>
      <p:nvGrpSpPr>
        <p:cNvPr id="1" name=""/>
        <p:cNvGrpSpPr/>
        <p:nvPr/>
      </p:nvGrpSpPr>
      <p:grpSpPr>
        <a:xfrm>
          <a:off x="0" y="0"/>
          <a:ext cx="0" cy="0"/>
          <a:chOff x="0" y="0"/>
          <a:chExt cx="0" cy="0"/>
        </a:xfrm>
      </p:grpSpPr>
      <p:sp>
        <p:nvSpPr>
          <p:cNvPr id="393" name="Shape 0"/>
          <p:cNvSpPr/>
          <p:nvPr/>
        </p:nvSpPr>
        <p:spPr>
          <a:xfrm>
            <a:off x="0" y="0"/>
            <a:ext cx="9143640" cy="511560"/>
          </a:xfrm>
          <a:prstGeom prst="rect">
            <a:avLst/>
          </a:prstGeom>
          <a:solidFill>
            <a:srgbClr val="1A3F63"/>
          </a:solidFill>
          <a:ln w="12700">
            <a:solidFill>
              <a:srgbClr val="1A3F6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94" name="Text 1"/>
          <p:cNvSpPr/>
          <p:nvPr/>
        </p:nvSpPr>
        <p:spPr>
          <a:xfrm>
            <a:off x="411480" y="91440"/>
            <a:ext cx="8320680" cy="328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pc="201" strike="noStrike">
                <a:solidFill>
                  <a:srgbClr val="C8A96E"/>
                </a:solidFill>
                <a:effectLst/>
                <a:uFillTx/>
                <a:latin typeface="Calibri"/>
                <a:ea typeface="Calibri"/>
              </a:rPr>
              <a:t>05 · BETETZE LEGALA ETA ETORKIZUNA</a:t>
            </a:r>
            <a:endParaRPr lang="en-US" sz="1000" b="0" u="none" strike="noStrike">
              <a:solidFill>
                <a:srgbClr val="FFFFFF"/>
              </a:solidFill>
              <a:effectLst/>
              <a:uFillTx/>
              <a:latin typeface="Arial"/>
            </a:endParaRPr>
          </a:p>
        </p:txBody>
      </p:sp>
      <p:sp>
        <p:nvSpPr>
          <p:cNvPr id="395" name="Text 2"/>
          <p:cNvSpPr/>
          <p:nvPr/>
        </p:nvSpPr>
        <p:spPr>
          <a:xfrm>
            <a:off x="411480" y="603360"/>
            <a:ext cx="8320680" cy="6397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2600" b="1" u="none" strike="noStrike">
                <a:solidFill>
                  <a:srgbClr val="FFFFFF"/>
                </a:solidFill>
                <a:effectLst/>
                <a:uFillTx/>
                <a:latin typeface="Georgia"/>
                <a:ea typeface="Georgia"/>
              </a:rPr>
              <a:t>Balio Ekonomikoa eta Etorkizunerako Bide-orria</a:t>
            </a:r>
            <a:endParaRPr lang="en-US" sz="2600" b="0" u="none" strike="noStrike">
              <a:solidFill>
                <a:srgbClr val="FFFFFF"/>
              </a:solidFill>
              <a:effectLst/>
              <a:uFillTx/>
              <a:latin typeface="Arial"/>
            </a:endParaRPr>
          </a:p>
        </p:txBody>
      </p:sp>
      <p:sp>
        <p:nvSpPr>
          <p:cNvPr id="396" name="Text 3"/>
          <p:cNvSpPr/>
          <p:nvPr/>
        </p:nvSpPr>
        <p:spPr>
          <a:xfrm>
            <a:off x="411480" y="1353240"/>
            <a:ext cx="388584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C8A96E"/>
                </a:solidFill>
                <a:effectLst/>
                <a:uFillTx/>
                <a:latin typeface="Calibri"/>
                <a:ea typeface="Calibri"/>
              </a:rPr>
              <a:t>ZERGATIK MEREZI DU INBERTSIO HONEK?</a:t>
            </a:r>
            <a:endParaRPr lang="en-US" sz="1100" b="0" u="none" strike="noStrike">
              <a:solidFill>
                <a:srgbClr val="FFFFFF"/>
              </a:solidFill>
              <a:effectLst/>
              <a:uFillTx/>
              <a:latin typeface="Arial"/>
            </a:endParaRPr>
          </a:p>
        </p:txBody>
      </p:sp>
      <p:sp>
        <p:nvSpPr>
          <p:cNvPr id="397" name="Shape 4"/>
          <p:cNvSpPr/>
          <p:nvPr/>
        </p:nvSpPr>
        <p:spPr>
          <a:xfrm>
            <a:off x="411480" y="1719000"/>
            <a:ext cx="1828440" cy="1234080"/>
          </a:xfrm>
          <a:prstGeom prst="rect">
            <a:avLst/>
          </a:prstGeom>
          <a:solidFill>
            <a:srgbClr val="1A3F63"/>
          </a:solidFill>
          <a:ln w="12700">
            <a:solidFill>
              <a:srgbClr val="DC262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398" name="Text 5"/>
          <p:cNvSpPr/>
          <p:nvPr/>
        </p:nvSpPr>
        <p:spPr>
          <a:xfrm>
            <a:off x="411480" y="1783080"/>
            <a:ext cx="1828440" cy="6397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800" b="1" u="none" strike="noStrike">
                <a:solidFill>
                  <a:srgbClr val="DC2626"/>
                </a:solidFill>
                <a:effectLst/>
                <a:uFillTx/>
                <a:latin typeface="Georgia"/>
                <a:ea typeface="Georgia"/>
              </a:rPr>
              <a:t>10M€+</a:t>
            </a:r>
            <a:endParaRPr lang="en-US" sz="2800" b="0" u="none" strike="noStrike">
              <a:solidFill>
                <a:srgbClr val="FFFFFF"/>
              </a:solidFill>
              <a:effectLst/>
              <a:uFillTx/>
              <a:latin typeface="Arial"/>
            </a:endParaRPr>
          </a:p>
        </p:txBody>
      </p:sp>
      <p:sp>
        <p:nvSpPr>
          <p:cNvPr id="399" name="Text 6"/>
          <p:cNvSpPr/>
          <p:nvPr/>
        </p:nvSpPr>
        <p:spPr>
          <a:xfrm>
            <a:off x="475560" y="2450520"/>
            <a:ext cx="1709640" cy="438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0" u="none" strike="noStrike">
                <a:solidFill>
                  <a:srgbClr val="B0C4D8"/>
                </a:solidFill>
                <a:effectLst/>
                <a:uFillTx/>
                <a:latin typeface="Calibri"/>
                <a:ea typeface="Calibri"/>
              </a:rPr>
              <a:t>NIS2 zigor posibla (%2 fakturazioa)</a:t>
            </a:r>
            <a:endParaRPr lang="en-US" sz="1000" b="0" u="none" strike="noStrike">
              <a:solidFill>
                <a:srgbClr val="FFFFFF"/>
              </a:solidFill>
              <a:effectLst/>
              <a:uFillTx/>
              <a:latin typeface="Arial"/>
            </a:endParaRPr>
          </a:p>
        </p:txBody>
      </p:sp>
      <p:sp>
        <p:nvSpPr>
          <p:cNvPr id="400" name="Shape 7"/>
          <p:cNvSpPr/>
          <p:nvPr/>
        </p:nvSpPr>
        <p:spPr>
          <a:xfrm>
            <a:off x="2377440" y="1719000"/>
            <a:ext cx="1828440" cy="1234080"/>
          </a:xfrm>
          <a:prstGeom prst="rect">
            <a:avLst/>
          </a:prstGeom>
          <a:solidFill>
            <a:srgbClr val="1A3F63"/>
          </a:solidFill>
          <a:ln w="12700">
            <a:solidFill>
              <a:srgbClr val="0EA5E9"/>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01" name="Text 8"/>
          <p:cNvSpPr/>
          <p:nvPr/>
        </p:nvSpPr>
        <p:spPr>
          <a:xfrm>
            <a:off x="2377440" y="1783080"/>
            <a:ext cx="1828440" cy="6397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800" b="1" u="none" strike="noStrike">
                <a:solidFill>
                  <a:srgbClr val="0EA5E9"/>
                </a:solidFill>
                <a:effectLst/>
                <a:uFillTx/>
                <a:latin typeface="Georgia"/>
                <a:ea typeface="Georgia"/>
              </a:rPr>
              <a:t>24/7</a:t>
            </a:r>
            <a:endParaRPr lang="en-US" sz="2800" b="0" u="none" strike="noStrike">
              <a:solidFill>
                <a:srgbClr val="FFFFFF"/>
              </a:solidFill>
              <a:effectLst/>
              <a:uFillTx/>
              <a:latin typeface="Arial"/>
            </a:endParaRPr>
          </a:p>
        </p:txBody>
      </p:sp>
      <p:sp>
        <p:nvSpPr>
          <p:cNvPr id="402" name="Text 9"/>
          <p:cNvSpPr/>
          <p:nvPr/>
        </p:nvSpPr>
        <p:spPr>
          <a:xfrm>
            <a:off x="2441520" y="2450520"/>
            <a:ext cx="1709640" cy="438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0" u="none" strike="noStrike">
                <a:solidFill>
                  <a:srgbClr val="B0C4D8"/>
                </a:solidFill>
                <a:effectLst/>
                <a:uFillTx/>
                <a:latin typeface="Calibri"/>
                <a:ea typeface="Calibri"/>
              </a:rPr>
              <a:t>SIEM monitorizazioa aktibo</a:t>
            </a:r>
            <a:endParaRPr lang="en-US" sz="1000" b="0" u="none" strike="noStrike">
              <a:solidFill>
                <a:srgbClr val="FFFFFF"/>
              </a:solidFill>
              <a:effectLst/>
              <a:uFillTx/>
              <a:latin typeface="Arial"/>
            </a:endParaRPr>
          </a:p>
        </p:txBody>
      </p:sp>
      <p:sp>
        <p:nvSpPr>
          <p:cNvPr id="403" name="Shape 10"/>
          <p:cNvSpPr/>
          <p:nvPr/>
        </p:nvSpPr>
        <p:spPr>
          <a:xfrm>
            <a:off x="411480" y="3090600"/>
            <a:ext cx="1828440" cy="1234080"/>
          </a:xfrm>
          <a:prstGeom prst="rect">
            <a:avLst/>
          </a:prstGeom>
          <a:solidFill>
            <a:srgbClr val="1A3F63"/>
          </a:solidFill>
          <a:ln w="12700">
            <a:solidFill>
              <a:srgbClr val="16A3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04" name="Text 11"/>
          <p:cNvSpPr/>
          <p:nvPr/>
        </p:nvSpPr>
        <p:spPr>
          <a:xfrm>
            <a:off x="411480" y="3154680"/>
            <a:ext cx="1828440" cy="6397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800" b="1" u="none" strike="noStrike">
                <a:solidFill>
                  <a:srgbClr val="16A34A"/>
                </a:solidFill>
                <a:effectLst/>
                <a:uFillTx/>
                <a:latin typeface="Georgia"/>
                <a:ea typeface="Georgia"/>
              </a:rPr>
              <a:t>100%</a:t>
            </a:r>
            <a:endParaRPr lang="en-US" sz="2800" b="0" u="none" strike="noStrike">
              <a:solidFill>
                <a:srgbClr val="FFFFFF"/>
              </a:solidFill>
              <a:effectLst/>
              <a:uFillTx/>
              <a:latin typeface="Arial"/>
            </a:endParaRPr>
          </a:p>
        </p:txBody>
      </p:sp>
      <p:sp>
        <p:nvSpPr>
          <p:cNvPr id="405" name="Text 12"/>
          <p:cNvSpPr/>
          <p:nvPr/>
        </p:nvSpPr>
        <p:spPr>
          <a:xfrm>
            <a:off x="475560" y="3822120"/>
            <a:ext cx="1709640" cy="438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0" u="none" strike="noStrike">
                <a:solidFill>
                  <a:srgbClr val="B0C4D8"/>
                </a:solidFill>
                <a:effectLst/>
                <a:uFillTx/>
                <a:latin typeface="Calibri"/>
                <a:ea typeface="Calibri"/>
              </a:rPr>
              <a:t>RGPD betetzea — isun-arriskua zero</a:t>
            </a:r>
            <a:endParaRPr lang="en-US" sz="1000" b="0" u="none" strike="noStrike">
              <a:solidFill>
                <a:srgbClr val="FFFFFF"/>
              </a:solidFill>
              <a:effectLst/>
              <a:uFillTx/>
              <a:latin typeface="Arial"/>
            </a:endParaRPr>
          </a:p>
        </p:txBody>
      </p:sp>
      <p:sp>
        <p:nvSpPr>
          <p:cNvPr id="406" name="Shape 13"/>
          <p:cNvSpPr/>
          <p:nvPr/>
        </p:nvSpPr>
        <p:spPr>
          <a:xfrm>
            <a:off x="2377440" y="3090600"/>
            <a:ext cx="1828440" cy="1234080"/>
          </a:xfrm>
          <a:prstGeom prst="rect">
            <a:avLst/>
          </a:prstGeom>
          <a:solidFill>
            <a:srgbClr val="1A3F63"/>
          </a:solidFill>
          <a:ln w="12700">
            <a:solidFill>
              <a:srgbClr val="F97316"/>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07" name="Text 14"/>
          <p:cNvSpPr/>
          <p:nvPr/>
        </p:nvSpPr>
        <p:spPr>
          <a:xfrm>
            <a:off x="2377440" y="3154680"/>
            <a:ext cx="1828440" cy="63972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800" b="1" u="none" strike="noStrike">
                <a:solidFill>
                  <a:srgbClr val="F97316"/>
                </a:solidFill>
                <a:effectLst/>
                <a:uFillTx/>
                <a:latin typeface="Georgia"/>
                <a:ea typeface="Georgia"/>
              </a:rPr>
              <a:t>0</a:t>
            </a:r>
            <a:endParaRPr lang="en-US" sz="2800" b="0" u="none" strike="noStrike">
              <a:solidFill>
                <a:srgbClr val="FFFFFF"/>
              </a:solidFill>
              <a:effectLst/>
              <a:uFillTx/>
              <a:latin typeface="Arial"/>
            </a:endParaRPr>
          </a:p>
        </p:txBody>
      </p:sp>
      <p:sp>
        <p:nvSpPr>
          <p:cNvPr id="408" name="Text 15"/>
          <p:cNvSpPr/>
          <p:nvPr/>
        </p:nvSpPr>
        <p:spPr>
          <a:xfrm>
            <a:off x="2441520" y="3822120"/>
            <a:ext cx="1709640" cy="4384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000" b="0" u="none" strike="noStrike">
                <a:solidFill>
                  <a:srgbClr val="B0C4D8"/>
                </a:solidFill>
                <a:effectLst/>
                <a:uFillTx/>
                <a:latin typeface="Calibri"/>
                <a:ea typeface="Calibri"/>
              </a:rPr>
              <a:t>Arazo kritiko aurkitua pentesting-ean</a:t>
            </a:r>
            <a:endParaRPr lang="en-US" sz="1000" b="0" u="none" strike="noStrike">
              <a:solidFill>
                <a:srgbClr val="FFFFFF"/>
              </a:solidFill>
              <a:effectLst/>
              <a:uFillTx/>
              <a:latin typeface="Arial"/>
            </a:endParaRPr>
          </a:p>
        </p:txBody>
      </p:sp>
      <p:sp>
        <p:nvSpPr>
          <p:cNvPr id="409" name="Shape 16"/>
          <p:cNvSpPr/>
          <p:nvPr/>
        </p:nvSpPr>
        <p:spPr>
          <a:xfrm>
            <a:off x="4526280" y="1325880"/>
            <a:ext cx="360" cy="3337560"/>
          </a:xfrm>
          <a:prstGeom prst="line">
            <a:avLst/>
          </a:prstGeom>
          <a:ln w="12700">
            <a:solidFill>
              <a:srgbClr val="1A3F63"/>
            </a:solidFill>
            <a:round/>
          </a:ln>
        </p:spPr>
        <p:style>
          <a:lnRef idx="0"/>
          <a:fillRef idx="0"/>
          <a:effectRef idx="0"/>
          <a:fontRef idx="minor"/>
        </p:style>
        <p:txBody>
          <a:bodyPr lIns="90000" tIns="45000" rIns="90000" bIns="45000" anchor="t" anchorCtr="1">
            <a:noAutofit/>
          </a:bodyPr>
          <a:p>
            <a:endParaRPr lang="en-US" sz="1800" b="0" u="none" strike="noStrike">
              <a:solidFill>
                <a:srgbClr val="FFFFFF"/>
              </a:solidFill>
              <a:effectLst/>
              <a:uFillTx/>
              <a:latin typeface="Arial"/>
            </a:endParaRPr>
          </a:p>
        </p:txBody>
      </p:sp>
      <p:sp>
        <p:nvSpPr>
          <p:cNvPr id="410" name="Text 17"/>
          <p:cNvSpPr/>
          <p:nvPr/>
        </p:nvSpPr>
        <p:spPr>
          <a:xfrm>
            <a:off x="4709160" y="1353240"/>
            <a:ext cx="411444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100" b="1" u="none" spc="99" strike="noStrike">
                <a:solidFill>
                  <a:srgbClr val="C8A96E"/>
                </a:solidFill>
                <a:effectLst/>
                <a:uFillTx/>
                <a:latin typeface="Calibri"/>
                <a:ea typeface="Calibri"/>
              </a:rPr>
              <a:t>BIDE-ORRIA 2026</a:t>
            </a:r>
            <a:endParaRPr lang="en-US" sz="1100" b="0" u="none" strike="noStrike">
              <a:solidFill>
                <a:srgbClr val="FFFFFF"/>
              </a:solidFill>
              <a:effectLst/>
              <a:uFillTx/>
              <a:latin typeface="Arial"/>
            </a:endParaRPr>
          </a:p>
        </p:txBody>
      </p:sp>
      <p:sp>
        <p:nvSpPr>
          <p:cNvPr id="411" name="Shape 18"/>
          <p:cNvSpPr/>
          <p:nvPr/>
        </p:nvSpPr>
        <p:spPr>
          <a:xfrm>
            <a:off x="4681800" y="1774080"/>
            <a:ext cx="310680" cy="310680"/>
          </a:xfrm>
          <a:prstGeom prst="ellipse">
            <a:avLst/>
          </a:prstGeom>
          <a:solidFill>
            <a:srgbClr val="16A34A"/>
          </a:solidFill>
          <a:ln w="12700">
            <a:solidFill>
              <a:srgbClr val="16A34A"/>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12" name="Text 19"/>
          <p:cNvSpPr/>
          <p:nvPr/>
        </p:nvSpPr>
        <p:spPr>
          <a:xfrm>
            <a:off x="4681800" y="1755720"/>
            <a:ext cx="310680" cy="310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0F2D4A"/>
                </a:solidFill>
                <a:effectLst/>
                <a:uFillTx/>
                <a:latin typeface="Calibri"/>
                <a:ea typeface="Calibri"/>
              </a:rPr>
              <a:t>V</a:t>
            </a:r>
            <a:endParaRPr lang="en-US" sz="1100" b="0" u="none" strike="noStrike">
              <a:solidFill>
                <a:srgbClr val="FFFFFF"/>
              </a:solidFill>
              <a:effectLst/>
              <a:uFillTx/>
              <a:latin typeface="Arial"/>
            </a:endParaRPr>
          </a:p>
        </p:txBody>
      </p:sp>
      <p:sp>
        <p:nvSpPr>
          <p:cNvPr id="413" name="Text 20"/>
          <p:cNvSpPr/>
          <p:nvPr/>
        </p:nvSpPr>
        <p:spPr>
          <a:xfrm>
            <a:off x="5074920" y="1737360"/>
            <a:ext cx="118836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16A34A"/>
                </a:solidFill>
                <a:effectLst/>
                <a:uFillTx/>
                <a:latin typeface="Calibri"/>
                <a:ea typeface="Calibri"/>
              </a:rPr>
              <a:t>Q1 2026</a:t>
            </a:r>
            <a:endParaRPr lang="en-US" sz="1300" b="0" u="none" strike="noStrike">
              <a:solidFill>
                <a:srgbClr val="FFFFFF"/>
              </a:solidFill>
              <a:effectLst/>
              <a:uFillTx/>
              <a:latin typeface="Arial"/>
            </a:endParaRPr>
          </a:p>
        </p:txBody>
      </p:sp>
      <p:sp>
        <p:nvSpPr>
          <p:cNvPr id="414" name="Text 21"/>
          <p:cNvSpPr/>
          <p:nvPr/>
        </p:nvSpPr>
        <p:spPr>
          <a:xfrm>
            <a:off x="5074920" y="2030040"/>
            <a:ext cx="3748680" cy="4201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0" u="none" strike="noStrike">
                <a:solidFill>
                  <a:srgbClr val="B0C4D8"/>
                </a:solidFill>
                <a:effectLst/>
                <a:uFillTx/>
                <a:latin typeface="Calibri"/>
                <a:ea typeface="Calibri"/>
              </a:rPr>
              <a:t>Gap analisia (done) · MFA %100 · NIS2 hasiera</a:t>
            </a:r>
            <a:endParaRPr lang="en-US" sz="1000" b="0" u="none" strike="noStrike">
              <a:solidFill>
                <a:srgbClr val="FFFFFF"/>
              </a:solidFill>
              <a:effectLst/>
              <a:uFillTx/>
              <a:latin typeface="Arial"/>
            </a:endParaRPr>
          </a:p>
        </p:txBody>
      </p:sp>
      <p:sp>
        <p:nvSpPr>
          <p:cNvPr id="415" name="Shape 22"/>
          <p:cNvSpPr/>
          <p:nvPr/>
        </p:nvSpPr>
        <p:spPr>
          <a:xfrm>
            <a:off x="4681800" y="2597040"/>
            <a:ext cx="310680" cy="310680"/>
          </a:xfrm>
          <a:prstGeom prst="ellipse">
            <a:avLst/>
          </a:prstGeom>
          <a:solidFill>
            <a:srgbClr val="C8A96E"/>
          </a:solidFill>
          <a:ln w="12700">
            <a:solidFill>
              <a:srgbClr val="C8A96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16" name="Text 23"/>
          <p:cNvSpPr/>
          <p:nvPr/>
        </p:nvSpPr>
        <p:spPr>
          <a:xfrm>
            <a:off x="4681800" y="2578680"/>
            <a:ext cx="310680" cy="310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0F2D4A"/>
                </a:solidFill>
                <a:effectLst/>
                <a:uFillTx/>
                <a:latin typeface="Calibri"/>
                <a:ea typeface="Calibri"/>
              </a:rPr>
              <a:t>2</a:t>
            </a:r>
            <a:endParaRPr lang="en-US" sz="1100" b="0" u="none" strike="noStrike">
              <a:solidFill>
                <a:srgbClr val="FFFFFF"/>
              </a:solidFill>
              <a:effectLst/>
              <a:uFillTx/>
              <a:latin typeface="Arial"/>
            </a:endParaRPr>
          </a:p>
        </p:txBody>
      </p:sp>
      <p:sp>
        <p:nvSpPr>
          <p:cNvPr id="417" name="Text 24"/>
          <p:cNvSpPr/>
          <p:nvPr/>
        </p:nvSpPr>
        <p:spPr>
          <a:xfrm>
            <a:off x="5074920" y="2560320"/>
            <a:ext cx="118836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C8A96E"/>
                </a:solidFill>
                <a:effectLst/>
                <a:uFillTx/>
                <a:latin typeface="Calibri"/>
                <a:ea typeface="Calibri"/>
              </a:rPr>
              <a:t>Q2 2026</a:t>
            </a:r>
            <a:endParaRPr lang="en-US" sz="1300" b="0" u="none" strike="noStrike">
              <a:solidFill>
                <a:srgbClr val="FFFFFF"/>
              </a:solidFill>
              <a:effectLst/>
              <a:uFillTx/>
              <a:latin typeface="Arial"/>
            </a:endParaRPr>
          </a:p>
        </p:txBody>
      </p:sp>
      <p:sp>
        <p:nvSpPr>
          <p:cNvPr id="418" name="Text 25"/>
          <p:cNvSpPr/>
          <p:nvPr/>
        </p:nvSpPr>
        <p:spPr>
          <a:xfrm>
            <a:off x="5074920" y="2853000"/>
            <a:ext cx="3748680" cy="4201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0" u="none" strike="noStrike">
                <a:solidFill>
                  <a:srgbClr val="B0C4D8"/>
                </a:solidFill>
                <a:effectLst/>
                <a:uFillTx/>
                <a:latin typeface="Calibri"/>
                <a:ea typeface="Calibri"/>
              </a:rPr>
              <a:t>EDR zabalkundea · SIEM 24/7 · CSIRT taldea · Vendors</a:t>
            </a:r>
            <a:endParaRPr lang="en-US" sz="1000" b="0" u="none" strike="noStrike">
              <a:solidFill>
                <a:srgbClr val="FFFFFF"/>
              </a:solidFill>
              <a:effectLst/>
              <a:uFillTx/>
              <a:latin typeface="Arial"/>
            </a:endParaRPr>
          </a:p>
        </p:txBody>
      </p:sp>
      <p:sp>
        <p:nvSpPr>
          <p:cNvPr id="419" name="Shape 26"/>
          <p:cNvSpPr/>
          <p:nvPr/>
        </p:nvSpPr>
        <p:spPr>
          <a:xfrm>
            <a:off x="4681800" y="3420000"/>
            <a:ext cx="310680" cy="310680"/>
          </a:xfrm>
          <a:prstGeom prst="ellipse">
            <a:avLst/>
          </a:prstGeom>
          <a:solidFill>
            <a:srgbClr val="C8A96E"/>
          </a:solidFill>
          <a:ln w="12700">
            <a:solidFill>
              <a:srgbClr val="C8A96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20" name="Text 27"/>
          <p:cNvSpPr/>
          <p:nvPr/>
        </p:nvSpPr>
        <p:spPr>
          <a:xfrm>
            <a:off x="4681800" y="3401640"/>
            <a:ext cx="310680" cy="310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0F2D4A"/>
                </a:solidFill>
                <a:effectLst/>
                <a:uFillTx/>
                <a:latin typeface="Calibri"/>
                <a:ea typeface="Calibri"/>
              </a:rPr>
              <a:t>3</a:t>
            </a:r>
            <a:endParaRPr lang="en-US" sz="1100" b="0" u="none" strike="noStrike">
              <a:solidFill>
                <a:srgbClr val="FFFFFF"/>
              </a:solidFill>
              <a:effectLst/>
              <a:uFillTx/>
              <a:latin typeface="Arial"/>
            </a:endParaRPr>
          </a:p>
        </p:txBody>
      </p:sp>
      <p:sp>
        <p:nvSpPr>
          <p:cNvPr id="421" name="Text 28"/>
          <p:cNvSpPr/>
          <p:nvPr/>
        </p:nvSpPr>
        <p:spPr>
          <a:xfrm>
            <a:off x="5074920" y="3383280"/>
            <a:ext cx="118836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C8A96E"/>
                </a:solidFill>
                <a:effectLst/>
                <a:uFillTx/>
                <a:latin typeface="Calibri"/>
                <a:ea typeface="Calibri"/>
              </a:rPr>
              <a:t>Q3 2026</a:t>
            </a:r>
            <a:endParaRPr lang="en-US" sz="1300" b="0" u="none" strike="noStrike">
              <a:solidFill>
                <a:srgbClr val="FFFFFF"/>
              </a:solidFill>
              <a:effectLst/>
              <a:uFillTx/>
              <a:latin typeface="Arial"/>
            </a:endParaRPr>
          </a:p>
        </p:txBody>
      </p:sp>
      <p:sp>
        <p:nvSpPr>
          <p:cNvPr id="422" name="Text 29"/>
          <p:cNvSpPr/>
          <p:nvPr/>
        </p:nvSpPr>
        <p:spPr>
          <a:xfrm>
            <a:off x="5074920" y="3675960"/>
            <a:ext cx="3748680" cy="4201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0" u="none" strike="noStrike">
                <a:solidFill>
                  <a:srgbClr val="B0C4D8"/>
                </a:solidFill>
                <a:effectLst/>
                <a:uFillTx/>
                <a:latin typeface="Calibri"/>
                <a:ea typeface="Calibri"/>
              </a:rPr>
              <a:t>IEC 62443 SL3 · BCP probak · Pentest urtekoa</a:t>
            </a:r>
            <a:endParaRPr lang="en-US" sz="1000" b="0" u="none" strike="noStrike">
              <a:solidFill>
                <a:srgbClr val="FFFFFF"/>
              </a:solidFill>
              <a:effectLst/>
              <a:uFillTx/>
              <a:latin typeface="Arial"/>
            </a:endParaRPr>
          </a:p>
        </p:txBody>
      </p:sp>
      <p:sp>
        <p:nvSpPr>
          <p:cNvPr id="423" name="Shape 30"/>
          <p:cNvSpPr/>
          <p:nvPr/>
        </p:nvSpPr>
        <p:spPr>
          <a:xfrm>
            <a:off x="4681800" y="4242960"/>
            <a:ext cx="310680" cy="310680"/>
          </a:xfrm>
          <a:prstGeom prst="ellipse">
            <a:avLst/>
          </a:prstGeom>
          <a:solidFill>
            <a:srgbClr val="C8A96E"/>
          </a:solidFill>
          <a:ln w="12700">
            <a:solidFill>
              <a:srgbClr val="C8A96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24" name="Text 31"/>
          <p:cNvSpPr/>
          <p:nvPr/>
        </p:nvSpPr>
        <p:spPr>
          <a:xfrm>
            <a:off x="4681800" y="4224600"/>
            <a:ext cx="310680" cy="31068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100" b="1" u="none" strike="noStrike">
                <a:solidFill>
                  <a:srgbClr val="0F2D4A"/>
                </a:solidFill>
                <a:effectLst/>
                <a:uFillTx/>
                <a:latin typeface="Calibri"/>
                <a:ea typeface="Calibri"/>
              </a:rPr>
              <a:t>4</a:t>
            </a:r>
            <a:endParaRPr lang="en-US" sz="1100" b="0" u="none" strike="noStrike">
              <a:solidFill>
                <a:srgbClr val="FFFFFF"/>
              </a:solidFill>
              <a:effectLst/>
              <a:uFillTx/>
              <a:latin typeface="Arial"/>
            </a:endParaRPr>
          </a:p>
        </p:txBody>
      </p:sp>
      <p:sp>
        <p:nvSpPr>
          <p:cNvPr id="425" name="Text 32"/>
          <p:cNvSpPr/>
          <p:nvPr/>
        </p:nvSpPr>
        <p:spPr>
          <a:xfrm>
            <a:off x="5074920" y="4206240"/>
            <a:ext cx="118836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300" b="1" u="none" strike="noStrike">
                <a:solidFill>
                  <a:srgbClr val="C8A96E"/>
                </a:solidFill>
                <a:effectLst/>
                <a:uFillTx/>
                <a:latin typeface="Calibri"/>
                <a:ea typeface="Calibri"/>
              </a:rPr>
              <a:t>Q4 2026</a:t>
            </a:r>
            <a:endParaRPr lang="en-US" sz="1300" b="0" u="none" strike="noStrike">
              <a:solidFill>
                <a:srgbClr val="FFFFFF"/>
              </a:solidFill>
              <a:effectLst/>
              <a:uFillTx/>
              <a:latin typeface="Arial"/>
            </a:endParaRPr>
          </a:p>
        </p:txBody>
      </p:sp>
      <p:sp>
        <p:nvSpPr>
          <p:cNvPr id="426" name="Text 33"/>
          <p:cNvSpPr/>
          <p:nvPr/>
        </p:nvSpPr>
        <p:spPr>
          <a:xfrm>
            <a:off x="5074920" y="4498920"/>
            <a:ext cx="3748680" cy="4201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0" u="none" strike="noStrike">
                <a:solidFill>
                  <a:srgbClr val="B0C4D8"/>
                </a:solidFill>
                <a:effectLst/>
                <a:uFillTx/>
                <a:latin typeface="Calibri"/>
                <a:ea typeface="Calibri"/>
              </a:rPr>
              <a:t>NIS2 BETETZE OSOA (Urria 17) · ISO 27001 auditoria</a:t>
            </a:r>
            <a:endParaRPr lang="en-US" sz="1000" b="0" u="none" strike="noStrike">
              <a:solidFill>
                <a:srgbClr val="FFFFFF"/>
              </a:solidFill>
              <a:effectLst/>
              <a:uFillTx/>
              <a:latin typeface="Arial"/>
            </a:endParaRPr>
          </a:p>
        </p:txBody>
      </p:sp>
      <p:sp>
        <p:nvSpPr>
          <p:cNvPr id="427" name="Shape 34"/>
          <p:cNvSpPr/>
          <p:nvPr/>
        </p:nvSpPr>
        <p:spPr>
          <a:xfrm>
            <a:off x="0" y="4937760"/>
            <a:ext cx="9143640" cy="205560"/>
          </a:xfrm>
          <a:prstGeom prst="rect">
            <a:avLst/>
          </a:prstGeom>
          <a:solidFill>
            <a:srgbClr val="0A1E30"/>
          </a:solidFill>
          <a:ln w="12700">
            <a:solidFill>
              <a:srgbClr val="0A1E30"/>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28" name="Text 35"/>
          <p:cNvSpPr/>
          <p:nvPr/>
        </p:nvSpPr>
        <p:spPr>
          <a:xfrm>
            <a:off x="274320" y="4946760"/>
            <a:ext cx="8595000" cy="18252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900" b="0" u="none" strike="noStrike">
                <a:solidFill>
                  <a:srgbClr val="C8A96E"/>
                </a:solidFill>
                <a:effectLst/>
                <a:uFillTx/>
                <a:latin typeface="Calibri"/>
                <a:ea typeface="Calibri"/>
              </a:rPr>
              <a:t>Zabala Gailetak · Zibersegurtasun Entrega 2026</a:t>
            </a:r>
            <a:endParaRPr lang="en-US" sz="900" b="0" u="none" strike="noStrike">
              <a:solidFill>
                <a:srgbClr val="FFFFFF"/>
              </a:solidFill>
              <a:effectLst/>
              <a:uFillTx/>
              <a:latin typeface="Arial"/>
            </a:endParaRPr>
          </a:p>
        </p:txBody>
      </p:sp>
      <p:sp>
        <p:nvSpPr>
          <p:cNvPr id="429" name="Text 36"/>
          <p:cNvSpPr/>
          <p:nvPr/>
        </p:nvSpPr>
        <p:spPr>
          <a:xfrm>
            <a:off x="274320" y="4946760"/>
            <a:ext cx="8595000" cy="182520"/>
          </a:xfrm>
          <a:prstGeom prst="rect">
            <a:avLst/>
          </a:prstGeom>
          <a:noFill/>
          <a:ln w="0">
            <a:noFill/>
          </a:ln>
        </p:spPr>
        <p:style>
          <a:lnRef idx="0"/>
          <a:fillRef idx="0"/>
          <a:effectRef idx="0"/>
          <a:fontRef idx="minor"/>
        </p:style>
        <p:txBody>
          <a:bodyPr lIns="90000" tIns="45000" rIns="90000" bIns="45000" anchor="ctr">
            <a:noAutofit/>
          </a:bodyPr>
          <a:p>
            <a:pPr algn="r" defTabSz="914400">
              <a:lnSpc>
                <a:spcPct val="100000"/>
              </a:lnSpc>
              <a:tabLst>
                <a:tab pos="0" algn="l"/>
              </a:tabLst>
            </a:pPr>
            <a:r>
              <a:rPr lang="en-US" sz="900" b="0" u="none" strike="noStrike">
                <a:solidFill>
                  <a:srgbClr val="64748B"/>
                </a:solidFill>
                <a:effectLst/>
                <a:uFillTx/>
                <a:latin typeface="Calibri"/>
                <a:ea typeface="Calibri"/>
              </a:rPr>
              <a:t>13 / 14</a:t>
            </a:r>
            <a:endParaRPr lang="en-US" sz="9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2D4A"/>
        </a:solidFill>
      </p:bgPr>
    </p:bg>
    <p:spTree>
      <p:nvGrpSpPr>
        <p:cNvPr id="1" name=""/>
        <p:cNvGrpSpPr/>
        <p:nvPr/>
      </p:nvGrpSpPr>
      <p:grpSpPr>
        <a:xfrm>
          <a:off x="0" y="0"/>
          <a:ext cx="0" cy="0"/>
          <a:chOff x="0" y="0"/>
          <a:chExt cx="0" cy="0"/>
        </a:xfrm>
      </p:grpSpPr>
      <p:sp>
        <p:nvSpPr>
          <p:cNvPr id="430" name="Shape 0"/>
          <p:cNvSpPr/>
          <p:nvPr/>
        </p:nvSpPr>
        <p:spPr>
          <a:xfrm>
            <a:off x="6675480" y="0"/>
            <a:ext cx="2468520" cy="5143320"/>
          </a:xfrm>
          <a:prstGeom prst="rect">
            <a:avLst/>
          </a:prstGeom>
          <a:solidFill>
            <a:srgbClr val="1A3F63"/>
          </a:solidFill>
          <a:ln w="12700">
            <a:solidFill>
              <a:srgbClr val="1A3F63"/>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431" name="Shape 1"/>
          <p:cNvSpPr/>
          <p:nvPr/>
        </p:nvSpPr>
        <p:spPr>
          <a:xfrm>
            <a:off x="8851320" y="0"/>
            <a:ext cx="292320" cy="5143320"/>
          </a:xfrm>
          <a:prstGeom prst="rect">
            <a:avLst/>
          </a:prstGeom>
          <a:solidFill>
            <a:srgbClr val="C8A96E"/>
          </a:solidFill>
          <a:ln w="12700">
            <a:solidFill>
              <a:srgbClr val="C8A96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32" name="Shape 2"/>
          <p:cNvSpPr/>
          <p:nvPr/>
        </p:nvSpPr>
        <p:spPr>
          <a:xfrm>
            <a:off x="0" y="4681800"/>
            <a:ext cx="6674760" cy="54360"/>
          </a:xfrm>
          <a:prstGeom prst="rect">
            <a:avLst/>
          </a:prstGeom>
          <a:solidFill>
            <a:srgbClr val="C8A96E"/>
          </a:solidFill>
          <a:ln w="12700">
            <a:solidFill>
              <a:srgbClr val="C8A96E"/>
            </a:solidFill>
            <a:round/>
          </a:ln>
        </p:spPr>
        <p:style>
          <a:lnRef idx="0"/>
          <a:fillRef idx="0"/>
          <a:effectRef idx="0"/>
          <a:fontRef idx="minor"/>
        </p:style>
        <p:txBody>
          <a:bodyPr lIns="90000" tIns="9720" rIns="90000" bIns="9720" anchor="t">
            <a:noAutofit/>
          </a:bodyPr>
          <a:p>
            <a:endParaRPr lang="en-US" sz="1800" b="0" u="none" strike="noStrike">
              <a:solidFill>
                <a:srgbClr val="000000"/>
              </a:solidFill>
              <a:effectLst/>
              <a:uFillTx/>
              <a:latin typeface="Arial"/>
            </a:endParaRPr>
          </a:p>
        </p:txBody>
      </p:sp>
      <p:sp>
        <p:nvSpPr>
          <p:cNvPr id="433" name="Text 3"/>
          <p:cNvSpPr/>
          <p:nvPr/>
        </p:nvSpPr>
        <p:spPr>
          <a:xfrm>
            <a:off x="457200" y="384120"/>
            <a:ext cx="6034680" cy="27396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1" u="none" spc="300" strike="noStrike">
                <a:solidFill>
                  <a:srgbClr val="C8A96E"/>
                </a:solidFill>
                <a:effectLst/>
                <a:uFillTx/>
                <a:latin typeface="Calibri"/>
                <a:ea typeface="Calibri"/>
              </a:rPr>
              <a:t>06 · ONDORIOAK ETA GALDERAK</a:t>
            </a:r>
            <a:endParaRPr lang="en-US" sz="1000" b="0" u="none" strike="noStrike">
              <a:solidFill>
                <a:srgbClr val="FFFFFF"/>
              </a:solidFill>
              <a:effectLst/>
              <a:uFillTx/>
              <a:latin typeface="Arial"/>
            </a:endParaRPr>
          </a:p>
        </p:txBody>
      </p:sp>
      <p:sp>
        <p:nvSpPr>
          <p:cNvPr id="434" name="Text 4"/>
          <p:cNvSpPr/>
          <p:nvPr/>
        </p:nvSpPr>
        <p:spPr>
          <a:xfrm>
            <a:off x="457200" y="749880"/>
            <a:ext cx="6034680" cy="11152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3400" b="1" u="none" strike="noStrike">
                <a:solidFill>
                  <a:srgbClr val="FFFFFF"/>
                </a:solidFill>
                <a:effectLst/>
                <a:uFillTx/>
                <a:latin typeface="Georgia"/>
                <a:ea typeface="Georgia"/>
              </a:rPr>
              <a:t>Zabala Gailetak,</a:t>
            </a:r>
            <a:endParaRPr lang="en-US" sz="3400" b="0" u="none" strike="noStrike">
              <a:solidFill>
                <a:srgbClr val="FFFFFF"/>
              </a:solidFill>
              <a:effectLst/>
              <a:uFillTx/>
              <a:latin typeface="Arial"/>
            </a:endParaRPr>
          </a:p>
          <a:p>
            <a:pPr defTabSz="914400">
              <a:lnSpc>
                <a:spcPct val="100000"/>
              </a:lnSpc>
              <a:tabLst>
                <a:tab pos="0" algn="l"/>
              </a:tabLst>
            </a:pPr>
            <a:r>
              <a:rPr lang="en-US" sz="3400" b="1" u="none" strike="noStrike">
                <a:solidFill>
                  <a:srgbClr val="FFFFFF"/>
                </a:solidFill>
                <a:effectLst/>
                <a:uFillTx/>
                <a:latin typeface="Georgia"/>
                <a:ea typeface="Georgia"/>
              </a:rPr>
              <a:t>Seguru eta Etorkizunerako Prest</a:t>
            </a:r>
            <a:endParaRPr lang="en-US" sz="3400" b="0" u="none" strike="noStrike">
              <a:solidFill>
                <a:srgbClr val="FFFFFF"/>
              </a:solidFill>
              <a:effectLst/>
              <a:uFillTx/>
              <a:latin typeface="Arial"/>
            </a:endParaRPr>
          </a:p>
        </p:txBody>
      </p:sp>
      <p:sp>
        <p:nvSpPr>
          <p:cNvPr id="435" name="Shape 5"/>
          <p:cNvSpPr/>
          <p:nvPr/>
        </p:nvSpPr>
        <p:spPr>
          <a:xfrm>
            <a:off x="457200" y="2029320"/>
            <a:ext cx="1645560" cy="54360"/>
          </a:xfrm>
          <a:prstGeom prst="rect">
            <a:avLst/>
          </a:prstGeom>
          <a:solidFill>
            <a:srgbClr val="C8A96E"/>
          </a:solidFill>
          <a:ln w="12700">
            <a:solidFill>
              <a:srgbClr val="C8A96E"/>
            </a:solidFill>
            <a:round/>
          </a:ln>
        </p:spPr>
        <p:style>
          <a:lnRef idx="0"/>
          <a:fillRef idx="0"/>
          <a:effectRef idx="0"/>
          <a:fontRef idx="minor"/>
        </p:style>
        <p:txBody>
          <a:bodyPr lIns="90000" tIns="9720" rIns="90000" bIns="9720" anchor="t">
            <a:noAutofit/>
          </a:bodyPr>
          <a:p>
            <a:endParaRPr lang="en-US" sz="1800" b="0" u="none" strike="noStrike">
              <a:solidFill>
                <a:srgbClr val="000000"/>
              </a:solidFill>
              <a:effectLst/>
              <a:uFillTx/>
              <a:latin typeface="Arial"/>
            </a:endParaRPr>
          </a:p>
        </p:txBody>
      </p:sp>
      <p:sp>
        <p:nvSpPr>
          <p:cNvPr id="436" name="Shape 6"/>
          <p:cNvSpPr/>
          <p:nvPr/>
        </p:nvSpPr>
        <p:spPr>
          <a:xfrm>
            <a:off x="457200" y="2194560"/>
            <a:ext cx="200880" cy="200880"/>
          </a:xfrm>
          <a:prstGeom prst="ellipse">
            <a:avLst/>
          </a:prstGeom>
          <a:solidFill>
            <a:srgbClr val="C8A96E"/>
          </a:solidFill>
          <a:ln w="12700">
            <a:solidFill>
              <a:srgbClr val="C8A96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37" name="Text 7"/>
          <p:cNvSpPr/>
          <p:nvPr/>
        </p:nvSpPr>
        <p:spPr>
          <a:xfrm>
            <a:off x="804600" y="2167200"/>
            <a:ext cx="5687280" cy="310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0" u="none" strike="noStrike">
                <a:solidFill>
                  <a:srgbClr val="D4E4F7"/>
                </a:solidFill>
                <a:effectLst/>
                <a:uFillTx/>
                <a:latin typeface="Calibri"/>
                <a:ea typeface="Calibri"/>
              </a:rPr>
              <a:t>Zero Trust + 5 VLAN segmentazio → OT sarea erabat babestuta</a:t>
            </a:r>
            <a:endParaRPr lang="en-US" sz="1200" b="0" u="none" strike="noStrike">
              <a:solidFill>
                <a:srgbClr val="FFFFFF"/>
              </a:solidFill>
              <a:effectLst/>
              <a:uFillTx/>
              <a:latin typeface="Arial"/>
            </a:endParaRPr>
          </a:p>
        </p:txBody>
      </p:sp>
      <p:sp>
        <p:nvSpPr>
          <p:cNvPr id="438" name="Shape 8"/>
          <p:cNvSpPr/>
          <p:nvPr/>
        </p:nvSpPr>
        <p:spPr>
          <a:xfrm>
            <a:off x="457200" y="2743200"/>
            <a:ext cx="200880" cy="200880"/>
          </a:xfrm>
          <a:prstGeom prst="ellipse">
            <a:avLst/>
          </a:prstGeom>
          <a:solidFill>
            <a:srgbClr val="C8A96E"/>
          </a:solidFill>
          <a:ln w="12700">
            <a:solidFill>
              <a:srgbClr val="C8A96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39" name="Text 9"/>
          <p:cNvSpPr/>
          <p:nvPr/>
        </p:nvSpPr>
        <p:spPr>
          <a:xfrm>
            <a:off x="804600" y="2715840"/>
            <a:ext cx="5687280" cy="310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0" u="none" strike="noStrike">
                <a:solidFill>
                  <a:srgbClr val="D4E4F7"/>
                </a:solidFill>
                <a:effectLst/>
                <a:uFillTx/>
                <a:latin typeface="Calibri"/>
                <a:ea typeface="Calibri"/>
              </a:rPr>
              <a:t>Pentesting: 0 arazo kritiko — Aurkikuntzak guztiak konponduta</a:t>
            </a:r>
            <a:endParaRPr lang="en-US" sz="1200" b="0" u="none" strike="noStrike">
              <a:solidFill>
                <a:srgbClr val="FFFFFF"/>
              </a:solidFill>
              <a:effectLst/>
              <a:uFillTx/>
              <a:latin typeface="Arial"/>
            </a:endParaRPr>
          </a:p>
        </p:txBody>
      </p:sp>
      <p:sp>
        <p:nvSpPr>
          <p:cNvPr id="440" name="Shape 10"/>
          <p:cNvSpPr/>
          <p:nvPr/>
        </p:nvSpPr>
        <p:spPr>
          <a:xfrm>
            <a:off x="457200" y="3291840"/>
            <a:ext cx="200880" cy="200880"/>
          </a:xfrm>
          <a:prstGeom prst="ellipse">
            <a:avLst/>
          </a:prstGeom>
          <a:solidFill>
            <a:srgbClr val="C8A96E"/>
          </a:solidFill>
          <a:ln w="12700">
            <a:solidFill>
              <a:srgbClr val="C8A96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41" name="Text 11"/>
          <p:cNvSpPr/>
          <p:nvPr/>
        </p:nvSpPr>
        <p:spPr>
          <a:xfrm>
            <a:off x="804600" y="3264480"/>
            <a:ext cx="5687280" cy="310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0" u="none" strike="noStrike">
                <a:solidFill>
                  <a:srgbClr val="D4E4F7"/>
                </a:solidFill>
                <a:effectLst/>
                <a:uFillTx/>
                <a:latin typeface="Calibri"/>
                <a:ea typeface="Calibri"/>
              </a:rPr>
              <a:t>Wazuh SIEM + Honeypots: Monitorizazioa 24/7, incidenteekiko prest</a:t>
            </a:r>
            <a:endParaRPr lang="en-US" sz="1200" b="0" u="none" strike="noStrike">
              <a:solidFill>
                <a:srgbClr val="FFFFFF"/>
              </a:solidFill>
              <a:effectLst/>
              <a:uFillTx/>
              <a:latin typeface="Arial"/>
            </a:endParaRPr>
          </a:p>
        </p:txBody>
      </p:sp>
      <p:sp>
        <p:nvSpPr>
          <p:cNvPr id="442" name="Shape 12"/>
          <p:cNvSpPr/>
          <p:nvPr/>
        </p:nvSpPr>
        <p:spPr>
          <a:xfrm>
            <a:off x="457200" y="3840480"/>
            <a:ext cx="200880" cy="200880"/>
          </a:xfrm>
          <a:prstGeom prst="ellipse">
            <a:avLst/>
          </a:prstGeom>
          <a:solidFill>
            <a:srgbClr val="C8A96E"/>
          </a:solidFill>
          <a:ln w="12700">
            <a:solidFill>
              <a:srgbClr val="C8A96E"/>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43" name="Text 13"/>
          <p:cNvSpPr/>
          <p:nvPr/>
        </p:nvSpPr>
        <p:spPr>
          <a:xfrm>
            <a:off x="804600" y="3813120"/>
            <a:ext cx="5687280" cy="31068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200" b="0" u="none" strike="noStrike">
                <a:solidFill>
                  <a:srgbClr val="D4E4F7"/>
                </a:solidFill>
                <a:effectLst/>
                <a:uFillTx/>
                <a:latin typeface="Calibri"/>
                <a:ea typeface="Calibri"/>
              </a:rPr>
              <a:t>RGPD %100 · ISO 27001 %93 · NIS2 bidean (2026ko Urria)</a:t>
            </a:r>
            <a:endParaRPr lang="en-US" sz="1200" b="0" u="none" strike="noStrike">
              <a:solidFill>
                <a:srgbClr val="FFFFFF"/>
              </a:solidFill>
              <a:effectLst/>
              <a:uFillTx/>
              <a:latin typeface="Arial"/>
            </a:endParaRPr>
          </a:p>
        </p:txBody>
      </p:sp>
      <p:sp>
        <p:nvSpPr>
          <p:cNvPr id="444" name="Text 14"/>
          <p:cNvSpPr/>
          <p:nvPr/>
        </p:nvSpPr>
        <p:spPr>
          <a:xfrm>
            <a:off x="457200" y="4754880"/>
            <a:ext cx="6034680" cy="237240"/>
          </a:xfrm>
          <a:prstGeom prst="rect">
            <a:avLst/>
          </a:prstGeom>
          <a:noFill/>
          <a:ln w="0">
            <a:noFill/>
          </a:ln>
        </p:spPr>
        <p:style>
          <a:lnRef idx="0"/>
          <a:fillRef idx="0"/>
          <a:effectRef idx="0"/>
          <a:fontRef idx="minor"/>
        </p:style>
        <p:txBody>
          <a:bodyPr lIns="90000" tIns="45000" rIns="90000" bIns="45000" anchor="ctr">
            <a:noAutofit/>
          </a:bodyPr>
          <a:p>
            <a:pPr defTabSz="914400">
              <a:lnSpc>
                <a:spcPct val="100000"/>
              </a:lnSpc>
              <a:tabLst>
                <a:tab pos="0" algn="l"/>
              </a:tabLst>
            </a:pPr>
            <a:r>
              <a:rPr lang="en-US" sz="1000" b="0" u="none" strike="noStrike">
                <a:solidFill>
                  <a:srgbClr val="64748B"/>
                </a:solidFill>
                <a:effectLst/>
                <a:uFillTx/>
                <a:latin typeface="Calibri"/>
                <a:ea typeface="Calibri"/>
              </a:rPr>
              <a:t>Zibersegurtasun Aholkularitza Taldea  ·  2026ko Otsaila</a:t>
            </a:r>
            <a:endParaRPr lang="en-US" sz="1000" b="0" u="none" strike="noStrike">
              <a:solidFill>
                <a:srgbClr val="FFFFFF"/>
              </a:solidFill>
              <a:effectLst/>
              <a:uFillTx/>
              <a:latin typeface="Arial"/>
            </a:endParaRPr>
          </a:p>
        </p:txBody>
      </p:sp>
      <p:sp>
        <p:nvSpPr>
          <p:cNvPr id="445" name="Text 15"/>
          <p:cNvSpPr/>
          <p:nvPr/>
        </p:nvSpPr>
        <p:spPr>
          <a:xfrm>
            <a:off x="6737400" y="1554480"/>
            <a:ext cx="2121120" cy="4752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2400" b="1" u="none" strike="noStrike">
                <a:solidFill>
                  <a:srgbClr val="C8A96E"/>
                </a:solidFill>
                <a:effectLst/>
                <a:uFillTx/>
                <a:latin typeface="Georgia"/>
                <a:ea typeface="Georgia"/>
              </a:rPr>
              <a:t>GALDERAK?</a:t>
            </a:r>
            <a:endParaRPr lang="en-US" sz="2400" b="0" u="none" strike="noStrike">
              <a:solidFill>
                <a:srgbClr val="FFFFFF"/>
              </a:solidFill>
              <a:effectLst/>
              <a:uFillTx/>
              <a:latin typeface="Arial"/>
            </a:endParaRPr>
          </a:p>
        </p:txBody>
      </p:sp>
      <p:sp>
        <p:nvSpPr>
          <p:cNvPr id="446" name="Text 16"/>
          <p:cNvSpPr/>
          <p:nvPr/>
        </p:nvSpPr>
        <p:spPr>
          <a:xfrm>
            <a:off x="6784920" y="2121480"/>
            <a:ext cx="1965600" cy="2194200"/>
          </a:xfrm>
          <a:prstGeom prst="rect">
            <a:avLst/>
          </a:prstGeom>
          <a:noFill/>
          <a:ln w="0">
            <a:noFill/>
          </a:ln>
        </p:spPr>
        <p:style>
          <a:lnRef idx="0"/>
          <a:fillRef idx="0"/>
          <a:effectRef idx="0"/>
          <a:fontRef idx="minor"/>
        </p:style>
        <p:txBody>
          <a:bodyPr lIns="90000" tIns="45000" rIns="90000" bIns="45000" anchor="ctr">
            <a:noAutofit/>
          </a:bodyPr>
          <a:p>
            <a:pPr algn="ctr" defTabSz="914400">
              <a:lnSpc>
                <a:spcPct val="100000"/>
              </a:lnSpc>
              <a:tabLst>
                <a:tab pos="0" algn="l"/>
              </a:tabLst>
            </a:pPr>
            <a:r>
              <a:rPr lang="en-US" sz="1300" b="0" u="none" strike="noStrike">
                <a:solidFill>
                  <a:srgbClr val="B0C4D8"/>
                </a:solidFill>
                <a:effectLst/>
                <a:uFillTx/>
                <a:latin typeface="Calibri"/>
                <a:ea typeface="Calibri"/>
              </a:rPr>
              <a:t>Zuzendaritza</a:t>
            </a:r>
            <a:endParaRPr lang="en-US" sz="1300" b="0" u="none" strike="noStrike">
              <a:solidFill>
                <a:srgbClr val="FFFFFF"/>
              </a:solidFill>
              <a:effectLst/>
              <a:uFillTx/>
              <a:latin typeface="Arial"/>
            </a:endParaRPr>
          </a:p>
          <a:p>
            <a:pPr algn="ctr" defTabSz="914400">
              <a:lnSpc>
                <a:spcPct val="100000"/>
              </a:lnSpc>
              <a:tabLst>
                <a:tab pos="0" algn="l"/>
              </a:tabLst>
            </a:pPr>
            <a:r>
              <a:rPr lang="en-US" sz="1300" b="0" u="none" strike="noStrike">
                <a:solidFill>
                  <a:srgbClr val="B0C4D8"/>
                </a:solidFill>
                <a:effectLst/>
                <a:uFillTx/>
                <a:latin typeface="Calibri"/>
                <a:ea typeface="Calibri"/>
              </a:rPr>
              <a:t>Batzordeak eta</a:t>
            </a:r>
            <a:endParaRPr lang="en-US" sz="1300" b="0" u="none" strike="noStrike">
              <a:solidFill>
                <a:srgbClr val="FFFFFF"/>
              </a:solidFill>
              <a:effectLst/>
              <a:uFillTx/>
              <a:latin typeface="Arial"/>
            </a:endParaRPr>
          </a:p>
          <a:p>
            <a:pPr algn="ctr" defTabSz="914400">
              <a:lnSpc>
                <a:spcPct val="100000"/>
              </a:lnSpc>
              <a:tabLst>
                <a:tab pos="0" algn="l"/>
              </a:tabLst>
            </a:pPr>
            <a:r>
              <a:rPr lang="en-US" sz="1300" b="0" u="none" strike="noStrike">
                <a:solidFill>
                  <a:srgbClr val="B0C4D8"/>
                </a:solidFill>
                <a:effectLst/>
                <a:uFillTx/>
                <a:latin typeface="Calibri"/>
                <a:ea typeface="Calibri"/>
              </a:rPr>
              <a:t>CEO jaunak</a:t>
            </a:r>
            <a:endParaRPr lang="en-US" sz="1300" b="0" u="none" strike="noStrike">
              <a:solidFill>
                <a:srgbClr val="FFFFFF"/>
              </a:solidFill>
              <a:effectLst/>
              <a:uFillTx/>
              <a:latin typeface="Arial"/>
            </a:endParaRPr>
          </a:p>
          <a:p>
            <a:pPr algn="ctr" defTabSz="914400">
              <a:lnSpc>
                <a:spcPct val="100000"/>
              </a:lnSpc>
              <a:tabLst>
                <a:tab pos="0" algn="l"/>
              </a:tabLst>
            </a:pPr>
            <a:r>
              <a:rPr lang="en-US" sz="1300" b="0" u="none" strike="noStrike">
                <a:solidFill>
                  <a:srgbClr val="B0C4D8"/>
                </a:solidFill>
                <a:effectLst/>
                <a:uFillTx/>
                <a:latin typeface="Calibri"/>
                <a:ea typeface="Calibri"/>
              </a:rPr>
              <a:t>nahi dituzten</a:t>
            </a:r>
            <a:endParaRPr lang="en-US" sz="1300" b="0" u="none" strike="noStrike">
              <a:solidFill>
                <a:srgbClr val="FFFFFF"/>
              </a:solidFill>
              <a:effectLst/>
              <a:uFillTx/>
              <a:latin typeface="Arial"/>
            </a:endParaRPr>
          </a:p>
          <a:p>
            <a:pPr algn="ctr" defTabSz="914400">
              <a:lnSpc>
                <a:spcPct val="100000"/>
              </a:lnSpc>
              <a:tabLst>
                <a:tab pos="0" algn="l"/>
              </a:tabLst>
            </a:pPr>
            <a:r>
              <a:rPr lang="en-US" sz="1300" b="0" u="none" strike="noStrike">
                <a:solidFill>
                  <a:srgbClr val="B0C4D8"/>
                </a:solidFill>
                <a:effectLst/>
                <a:uFillTx/>
                <a:latin typeface="Calibri"/>
                <a:ea typeface="Calibri"/>
              </a:rPr>
              <a:t>galderak</a:t>
            </a:r>
            <a:endParaRPr lang="en-US" sz="1300" b="0" u="none" strike="noStrike">
              <a:solidFill>
                <a:srgbClr val="FFFFFF"/>
              </a:solidFill>
              <a:effectLst/>
              <a:uFillTx/>
              <a:latin typeface="Arial"/>
            </a:endParaRPr>
          </a:p>
          <a:p>
            <a:pPr algn="ctr" defTabSz="914400">
              <a:lnSpc>
                <a:spcPct val="100000"/>
              </a:lnSpc>
              <a:tabLst>
                <a:tab pos="0" algn="l"/>
              </a:tabLst>
            </a:pPr>
            <a:r>
              <a:rPr lang="en-US" sz="1300" b="0" u="none" strike="noStrike">
                <a:solidFill>
                  <a:srgbClr val="B0C4D8"/>
                </a:solidFill>
                <a:effectLst/>
                <a:uFillTx/>
                <a:latin typeface="Calibri"/>
                <a:ea typeface="Calibri"/>
              </a:rPr>
              <a:t>jasotzeko</a:t>
            </a:r>
            <a:endParaRPr lang="en-US" sz="1300" b="0" u="none" strike="noStrike">
              <a:solidFill>
                <a:srgbClr val="FFFFFF"/>
              </a:solidFill>
              <a:effectLst/>
              <a:uFillTx/>
              <a:latin typeface="Arial"/>
            </a:endParaRPr>
          </a:p>
          <a:p>
            <a:pPr algn="ctr" defTabSz="914400">
              <a:lnSpc>
                <a:spcPct val="100000"/>
              </a:lnSpc>
              <a:tabLst>
                <a:tab pos="0" algn="l"/>
              </a:tabLst>
            </a:pPr>
            <a:r>
              <a:rPr lang="en-US" sz="1300" b="0" u="none" strike="noStrike">
                <a:solidFill>
                  <a:srgbClr val="B0C4D8"/>
                </a:solidFill>
                <a:effectLst/>
                <a:uFillTx/>
                <a:latin typeface="Calibri"/>
                <a:ea typeface="Calibri"/>
              </a:rPr>
              <a:t>prest gaude.</a:t>
            </a:r>
            <a:endParaRPr lang="en-US" sz="13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5</TotalTime>
  <Application>LibreOffice/26.2.0.3$Linux_X86_64 LibreOffice_project/620$Build-3</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2026-02-23T12:16:40Z</dcterms:created>
  <dc:creator>Zibersegurtasun Aholkularitza Taldea</dc:creator>
  <dc:description/>
  <dc:language>en-US</dc:language>
  <cp:lastModifiedBy/>
  <dcterms:modified xsi:type="dcterms:W3CDTF">2026-02-23T14:29:52Z</dcterms:modified>
  <cp:revision>2</cp:revision>
  <dc:subject>PptxGenJS Presentation</dc:subject>
  <dc:title>Zabala Gailetak - Zibersegurtasun Entrega Nagusia 2026</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14</vt:i4>
  </property>
  <property fmtid="{D5CDD505-2E9C-101B-9397-08002B2CF9AE}" pid="3" name="PresentationFormat">
    <vt:lpwstr>On-screen Show (16:9)</vt:lpwstr>
  </property>
  <property fmtid="{D5CDD505-2E9C-101B-9397-08002B2CF9AE}" pid="4" name="Slides">
    <vt:i4>14</vt:i4>
  </property>
</Properties>
</file>