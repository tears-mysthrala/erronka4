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5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99DB07F-4314-40AA-B0E4-08AD022C33C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2AA86B-4F8A-41D9-973A-0CEA86886E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B69D58-565C-435E-8466-F138DF6B8F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AC5E69-B82E-4695-92A7-FC85911FB8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8C0B85-A3F5-4DF8-9A4E-574E69F885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46B344-2A8B-46AC-AC91-EDE75339F3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51B5F45-D70B-45F3-9AFF-ADB58099F9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7C9A19-CCEC-4F93-8080-5529613142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53FC4F-A0FC-42FD-9119-901A730327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068A82-A5A7-4830-B6B2-5CEC4677E3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B34029-842B-4AB8-99F6-47022C86FC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E9C623-E46B-4CFD-8D49-1D0AC917C3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5701816-A480-4347-A9D7-9E95AC0B27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61A96B-0278-4C3C-A576-1B491F3733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C3C5E6-369F-4013-86EB-58A78F22AE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20C795-B2CA-4075-8A40-EDCBAC9FFB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ADE240-1D28-4B39-B34E-6FBEC2E7E2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A8A2068-AF9C-4C15-A36D-ACC2F6335F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F75C68-1AB5-406F-A830-0D8D1E0877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6B9D37-4AF9-4BE6-AFE2-C45E88D85B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448CF8-8D92-43E2-B563-AD3A3229E8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DCA910-7EA5-424F-841F-0553D8F85C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7FC65B3-0132-49E0-B438-44D78E494E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765F12-32B0-415F-BCF0-4360BBB0DD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EA44B6-D10C-44EB-9B87-4B01F185F0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5EE026-1C24-4597-A898-66A009A99A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SLIDE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4114800"/>
            <a:ext cx="8229600" cy="360"/>
          </a:xfrm>
          <a:prstGeom prst="line">
            <a:avLst/>
          </a:prstGeom>
          <a:ln w="38100">
            <a:solidFill>
              <a:srgbClr val="D4AF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SLIDE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Shape 1"/>
          <p:cNvSpPr/>
          <p:nvPr/>
        </p:nvSpPr>
        <p:spPr>
          <a:xfrm>
            <a:off x="0" y="0"/>
            <a:ext cx="136800" cy="5143320"/>
          </a:xfrm>
          <a:prstGeom prst="rect">
            <a:avLst/>
          </a:prstGeom>
          <a:solidFill>
            <a:srgbClr val="D4AF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5074920"/>
            <a:ext cx="9143640" cy="7272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457200" y="137160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ZAB</a:t>
            </a: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ALA </a:t>
            </a: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GAI</a:t>
            </a: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LET</a:t>
            </a: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AK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57200" y="23774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Ziberse</a:t>
            </a:r>
            <a:r>
              <a:rPr lang="en-US" sz="2800" b="0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gurtasu</a:t>
            </a:r>
            <a:r>
              <a:rPr lang="en-US" sz="2800" b="0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n </a:t>
            </a:r>
            <a:r>
              <a:rPr lang="en-US" sz="2800" b="0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Proiekt</a:t>
            </a:r>
            <a:r>
              <a:rPr lang="en-US" sz="2800" b="0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u </a:t>
            </a:r>
            <a:r>
              <a:rPr lang="en-US" sz="2800" b="0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Integral</a:t>
            </a:r>
            <a:r>
              <a:rPr lang="en-US" sz="2800" b="0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a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457200" y="32004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Aurkezpena </a:t>
            </a: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Zuzendaritz</a:t>
            </a: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ari eta </a:t>
            </a: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Zuzendari </a:t>
            </a: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Nagusiari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457200" y="45720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2026ko </a:t>
            </a:r>
            <a:r>
              <a:rPr lang="en-US" sz="16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Otsaila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AURKIBIDEA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457200" y="1005840"/>
            <a:ext cx="365400" cy="36540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457200" y="10058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3"/>
          <p:cNvSpPr/>
          <p:nvPr/>
        </p:nvSpPr>
        <p:spPr>
          <a:xfrm>
            <a:off x="1005840" y="100584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TESTUINGURUA ETA ERRONKA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4"/>
          <p:cNvSpPr/>
          <p:nvPr/>
        </p:nvSpPr>
        <p:spPr>
          <a:xfrm>
            <a:off x="6858000" y="100584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4 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5"/>
          <p:cNvSpPr/>
          <p:nvPr/>
        </p:nvSpPr>
        <p:spPr>
          <a:xfrm>
            <a:off x="457200" y="1645920"/>
            <a:ext cx="365400" cy="36540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457200" y="16459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1005840" y="16459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GURE ESTRATEGIA: ZERO TRUST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8"/>
          <p:cNvSpPr/>
          <p:nvPr/>
        </p:nvSpPr>
        <p:spPr>
          <a:xfrm>
            <a:off x="6858000" y="164592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6 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9"/>
          <p:cNvSpPr/>
          <p:nvPr/>
        </p:nvSpPr>
        <p:spPr>
          <a:xfrm>
            <a:off x="457200" y="2286000"/>
            <a:ext cx="365400" cy="36540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457200" y="22860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1005840" y="228600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BERRIKUNTZA SEGURUA ETA </a:t>
            </a:r>
            <a:r>
              <a:rPr lang="en-US" sz="16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OPERAZIOAK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6858000" y="228600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5 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3"/>
          <p:cNvSpPr/>
          <p:nvPr/>
        </p:nvSpPr>
        <p:spPr>
          <a:xfrm>
            <a:off x="457200" y="2926080"/>
            <a:ext cx="365400" cy="36540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457200" y="29260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1005840" y="292608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ERASOEN AURKAKO PREBENTZIOA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6858000" y="29260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7 </a:t>
            </a: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mi</a:t>
            </a: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7"/>
          <p:cNvSpPr/>
          <p:nvPr/>
        </p:nvSpPr>
        <p:spPr>
          <a:xfrm>
            <a:off x="457200" y="3566160"/>
            <a:ext cx="365400" cy="36540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8"/>
          <p:cNvSpPr/>
          <p:nvPr/>
        </p:nvSpPr>
        <p:spPr>
          <a:xfrm>
            <a:off x="457200" y="35661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1005840" y="356616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BETETZE LEGALA ETA ETORKIZUNA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6858000" y="356616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5 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1"/>
          <p:cNvSpPr/>
          <p:nvPr/>
        </p:nvSpPr>
        <p:spPr>
          <a:xfrm>
            <a:off x="457200" y="4206240"/>
            <a:ext cx="365400" cy="365400"/>
          </a:xfrm>
          <a:prstGeom prst="rect">
            <a:avLst/>
          </a:prstGeom>
          <a:solidFill>
            <a:srgbClr val="D4AF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2"/>
          <p:cNvSpPr/>
          <p:nvPr/>
        </p:nvSpPr>
        <p:spPr>
          <a:xfrm>
            <a:off x="457200" y="42062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3"/>
          <p:cNvSpPr/>
          <p:nvPr/>
        </p:nvSpPr>
        <p:spPr>
          <a:xfrm>
            <a:off x="1005840" y="420624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ONDORIOAK ETA GALDERAK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4"/>
          <p:cNvSpPr/>
          <p:nvPr/>
        </p:nvSpPr>
        <p:spPr>
          <a:xfrm>
            <a:off x="6858000" y="420624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3 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640080" y="182880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 </a:t>
            </a: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TES</a:t>
            </a: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TUI</a:t>
            </a: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NG</a:t>
            </a: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UR</a:t>
            </a: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UA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640080" y="274320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ETA ERRONKA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"/>
          <p:cNvSpPr/>
          <p:nvPr/>
        </p:nvSpPr>
        <p:spPr>
          <a:xfrm>
            <a:off x="640080" y="36576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(4 minutu)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Zabala Gailetak: Tradizioa </a:t>
            </a:r>
            <a:r>
              <a:rPr lang="en-US" sz="28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eta Etorkizuna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"/>
          <p:cNvSpPr/>
          <p:nvPr/>
        </p:nvSpPr>
        <p:spPr>
          <a:xfrm>
            <a:off x="457200" y="1005840"/>
            <a:ext cx="2559960" cy="1645560"/>
          </a:xfrm>
          <a:prstGeom prst="rect">
            <a:avLst/>
          </a:prstGeom>
          <a:solidFill>
            <a:srgbClr val="F5F5F5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457200" y="1188720"/>
            <a:ext cx="2559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120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457200" y="20116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Langile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4"/>
          <p:cNvSpPr/>
          <p:nvPr/>
        </p:nvSpPr>
        <p:spPr>
          <a:xfrm>
            <a:off x="3291840" y="1005840"/>
            <a:ext cx="2559960" cy="1645560"/>
          </a:xfrm>
          <a:prstGeom prst="rect">
            <a:avLst/>
          </a:prstGeom>
          <a:solidFill>
            <a:srgbClr val="F5F5F5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3291840" y="1188720"/>
            <a:ext cx="2559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6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3291840" y="20116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Zuzendaritza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6126480" y="1005840"/>
            <a:ext cx="2559960" cy="1645560"/>
          </a:xfrm>
          <a:prstGeom prst="rect">
            <a:avLst/>
          </a:prstGeom>
          <a:solidFill>
            <a:srgbClr val="F5F5F5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6126480" y="1188720"/>
            <a:ext cx="2559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5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6126480" y="20116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IK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T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Tal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de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Euskal Herriko gaileta tradizioa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Europako merkatuetara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457200" y="33832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Industria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4.0-ra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igarotzea: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digitalizazioa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+ segurtasuna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457200" y="38404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Erronka: </a:t>
            </a: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ekoizpena </a:t>
            </a: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babestu, </a:t>
            </a: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baina </a:t>
            </a: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modernizatu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A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rr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i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s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k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u 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E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s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tr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a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t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e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g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i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k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o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a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: 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I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T 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e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t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a 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O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T 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S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a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r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e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e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n 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B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a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t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z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e</a:t>
            </a: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"/>
          <p:cNvSpPr/>
          <p:nvPr/>
        </p:nvSpPr>
        <p:spPr>
          <a:xfrm>
            <a:off x="457200" y="1005840"/>
            <a:ext cx="3840120" cy="201132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"/>
          <p:cNvSpPr/>
          <p:nvPr/>
        </p:nvSpPr>
        <p:spPr>
          <a:xfrm>
            <a:off x="548640" y="10972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OT = </a:t>
            </a:r>
            <a:r>
              <a:rPr lang="en-US" sz="14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Operational </a:t>
            </a:r>
            <a:r>
              <a:rPr lang="en-US" sz="14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Technology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"/>
          <p:cNvSpPr/>
          <p:nvPr/>
        </p:nvSpPr>
        <p:spPr>
          <a:xfrm>
            <a:off x="548640" y="146304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PLC-ak (Programmable Logic Controllers)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548640" y="1783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SCADA sistemak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"/>
          <p:cNvSpPr/>
          <p:nvPr/>
        </p:nvSpPr>
        <p:spPr>
          <a:xfrm>
            <a:off x="548640" y="210312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Ekoizpen-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makineria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6"/>
          <p:cNvSpPr/>
          <p:nvPr/>
        </p:nvSpPr>
        <p:spPr>
          <a:xfrm>
            <a:off x="4754880" y="1005840"/>
            <a:ext cx="3931560" cy="2011320"/>
          </a:xfrm>
          <a:prstGeom prst="rect">
            <a:avLst/>
          </a:prstGeom>
          <a:solidFill>
            <a:srgbClr val="FFEB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7"/>
          <p:cNvSpPr/>
          <p:nvPr/>
        </p:nvSpPr>
        <p:spPr>
          <a:xfrm>
            <a:off x="4846320" y="10972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alibri"/>
              </a:rPr>
              <a:t>Arrisku Kritikoa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8"/>
          <p:cNvSpPr/>
          <p:nvPr/>
        </p:nvSpPr>
        <p:spPr>
          <a:xfrm>
            <a:off x="4846320" y="146304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Erasotzaile batek sartuz gero...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9"/>
          <p:cNvSpPr/>
          <p:nvPr/>
        </p:nvSpPr>
        <p:spPr>
          <a:xfrm>
            <a:off x="4846320" y="182880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alibri"/>
              </a:rPr>
              <a:t>120 langileen SEGURTASUN FISIKOA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alibri"/>
              </a:rPr>
              <a:t>arriskuan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0"/>
          <p:cNvSpPr/>
          <p:nvPr/>
        </p:nvSpPr>
        <p:spPr>
          <a:xfrm>
            <a:off x="457200" y="32004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alibri"/>
              </a:rPr>
              <a:t>Aurkikuntza: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alibri"/>
              </a:rPr>
              <a:t>PLC-ak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alibri"/>
              </a:rPr>
              <a:t>Internet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alibri"/>
              </a:rPr>
              <a:t>zabalean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alibri"/>
              </a:rPr>
              <a:t>espostuta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alibri"/>
              </a:rPr>
              <a:t>zeuden!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1"/>
          <p:cNvSpPr/>
          <p:nvPr/>
        </p:nvSpPr>
        <p:spPr>
          <a:xfrm>
            <a:off x="457200" y="36576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Adib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idea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k: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Col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onia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l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Pipe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line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(4,4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M$),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Nor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sk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Hyd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ro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2"/>
          <p:cNvSpPr/>
          <p:nvPr/>
        </p:nvSpPr>
        <p:spPr>
          <a:xfrm>
            <a:off x="457200" y="41148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Modbus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TCP portua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(502) irekita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kanpoarekin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640080" y="164592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2. GURE ESTRATEGIA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640080" y="24688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ZERO </a:t>
            </a:r>
            <a:r>
              <a:rPr lang="en-US" sz="48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TRUST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"/>
          <p:cNvSpPr/>
          <p:nvPr/>
        </p:nvSpPr>
        <p:spPr>
          <a:xfrm>
            <a:off x="640080" y="329184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ETA ARKITEKTURA SEGURUA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640080" y="393192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(6 minutu)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Zero Trust Printzipioa: Inork ez du fidatzen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457200" y="100584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i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"Ez dago sare 'barne segurrik'"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457200" y="1737360"/>
            <a:ext cx="1462680" cy="91404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457200" y="182880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VLAN 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4"/>
          <p:cNvSpPr/>
          <p:nvPr/>
        </p:nvSpPr>
        <p:spPr>
          <a:xfrm>
            <a:off x="457200" y="21945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Bulegoa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5"/>
          <p:cNvSpPr/>
          <p:nvPr/>
        </p:nvSpPr>
        <p:spPr>
          <a:xfrm>
            <a:off x="2194560" y="1737360"/>
            <a:ext cx="1462680" cy="914040"/>
          </a:xfrm>
          <a:prstGeom prst="rect">
            <a:avLst/>
          </a:prstGeom>
          <a:solidFill>
            <a:srgbClr val="F3E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2194560" y="182880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VLAN 20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7"/>
          <p:cNvSpPr/>
          <p:nvPr/>
        </p:nvSpPr>
        <p:spPr>
          <a:xfrm>
            <a:off x="2194560" y="21945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Zerbitzariak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8"/>
          <p:cNvSpPr/>
          <p:nvPr/>
        </p:nvSpPr>
        <p:spPr>
          <a:xfrm>
            <a:off x="3931920" y="1737360"/>
            <a:ext cx="1462680" cy="91404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3931920" y="182880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VLAN 30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0"/>
          <p:cNvSpPr/>
          <p:nvPr/>
        </p:nvSpPr>
        <p:spPr>
          <a:xfrm>
            <a:off x="3931920" y="21945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DMZ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5669280" y="1737360"/>
            <a:ext cx="1462680" cy="914040"/>
          </a:xfrm>
          <a:prstGeom prst="rect">
            <a:avLst/>
          </a:prstGeom>
          <a:solidFill>
            <a:srgbClr val="FFEB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2"/>
          <p:cNvSpPr/>
          <p:nvPr/>
        </p:nvSpPr>
        <p:spPr>
          <a:xfrm>
            <a:off x="5669280" y="182880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VLAN 50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3"/>
          <p:cNvSpPr/>
          <p:nvPr/>
        </p:nvSpPr>
        <p:spPr>
          <a:xfrm>
            <a:off x="5669280" y="21945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OT/SCADA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4"/>
          <p:cNvSpPr/>
          <p:nvPr/>
        </p:nvSpPr>
        <p:spPr>
          <a:xfrm>
            <a:off x="7406640" y="1737360"/>
            <a:ext cx="1279800" cy="914040"/>
          </a:xfrm>
          <a:prstGeom prst="rect">
            <a:avLst/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5"/>
          <p:cNvSpPr/>
          <p:nvPr/>
        </p:nvSpPr>
        <p:spPr>
          <a:xfrm>
            <a:off x="7406640" y="182880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VLAN 99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6"/>
          <p:cNvSpPr/>
          <p:nvPr/>
        </p:nvSpPr>
        <p:spPr>
          <a:xfrm>
            <a:off x="7406640" y="219456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Honeypot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7"/>
          <p:cNvSpPr/>
          <p:nvPr/>
        </p:nvSpPr>
        <p:spPr>
          <a:xfrm>
            <a:off x="457200" y="29260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Fortinet FortiGate 200F: trafiko guztia kontrolatuta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8"/>
          <p:cNvSpPr/>
          <p:nvPr/>
        </p:nvSpPr>
        <p:spPr>
          <a:xfrm>
            <a:off x="457200" y="33832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IT eta OT artean ez dago zubi zuzenik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9"/>
          <p:cNvSpPr/>
          <p:nvPr/>
        </p:nvSpPr>
        <p:spPr>
          <a:xfrm>
            <a:off x="457200" y="38404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Europako Banku Zentralak eta BBVA-k erabiltzen duten estrategia bera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Purdue Eredua: Fabrikaren Babesa Geruzaka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"/>
          <p:cNvSpPr/>
          <p:nvPr/>
        </p:nvSpPr>
        <p:spPr>
          <a:xfrm>
            <a:off x="817200" y="914400"/>
            <a:ext cx="3200400" cy="45684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817200" y="914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1365840" y="91440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Enpresa Sarea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2737080" y="91440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ERP, Emaila, Web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5"/>
          <p:cNvSpPr/>
          <p:nvPr/>
        </p:nvSpPr>
        <p:spPr>
          <a:xfrm>
            <a:off x="817200" y="1463040"/>
            <a:ext cx="3200400" cy="456840"/>
          </a:xfrm>
          <a:prstGeom prst="rect">
            <a:avLst/>
          </a:prstGeom>
          <a:solidFill>
            <a:srgbClr val="FFF8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817200" y="1463040"/>
            <a:ext cx="548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L3.5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7"/>
          <p:cNvSpPr/>
          <p:nvPr/>
        </p:nvSpPr>
        <p:spPr>
          <a:xfrm>
            <a:off x="1365840" y="146304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DMZ Industriala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8"/>
          <p:cNvSpPr/>
          <p:nvPr/>
        </p:nvSpPr>
        <p:spPr>
          <a:xfrm>
            <a:off x="2737080" y="146304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Historialariak, Patch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9"/>
          <p:cNvSpPr/>
          <p:nvPr/>
        </p:nvSpPr>
        <p:spPr>
          <a:xfrm>
            <a:off x="817200" y="2011680"/>
            <a:ext cx="3200400" cy="45684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817200" y="20116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1"/>
          <p:cNvSpPr/>
          <p:nvPr/>
        </p:nvSpPr>
        <p:spPr>
          <a:xfrm>
            <a:off x="1365840" y="201168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Ekoizpen Operazioak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2"/>
          <p:cNvSpPr/>
          <p:nvPr/>
        </p:nvSpPr>
        <p:spPr>
          <a:xfrm>
            <a:off x="2737080" y="201168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SCADA, HMI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3"/>
          <p:cNvSpPr/>
          <p:nvPr/>
        </p:nvSpPr>
        <p:spPr>
          <a:xfrm>
            <a:off x="817200" y="2560320"/>
            <a:ext cx="3200400" cy="456840"/>
          </a:xfrm>
          <a:prstGeom prst="rect">
            <a:avLst/>
          </a:prstGeom>
          <a:solidFill>
            <a:srgbClr val="FFEB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817200" y="2560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5"/>
          <p:cNvSpPr/>
          <p:nvPr/>
        </p:nvSpPr>
        <p:spPr>
          <a:xfrm>
            <a:off x="1365840" y="256032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Kontrol Sarea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6"/>
          <p:cNvSpPr/>
          <p:nvPr/>
        </p:nvSpPr>
        <p:spPr>
          <a:xfrm>
            <a:off x="2737080" y="256032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PLC-ak, RTU-ak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7"/>
          <p:cNvSpPr/>
          <p:nvPr/>
        </p:nvSpPr>
        <p:spPr>
          <a:xfrm>
            <a:off x="817200" y="3108960"/>
            <a:ext cx="3200400" cy="456840"/>
          </a:xfrm>
          <a:prstGeom prst="rect">
            <a:avLst/>
          </a:prstGeom>
          <a:solidFill>
            <a:srgbClr val="FCE4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8"/>
          <p:cNvSpPr/>
          <p:nvPr/>
        </p:nvSpPr>
        <p:spPr>
          <a:xfrm>
            <a:off x="817200" y="3108960"/>
            <a:ext cx="548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L1-0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9"/>
          <p:cNvSpPr/>
          <p:nvPr/>
        </p:nvSpPr>
        <p:spPr>
          <a:xfrm>
            <a:off x="1365840" y="310896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Prozesua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0"/>
          <p:cNvSpPr/>
          <p:nvPr/>
        </p:nvSpPr>
        <p:spPr>
          <a:xfrm>
            <a:off x="2737080" y="310896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Sentsoreak, Aktuadoreak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1"/>
          <p:cNvSpPr/>
          <p:nvPr/>
        </p:nvSpPr>
        <p:spPr>
          <a:xfrm>
            <a:off x="4108320" y="914760"/>
            <a:ext cx="3795480" cy="263772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2"/>
          <p:cNvSpPr/>
          <p:nvPr/>
        </p:nvSpPr>
        <p:spPr>
          <a:xfrm>
            <a:off x="4200480" y="10058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Tresna Nagusiak: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3"/>
          <p:cNvSpPr/>
          <p:nvPr/>
        </p:nvSpPr>
        <p:spPr>
          <a:xfrm>
            <a:off x="4200480" y="14630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OpenPLC: PLC-ak simulatzeko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4"/>
          <p:cNvSpPr/>
          <p:nvPr/>
        </p:nvSpPr>
        <p:spPr>
          <a:xfrm>
            <a:off x="4200480" y="19202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ScadaBR: HMI interfazea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5"/>
          <p:cNvSpPr/>
          <p:nvPr/>
        </p:nvSpPr>
        <p:spPr>
          <a:xfrm>
            <a:off x="4200480" y="23774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Node-RED: Datuen integrazioa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6"/>
          <p:cNvSpPr/>
          <p:nvPr/>
        </p:nvSpPr>
        <p:spPr>
          <a:xfrm>
            <a:off x="4200480" y="28346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VPN + MFA: Sarbide segurua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7"/>
          <p:cNvSpPr/>
          <p:nvPr/>
        </p:nvSpPr>
        <p:spPr>
          <a:xfrm>
            <a:off x="457200" y="39319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Irakurketa-soila modua: idazteko baimena prozesu formalarekin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Zerbitzarien Bastionatzea eta Automatizazioa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/>
          <p:cNvSpPr/>
          <p:nvPr/>
        </p:nvSpPr>
        <p:spPr>
          <a:xfrm>
            <a:off x="457200" y="1005840"/>
            <a:ext cx="2559960" cy="2285640"/>
          </a:xfrm>
          <a:prstGeom prst="rect">
            <a:avLst/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457200" y="10972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Ansible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4592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50+ zerbitzari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4"/>
          <p:cNvSpPr/>
          <p:nvPr/>
        </p:nvSpPr>
        <p:spPr>
          <a:xfrm>
            <a:off x="548640" y="196596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Konfigurazio automatizatua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5"/>
          <p:cNvSpPr/>
          <p:nvPr/>
        </p:nvSpPr>
        <p:spPr>
          <a:xfrm>
            <a:off x="548640" y="228600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Kode bidezko kudeaketa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548640" y="26060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Ez dago 'ahaztutako' zerbitzaririk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7"/>
          <p:cNvSpPr/>
          <p:nvPr/>
        </p:nvSpPr>
        <p:spPr>
          <a:xfrm>
            <a:off x="3291840" y="1005840"/>
            <a:ext cx="2559960" cy="228564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3291840" y="10972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Proxmox/Isard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9"/>
          <p:cNvSpPr/>
          <p:nvPr/>
        </p:nvSpPr>
        <p:spPr>
          <a:xfrm>
            <a:off x="3383280" y="164592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Birtualizazioa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0"/>
          <p:cNvSpPr/>
          <p:nvPr/>
        </p:nvSpPr>
        <p:spPr>
          <a:xfrm>
            <a:off x="3383280" y="196596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Isolamendu segurua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1"/>
          <p:cNvSpPr/>
          <p:nvPr/>
        </p:nvSpPr>
        <p:spPr>
          <a:xfrm>
            <a:off x="3383280" y="228600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Erraz eskalatzeko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383280" y="26060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Backup automatikoak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3"/>
          <p:cNvSpPr/>
          <p:nvPr/>
        </p:nvSpPr>
        <p:spPr>
          <a:xfrm>
            <a:off x="6126480" y="1005840"/>
            <a:ext cx="2559960" cy="228564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6126480" y="10972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Docker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5"/>
          <p:cNvSpPr/>
          <p:nvPr/>
        </p:nvSpPr>
        <p:spPr>
          <a:xfrm>
            <a:off x="6217920" y="164592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Kontenedore isolatuak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6"/>
          <p:cNvSpPr/>
          <p:nvPr/>
        </p:nvSpPr>
        <p:spPr>
          <a:xfrm>
            <a:off x="6217920" y="196596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Aplikazioak banatuta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7"/>
          <p:cNvSpPr/>
          <p:nvPr/>
        </p:nvSpPr>
        <p:spPr>
          <a:xfrm>
            <a:off x="6217920" y="228600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Garraiatze azkarra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6217920" y="26060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Segurtasuna handitua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9"/>
          <p:cNvSpPr/>
          <p:nvPr/>
        </p:nvSpPr>
        <p:spPr>
          <a:xfrm>
            <a:off x="457200" y="3566160"/>
            <a:ext cx="8229240" cy="73116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457200" y="36576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Onura: Errore konfigurazioak %90 murriztu dira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640080" y="164592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3. BERRIKUNTZA SEGURUA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640080" y="256032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ETA EGUNEROKO OPERAZIOAK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640080" y="33832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(5 minutu)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Langileen Atari Berria: Segurtasuna eta Erraztasuna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"/>
          <p:cNvSpPr/>
          <p:nvPr/>
        </p:nvSpPr>
        <p:spPr>
          <a:xfrm>
            <a:off x="457200" y="1005840"/>
            <a:ext cx="3840120" cy="25599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457200" y="1097280"/>
            <a:ext cx="3840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HR Portal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640080" y="164592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120 langileen kudeaketa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4"/>
          <p:cNvSpPr/>
          <p:nvPr/>
        </p:nvSpPr>
        <p:spPr>
          <a:xfrm>
            <a:off x="640080" y="201168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Nóminak ikusteko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640080" y="237744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Oporrak eskatzeko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640080" y="274320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Dokumentazioa kudeatzeko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4572000" y="1005840"/>
            <a:ext cx="4114440" cy="255996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8"/>
          <p:cNvSpPr/>
          <p:nvPr/>
        </p:nvSpPr>
        <p:spPr>
          <a:xfrm>
            <a:off x="4572000" y="109728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Segurtasun Neurriak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9"/>
          <p:cNvSpPr/>
          <p:nvPr/>
        </p:nvSpPr>
        <p:spPr>
          <a:xfrm>
            <a:off x="4754880" y="1645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JWT tokenak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0"/>
          <p:cNvSpPr/>
          <p:nvPr/>
        </p:nvSpPr>
        <p:spPr>
          <a:xfrm>
            <a:off x="4754880" y="20116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MFA (bi faktoreak)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1"/>
          <p:cNvSpPr/>
          <p:nvPr/>
        </p:nvSpPr>
        <p:spPr>
          <a:xfrm>
            <a:off x="4754880" y="23774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5 rol desberdin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2"/>
          <p:cNvSpPr/>
          <p:nvPr/>
        </p:nvSpPr>
        <p:spPr>
          <a:xfrm>
            <a:off x="4754880" y="27432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Pribilegio gutxienekoa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3"/>
          <p:cNvSpPr/>
          <p:nvPr/>
        </p:nvSpPr>
        <p:spPr>
          <a:xfrm>
            <a:off x="457200" y="384048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5 ROL: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4"/>
          <p:cNvSpPr/>
          <p:nvPr/>
        </p:nvSpPr>
        <p:spPr>
          <a:xfrm>
            <a:off x="1371600" y="3749040"/>
            <a:ext cx="1371240" cy="45684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5"/>
          <p:cNvSpPr/>
          <p:nvPr/>
        </p:nvSpPr>
        <p:spPr>
          <a:xfrm>
            <a:off x="1371600" y="374904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ADMIN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6"/>
          <p:cNvSpPr/>
          <p:nvPr/>
        </p:nvSpPr>
        <p:spPr>
          <a:xfrm>
            <a:off x="2834640" y="3749040"/>
            <a:ext cx="1371240" cy="45684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7"/>
          <p:cNvSpPr/>
          <p:nvPr/>
        </p:nvSpPr>
        <p:spPr>
          <a:xfrm>
            <a:off x="2834640" y="374904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RRHH MGR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8"/>
          <p:cNvSpPr/>
          <p:nvPr/>
        </p:nvSpPr>
        <p:spPr>
          <a:xfrm>
            <a:off x="4297680" y="3749040"/>
            <a:ext cx="1371240" cy="45684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9"/>
          <p:cNvSpPr/>
          <p:nvPr/>
        </p:nvSpPr>
        <p:spPr>
          <a:xfrm>
            <a:off x="4297680" y="374904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JEFE SECCIÓN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0"/>
          <p:cNvSpPr/>
          <p:nvPr/>
        </p:nvSpPr>
        <p:spPr>
          <a:xfrm>
            <a:off x="5760720" y="3749040"/>
            <a:ext cx="1371240" cy="45684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1"/>
          <p:cNvSpPr/>
          <p:nvPr/>
        </p:nvSpPr>
        <p:spPr>
          <a:xfrm>
            <a:off x="5760720" y="374904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EMPLEADO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2"/>
          <p:cNvSpPr/>
          <p:nvPr/>
        </p:nvSpPr>
        <p:spPr>
          <a:xfrm>
            <a:off x="7223760" y="3749040"/>
            <a:ext cx="1371240" cy="45684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3"/>
          <p:cNvSpPr/>
          <p:nvPr/>
        </p:nvSpPr>
        <p:spPr>
          <a:xfrm>
            <a:off x="7223760" y="374904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AUDITOR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Mugikor Aplikazioa: Android Segurua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"/>
          <p:cNvSpPr/>
          <p:nvPr/>
        </p:nvSpPr>
        <p:spPr>
          <a:xfrm>
            <a:off x="457200" y="1005840"/>
            <a:ext cx="2559960" cy="2011320"/>
          </a:xfrm>
          <a:prstGeom prst="rect">
            <a:avLst/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"/>
          <p:cNvSpPr/>
          <p:nvPr/>
        </p:nvSpPr>
        <p:spPr>
          <a:xfrm>
            <a:off x="457200" y="109728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Teknologia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3"/>
          <p:cNvSpPr/>
          <p:nvPr/>
        </p:nvSpPr>
        <p:spPr>
          <a:xfrm>
            <a:off x="457200" y="155448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Kotlin 2.0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4"/>
          <p:cNvSpPr/>
          <p:nvPr/>
        </p:nvSpPr>
        <p:spPr>
          <a:xfrm>
            <a:off x="457200" y="192024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Jetpack Compose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"/>
          <p:cNvSpPr/>
          <p:nvPr/>
        </p:nvSpPr>
        <p:spPr>
          <a:xfrm>
            <a:off x="457200" y="22860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Material Design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6"/>
          <p:cNvSpPr/>
          <p:nvPr/>
        </p:nvSpPr>
        <p:spPr>
          <a:xfrm>
            <a:off x="3291840" y="1005840"/>
            <a:ext cx="2559960" cy="201132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7"/>
          <p:cNvSpPr/>
          <p:nvPr/>
        </p:nvSpPr>
        <p:spPr>
          <a:xfrm>
            <a:off x="3291840" y="109728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Certificate Pinning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8"/>
          <p:cNvSpPr/>
          <p:nvPr/>
        </p:nvSpPr>
        <p:spPr>
          <a:xfrm>
            <a:off x="3291840" y="155448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Zerbitzaria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9"/>
          <p:cNvSpPr/>
          <p:nvPr/>
        </p:nvSpPr>
        <p:spPr>
          <a:xfrm>
            <a:off x="3291840" y="192024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ezin daiteke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0"/>
          <p:cNvSpPr/>
          <p:nvPr/>
        </p:nvSpPr>
        <p:spPr>
          <a:xfrm>
            <a:off x="3291840" y="22860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falsifikatu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1"/>
          <p:cNvSpPr/>
          <p:nvPr/>
        </p:nvSpPr>
        <p:spPr>
          <a:xfrm>
            <a:off x="6126480" y="1005840"/>
            <a:ext cx="2559960" cy="201132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2"/>
          <p:cNvSpPr/>
          <p:nvPr/>
        </p:nvSpPr>
        <p:spPr>
          <a:xfrm>
            <a:off x="6126480" y="109728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Biometria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3"/>
          <p:cNvSpPr/>
          <p:nvPr/>
        </p:nvSpPr>
        <p:spPr>
          <a:xfrm>
            <a:off x="6217920" y="155448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Hatz-marka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4"/>
          <p:cNvSpPr/>
          <p:nvPr/>
        </p:nvSpPr>
        <p:spPr>
          <a:xfrm>
            <a:off x="6217920" y="19202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Aurpegia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5"/>
          <p:cNvSpPr/>
          <p:nvPr/>
        </p:nvSpPr>
        <p:spPr>
          <a:xfrm>
            <a:off x="6217920" y="228600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PIN seguruak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16"/>
          <p:cNvSpPr/>
          <p:nvPr/>
        </p:nvSpPr>
        <p:spPr>
          <a:xfrm>
            <a:off x="457200" y="3291840"/>
            <a:ext cx="8229240" cy="73116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7"/>
          <p:cNvSpPr/>
          <p:nvPr/>
        </p:nvSpPr>
        <p:spPr>
          <a:xfrm>
            <a:off x="457200" y="33832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Datuak enkriptatuta gordetzen dira gailuan: telefonoa galdu arren, informazioa segurua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 0"/>
          <p:cNvSpPr/>
          <p:nvPr/>
        </p:nvSpPr>
        <p:spPr>
          <a:xfrm>
            <a:off x="640080" y="164592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4. ERASOEN AURKAKO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"/>
          <p:cNvSpPr/>
          <p:nvPr/>
        </p:nvSpPr>
        <p:spPr>
          <a:xfrm>
            <a:off x="640080" y="256032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PREBENTZIOA ETA ERANTZUNA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"/>
          <p:cNvSpPr/>
          <p:nvPr/>
        </p:nvSpPr>
        <p:spPr>
          <a:xfrm>
            <a:off x="640080" y="33832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(7 minutu)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Hacking Etikoaren Emaitzak: Gure Defentsak Frogan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"/>
          <p:cNvSpPr/>
          <p:nvPr/>
        </p:nvSpPr>
        <p:spPr>
          <a:xfrm>
            <a:off x="457200" y="1005840"/>
            <a:ext cx="1462680" cy="109692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"/>
          <p:cNvSpPr/>
          <p:nvPr/>
        </p:nvSpPr>
        <p:spPr>
          <a:xfrm>
            <a:off x="457200" y="10972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"/>
          <p:cNvSpPr/>
          <p:nvPr/>
        </p:nvSpPr>
        <p:spPr>
          <a:xfrm>
            <a:off x="457200" y="169164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Kritiko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4"/>
          <p:cNvSpPr/>
          <p:nvPr/>
        </p:nvSpPr>
        <p:spPr>
          <a:xfrm>
            <a:off x="2194560" y="1005840"/>
            <a:ext cx="1462680" cy="1096920"/>
          </a:xfrm>
          <a:prstGeom prst="rect">
            <a:avLst/>
          </a:prstGeom>
          <a:solidFill>
            <a:srgbClr val="FF8F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5"/>
          <p:cNvSpPr/>
          <p:nvPr/>
        </p:nvSpPr>
        <p:spPr>
          <a:xfrm>
            <a:off x="2194560" y="10972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6"/>
          <p:cNvSpPr/>
          <p:nvPr/>
        </p:nvSpPr>
        <p:spPr>
          <a:xfrm>
            <a:off x="2194560" y="169164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Altu (konponduak)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7"/>
          <p:cNvSpPr/>
          <p:nvPr/>
        </p:nvSpPr>
        <p:spPr>
          <a:xfrm>
            <a:off x="3931920" y="1005840"/>
            <a:ext cx="1462680" cy="1096920"/>
          </a:xfrm>
          <a:prstGeom prst="rect">
            <a:avLst/>
          </a:prstGeom>
          <a:solidFill>
            <a:srgbClr val="FFCC8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8"/>
          <p:cNvSpPr/>
          <p:nvPr/>
        </p:nvSpPr>
        <p:spPr>
          <a:xfrm>
            <a:off x="3931920" y="10972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4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9"/>
          <p:cNvSpPr/>
          <p:nvPr/>
        </p:nvSpPr>
        <p:spPr>
          <a:xfrm>
            <a:off x="3931920" y="169164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Ertain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0"/>
          <p:cNvSpPr/>
          <p:nvPr/>
        </p:nvSpPr>
        <p:spPr>
          <a:xfrm>
            <a:off x="5669280" y="1005840"/>
            <a:ext cx="1462680" cy="1096920"/>
          </a:xfrm>
          <a:prstGeom prst="rect">
            <a:avLst/>
          </a:prstGeom>
          <a:solidFill>
            <a:srgbClr val="E0E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1"/>
          <p:cNvSpPr/>
          <p:nvPr/>
        </p:nvSpPr>
        <p:spPr>
          <a:xfrm>
            <a:off x="5669280" y="109728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3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2"/>
          <p:cNvSpPr/>
          <p:nvPr/>
        </p:nvSpPr>
        <p:spPr>
          <a:xfrm>
            <a:off x="5669280" y="169164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Baxu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3"/>
          <p:cNvSpPr/>
          <p:nvPr/>
        </p:nvSpPr>
        <p:spPr>
          <a:xfrm>
            <a:off x="7406640" y="1005840"/>
            <a:ext cx="1279800" cy="109692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4"/>
          <p:cNvSpPr/>
          <p:nvPr/>
        </p:nvSpPr>
        <p:spPr>
          <a:xfrm>
            <a:off x="7406640" y="1097280"/>
            <a:ext cx="1279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5"/>
          <p:cNvSpPr/>
          <p:nvPr/>
        </p:nvSpPr>
        <p:spPr>
          <a:xfrm>
            <a:off x="7406640" y="169164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Guztira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6"/>
          <p:cNvSpPr/>
          <p:nvPr/>
        </p:nvSpPr>
        <p:spPr>
          <a:xfrm>
            <a:off x="457200" y="23774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SQL Injection konpondua: prepared statements-ekin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7"/>
          <p:cNvSpPr/>
          <p:nvPr/>
        </p:nvSpPr>
        <p:spPr>
          <a:xfrm>
            <a:off x="457200" y="28346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OT sarearen isolamendua: PLC-ak ez daude Internetean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8"/>
          <p:cNvSpPr/>
          <p:nvPr/>
        </p:nvSpPr>
        <p:spPr>
          <a:xfrm>
            <a:off x="457200" y="3291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WiFi: WPA3 + sarbide baimenduen zerrenda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9"/>
          <p:cNvSpPr/>
          <p:nvPr/>
        </p:nvSpPr>
        <p:spPr>
          <a:xfrm>
            <a:off x="457200" y="37490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Metodologia: PTES + OWASP Testing Guide v4.2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Monitorizazioa Denbora Errealean: SIEM eta Wazuh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1005840"/>
            <a:ext cx="4114440" cy="228564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457200" y="109728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ELK Stack + Wazuh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640080" y="1645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Log guztiak biltzen dira zentralizatuta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640080" y="20116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Elasticsearch biltegiratzea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40080" y="23774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Kibana bisualizazioak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640080" y="27432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Logstash prozesamendua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7"/>
          <p:cNvSpPr/>
          <p:nvPr/>
        </p:nvSpPr>
        <p:spPr>
          <a:xfrm>
            <a:off x="4754880" y="1005840"/>
            <a:ext cx="3931560" cy="228564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8"/>
          <p:cNvSpPr/>
          <p:nvPr/>
        </p:nvSpPr>
        <p:spPr>
          <a:xfrm>
            <a:off x="4754880" y="1097280"/>
            <a:ext cx="3931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15+ Alerta Arau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9"/>
          <p:cNvSpPr/>
          <p:nvPr/>
        </p:nvSpPr>
        <p:spPr>
          <a:xfrm>
            <a:off x="4937760" y="164592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Saihesketak detektatzeko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0"/>
          <p:cNvSpPr/>
          <p:nvPr/>
        </p:nvSpPr>
        <p:spPr>
          <a:xfrm>
            <a:off x="4937760" y="201168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Autentikazio okerrak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1"/>
          <p:cNvSpPr/>
          <p:nvPr/>
        </p:nvSpPr>
        <p:spPr>
          <a:xfrm>
            <a:off x="4937760" y="237744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Prozesu susmagarriak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2"/>
          <p:cNvSpPr/>
          <p:nvPr/>
        </p:nvSpPr>
        <p:spPr>
          <a:xfrm>
            <a:off x="4937760" y="274320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USB konekzioak OT-an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3"/>
          <p:cNvSpPr/>
          <p:nvPr/>
        </p:nvSpPr>
        <p:spPr>
          <a:xfrm>
            <a:off x="457200" y="35661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MITRE ATT&amp;CK esparrua: erasoak nola antolatzen diren ulertzeko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Honeypot-ak: Erasotzaileak Harrapatzeko Tranpak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"/>
          <p:cNvSpPr/>
          <p:nvPr/>
        </p:nvSpPr>
        <p:spPr>
          <a:xfrm>
            <a:off x="457200" y="1005840"/>
            <a:ext cx="3840120" cy="2285640"/>
          </a:xfrm>
          <a:prstGeom prst="rect">
            <a:avLst/>
          </a:prstGeom>
          <a:solidFill>
            <a:srgbClr val="FCE4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457200" y="1097280"/>
            <a:ext cx="3840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880E4F"/>
                </a:solidFill>
                <a:effectLst/>
                <a:uFillTx/>
                <a:latin typeface="Calibri"/>
              </a:rPr>
              <a:t>T-Pot / Cowrie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640080" y="164592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SSH zerbitzari faltsuak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640080" y="201168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Telnet zerbitzari faltsuak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5"/>
          <p:cNvSpPr/>
          <p:nvPr/>
        </p:nvSpPr>
        <p:spPr>
          <a:xfrm>
            <a:off x="640080" y="237744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Erasotzaileak erakartzen ditu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640080" y="274320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Benetako sistemak babesten ditu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7"/>
          <p:cNvSpPr/>
          <p:nvPr/>
        </p:nvSpPr>
        <p:spPr>
          <a:xfrm>
            <a:off x="4480560" y="1005840"/>
            <a:ext cx="4205880" cy="2285640"/>
          </a:xfrm>
          <a:prstGeom prst="rect">
            <a:avLst/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8"/>
          <p:cNvSpPr/>
          <p:nvPr/>
        </p:nvSpPr>
        <p:spPr>
          <a:xfrm>
            <a:off x="4480560" y="1097280"/>
            <a:ext cx="4205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Conpot (OT Honeypot)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4663440" y="164592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PLC faltsuak OT sarean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4663440" y="201168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Modbus TCP simulazioa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4663440" y="237744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Eraso teknikak ikasteko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2"/>
          <p:cNvSpPr/>
          <p:nvPr/>
        </p:nvSpPr>
        <p:spPr>
          <a:xfrm>
            <a:off x="4663440" y="274320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Mehatxu inteligentzia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3"/>
          <p:cNvSpPr/>
          <p:nvPr/>
        </p:nvSpPr>
        <p:spPr>
          <a:xfrm>
            <a:off x="457200" y="3474720"/>
            <a:ext cx="8229240" cy="73116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4"/>
          <p:cNvSpPr/>
          <p:nvPr/>
        </p:nvSpPr>
        <p:spPr>
          <a:xfrm>
            <a:off x="457200" y="35661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Helburua: Erasotzaileak atzerapenarako erakartzea, benetako sistemak babesteko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Gertaera-Erantzun Plana: Arazorako Prest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"/>
          <p:cNvSpPr/>
          <p:nvPr/>
        </p:nvSpPr>
        <p:spPr>
          <a:xfrm>
            <a:off x="457200" y="1005840"/>
            <a:ext cx="1919880" cy="1188360"/>
          </a:xfrm>
          <a:prstGeom prst="rect">
            <a:avLst/>
          </a:prstGeom>
          <a:solidFill>
            <a:srgbClr val="CC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457200" y="10972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Kritikoa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457200" y="1508760"/>
            <a:ext cx="191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15 min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2560320" y="1005840"/>
            <a:ext cx="1919880" cy="1188360"/>
          </a:xfrm>
          <a:prstGeom prst="rect">
            <a:avLst/>
          </a:prstGeom>
          <a:solidFill>
            <a:srgbClr val="FF8F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2560320" y="10972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Altua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2560320" y="1508760"/>
            <a:ext cx="191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ordu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7"/>
          <p:cNvSpPr/>
          <p:nvPr/>
        </p:nvSpPr>
        <p:spPr>
          <a:xfrm>
            <a:off x="4663440" y="1005840"/>
            <a:ext cx="1919880" cy="1188360"/>
          </a:xfrm>
          <a:prstGeom prst="rect">
            <a:avLst/>
          </a:prstGeom>
          <a:solidFill>
            <a:srgbClr val="FFCC8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8"/>
          <p:cNvSpPr/>
          <p:nvPr/>
        </p:nvSpPr>
        <p:spPr>
          <a:xfrm>
            <a:off x="4663440" y="10972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Ertaina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9"/>
          <p:cNvSpPr/>
          <p:nvPr/>
        </p:nvSpPr>
        <p:spPr>
          <a:xfrm>
            <a:off x="4663440" y="1508760"/>
            <a:ext cx="191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4 ordu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0"/>
          <p:cNvSpPr/>
          <p:nvPr/>
        </p:nvSpPr>
        <p:spPr>
          <a:xfrm>
            <a:off x="6766560" y="1005840"/>
            <a:ext cx="1919880" cy="1188360"/>
          </a:xfrm>
          <a:prstGeom prst="rect">
            <a:avLst/>
          </a:prstGeom>
          <a:solidFill>
            <a:srgbClr val="E0E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1"/>
          <p:cNvSpPr/>
          <p:nvPr/>
        </p:nvSpPr>
        <p:spPr>
          <a:xfrm>
            <a:off x="6766560" y="10972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Baxua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2"/>
          <p:cNvSpPr/>
          <p:nvPr/>
        </p:nvSpPr>
        <p:spPr>
          <a:xfrm>
            <a:off x="6766560" y="1508760"/>
            <a:ext cx="191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24 ordu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3"/>
          <p:cNvSpPr/>
          <p:nvPr/>
        </p:nvSpPr>
        <p:spPr>
          <a:xfrm>
            <a:off x="457200" y="23317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Erantzun-denborak (ISO 27001)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4"/>
          <p:cNvSpPr/>
          <p:nvPr/>
        </p:nvSpPr>
        <p:spPr>
          <a:xfrm>
            <a:off x="457200" y="26974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IR Taldea: 5 pertsona, rol argiak, 24/7 eskuragarritasuna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5"/>
          <p:cNvSpPr/>
          <p:nvPr/>
        </p:nvSpPr>
        <p:spPr>
          <a:xfrm>
            <a:off x="457200" y="31089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Auzitegi-analisirako prest: ebidentziak biltzeko prozedurak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6"/>
          <p:cNvSpPr/>
          <p:nvPr/>
        </p:nvSpPr>
        <p:spPr>
          <a:xfrm>
            <a:off x="457200" y="35661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Hiruhileko mahai-gaineko ariketak: prozedurak probatzeko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/>
          <p:nvPr/>
        </p:nvSpPr>
        <p:spPr>
          <a:xfrm>
            <a:off x="640080" y="164592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5. BETETZE LEGALA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640080" y="256032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ETA ETORKIZUNA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2"/>
          <p:cNvSpPr/>
          <p:nvPr/>
        </p:nvSpPr>
        <p:spPr>
          <a:xfrm>
            <a:off x="640080" y="33832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(5 minutu)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ISO 27001: %93 Betetzea, Zero Auditaldi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"/>
          <p:cNvSpPr/>
          <p:nvPr/>
        </p:nvSpPr>
        <p:spPr>
          <a:xfrm>
            <a:off x="3200400" y="1005840"/>
            <a:ext cx="2742840" cy="274284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2"/>
          <p:cNvSpPr/>
          <p:nvPr/>
        </p:nvSpPr>
        <p:spPr>
          <a:xfrm>
            <a:off x="3200400" y="1463040"/>
            <a:ext cx="2742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%93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3"/>
          <p:cNvSpPr/>
          <p:nvPr/>
        </p:nvSpPr>
        <p:spPr>
          <a:xfrm>
            <a:off x="3200400" y="274320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87/93 kontrol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4"/>
          <p:cNvSpPr/>
          <p:nvPr/>
        </p:nvSpPr>
        <p:spPr>
          <a:xfrm>
            <a:off x="457200" y="1005840"/>
            <a:ext cx="2468520" cy="1188360"/>
          </a:xfrm>
          <a:prstGeom prst="rect">
            <a:avLst/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457200" y="109728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A.5 - A.7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6"/>
          <p:cNvSpPr/>
          <p:nvPr/>
        </p:nvSpPr>
        <p:spPr>
          <a:xfrm>
            <a:off x="457200" y="146304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%100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7"/>
          <p:cNvSpPr/>
          <p:nvPr/>
        </p:nvSpPr>
        <p:spPr>
          <a:xfrm>
            <a:off x="457200" y="2377440"/>
            <a:ext cx="2468520" cy="137124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8"/>
          <p:cNvSpPr/>
          <p:nvPr/>
        </p:nvSpPr>
        <p:spPr>
          <a:xfrm>
            <a:off x="457200" y="246888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A.8 Teknologikoak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9"/>
          <p:cNvSpPr/>
          <p:nvPr/>
        </p:nvSpPr>
        <p:spPr>
          <a:xfrm>
            <a:off x="457200" y="283464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%94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0"/>
          <p:cNvSpPr/>
          <p:nvPr/>
        </p:nvSpPr>
        <p:spPr>
          <a:xfrm>
            <a:off x="6217920" y="1005840"/>
            <a:ext cx="2468520" cy="118836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1"/>
          <p:cNvSpPr/>
          <p:nvPr/>
        </p:nvSpPr>
        <p:spPr>
          <a:xfrm>
            <a:off x="6217920" y="109728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2026 Q4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2"/>
          <p:cNvSpPr/>
          <p:nvPr/>
        </p:nvSpPr>
        <p:spPr>
          <a:xfrm>
            <a:off x="6217920" y="146304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Ziurtagiria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13"/>
          <p:cNvSpPr/>
          <p:nvPr/>
        </p:nvSpPr>
        <p:spPr>
          <a:xfrm>
            <a:off x="6217920" y="2377440"/>
            <a:ext cx="2468520" cy="137124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4"/>
          <p:cNvSpPr/>
          <p:nvPr/>
        </p:nvSpPr>
        <p:spPr>
          <a:xfrm>
            <a:off x="6217920" y="246888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Hurrengo pausoak: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5"/>
          <p:cNvSpPr/>
          <p:nvPr/>
        </p:nvSpPr>
        <p:spPr>
          <a:xfrm>
            <a:off x="6217920" y="283464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Q2: DLP + maskaratzea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6"/>
          <p:cNvSpPr/>
          <p:nvPr/>
        </p:nvSpPr>
        <p:spPr>
          <a:xfrm>
            <a:off x="6217920" y="31089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Q3: Aurre-auditoria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7"/>
          <p:cNvSpPr/>
          <p:nvPr/>
        </p:nvSpPr>
        <p:spPr>
          <a:xfrm>
            <a:off x="6217920" y="338328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Q4: Ziurtagiria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18"/>
          <p:cNvSpPr/>
          <p:nvPr/>
        </p:nvSpPr>
        <p:spPr>
          <a:xfrm>
            <a:off x="457200" y="3931920"/>
            <a:ext cx="8229240" cy="45684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9"/>
          <p:cNvSpPr/>
          <p:nvPr/>
        </p:nvSpPr>
        <p:spPr>
          <a:xfrm>
            <a:off x="457200" y="39776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ISO 27001 da zibersegurtasunaren 'etiketa' munduan - bezeroek eta inbertitzaileek eskatzen dute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GDPR eta NIS2: Zigorrak Saihesten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1"/>
          <p:cNvSpPr/>
          <p:nvPr/>
        </p:nvSpPr>
        <p:spPr>
          <a:xfrm>
            <a:off x="457200" y="1005840"/>
            <a:ext cx="3840120" cy="255996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457200" y="1097280"/>
            <a:ext cx="3840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GDPR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640080" y="169164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72 orduko ohartarazpena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4"/>
          <p:cNvSpPr/>
          <p:nvPr/>
        </p:nvSpPr>
        <p:spPr>
          <a:xfrm>
            <a:off x="640080" y="205740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AEPD-rekin harremanak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640080" y="242316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Datu subjektuen eskubideak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6"/>
          <p:cNvSpPr/>
          <p:nvPr/>
        </p:nvSpPr>
        <p:spPr>
          <a:xfrm>
            <a:off x="640080" y="2926080"/>
            <a:ext cx="3474360" cy="456840"/>
          </a:xfrm>
          <a:prstGeom prst="rect">
            <a:avLst/>
          </a:prstGeom>
          <a:solidFill>
            <a:srgbClr val="CC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7"/>
          <p:cNvSpPr/>
          <p:nvPr/>
        </p:nvSpPr>
        <p:spPr>
          <a:xfrm>
            <a:off x="640080" y="297180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Zigorra: fakturazioaren %4 arte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8"/>
          <p:cNvSpPr/>
          <p:nvPr/>
        </p:nvSpPr>
        <p:spPr>
          <a:xfrm>
            <a:off x="4572000" y="1005840"/>
            <a:ext cx="4114440" cy="255996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9"/>
          <p:cNvSpPr/>
          <p:nvPr/>
        </p:nvSpPr>
        <p:spPr>
          <a:xfrm>
            <a:off x="4572000" y="109728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NIS2 (2024 Oct)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0"/>
          <p:cNvSpPr/>
          <p:nvPr/>
        </p:nvSpPr>
        <p:spPr>
          <a:xfrm>
            <a:off x="4754880" y="16916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Enpresa handientzat derrigorrezkoa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1"/>
          <p:cNvSpPr/>
          <p:nvPr/>
        </p:nvSpPr>
        <p:spPr>
          <a:xfrm>
            <a:off x="4754880" y="20574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250+ langile / 50M€ fakturazio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2"/>
          <p:cNvSpPr/>
          <p:nvPr/>
        </p:nvSpPr>
        <p:spPr>
          <a:xfrm>
            <a:off x="4754880" y="24231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Hornitzaile gisa prestatuta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3"/>
          <p:cNvSpPr/>
          <p:nvPr/>
        </p:nvSpPr>
        <p:spPr>
          <a:xfrm>
            <a:off x="4754880" y="2926080"/>
            <a:ext cx="3748680" cy="456840"/>
          </a:xfrm>
          <a:prstGeom prst="rect">
            <a:avLst/>
          </a:prstGeom>
          <a:solidFill>
            <a:srgbClr val="CC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4"/>
          <p:cNvSpPr/>
          <p:nvPr/>
        </p:nvSpPr>
        <p:spPr>
          <a:xfrm>
            <a:off x="4754880" y="297180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Zigorra: 10 milioi € arte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5"/>
          <p:cNvSpPr/>
          <p:nvPr/>
        </p:nvSpPr>
        <p:spPr>
          <a:xfrm>
            <a:off x="457200" y="38404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DPO izendatuta: Datuak Babesteko Ordezkaria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IEC 62443: Industria Segurtasunaren Estandarra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"/>
          <p:cNvSpPr/>
          <p:nvPr/>
        </p:nvSpPr>
        <p:spPr>
          <a:xfrm>
            <a:off x="457200" y="1005840"/>
            <a:ext cx="1919880" cy="1096920"/>
          </a:xfrm>
          <a:prstGeom prst="rect">
            <a:avLst/>
          </a:prstGeom>
          <a:solidFill>
            <a:srgbClr val="E0E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457200" y="105156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SL 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457200" y="137160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Ez dago eskakizunik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457200" y="169164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⚪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5"/>
          <p:cNvSpPr/>
          <p:nvPr/>
        </p:nvSpPr>
        <p:spPr>
          <a:xfrm>
            <a:off x="2560320" y="1005840"/>
            <a:ext cx="1919880" cy="1096920"/>
          </a:xfrm>
          <a:prstGeom prst="rect">
            <a:avLst/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2560320" y="105156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SL 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7"/>
          <p:cNvSpPr/>
          <p:nvPr/>
        </p:nvSpPr>
        <p:spPr>
          <a:xfrm>
            <a:off x="2560320" y="137160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Hutsegite akatsak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8"/>
          <p:cNvSpPr/>
          <p:nvPr/>
        </p:nvSpPr>
        <p:spPr>
          <a:xfrm>
            <a:off x="2560320" y="169164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🟢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9"/>
          <p:cNvSpPr/>
          <p:nvPr/>
        </p:nvSpPr>
        <p:spPr>
          <a:xfrm>
            <a:off x="4663440" y="1005840"/>
            <a:ext cx="1919880" cy="109692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0"/>
          <p:cNvSpPr/>
          <p:nvPr/>
        </p:nvSpPr>
        <p:spPr>
          <a:xfrm>
            <a:off x="4663440" y="105156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SL 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1"/>
          <p:cNvSpPr/>
          <p:nvPr/>
        </p:nvSpPr>
        <p:spPr>
          <a:xfrm>
            <a:off x="4663440" y="137160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Baliabide baxua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2"/>
          <p:cNvSpPr/>
          <p:nvPr/>
        </p:nvSpPr>
        <p:spPr>
          <a:xfrm>
            <a:off x="4663440" y="169164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GAUDE HEMEN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13"/>
          <p:cNvSpPr/>
          <p:nvPr/>
        </p:nvSpPr>
        <p:spPr>
          <a:xfrm>
            <a:off x="6766560" y="1005840"/>
            <a:ext cx="1919880" cy="109692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4"/>
          <p:cNvSpPr/>
          <p:nvPr/>
        </p:nvSpPr>
        <p:spPr>
          <a:xfrm>
            <a:off x="6766560" y="105156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SL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5"/>
          <p:cNvSpPr/>
          <p:nvPr/>
        </p:nvSpPr>
        <p:spPr>
          <a:xfrm>
            <a:off x="6766560" y="137160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Baliabide moderatua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6"/>
          <p:cNvSpPr/>
          <p:nvPr/>
        </p:nvSpPr>
        <p:spPr>
          <a:xfrm>
            <a:off x="6766560" y="169164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🎯 HELBURUA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7"/>
          <p:cNvSpPr/>
          <p:nvPr/>
        </p:nvSpPr>
        <p:spPr>
          <a:xfrm>
            <a:off x="457200" y="22402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Segurtasun Mailak (SL - Security Level)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8"/>
          <p:cNvSpPr/>
          <p:nvPr/>
        </p:nvSpPr>
        <p:spPr>
          <a:xfrm>
            <a:off x="457200" y="26060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Gune eta Hodi eredua: sare segmentazio zorrotza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9"/>
          <p:cNvSpPr/>
          <p:nvPr/>
        </p:nvSpPr>
        <p:spPr>
          <a:xfrm>
            <a:off x="457200" y="30632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0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Irakurketa-soila modua lehenetsita OT sistemetan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20"/>
          <p:cNvSpPr/>
          <p:nvPr/>
        </p:nvSpPr>
        <p:spPr>
          <a:xfrm>
            <a:off x="457200" y="35204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•  </a:t>
            </a:r>
            <a:r>
              <a:rPr lang="en-US" sz="1400" b="1" u="none" strike="noStrike">
                <a:solidFill>
                  <a:srgbClr val="363636"/>
                </a:solidFill>
                <a:effectLst/>
                <a:uFillTx/>
                <a:latin typeface="Calibri"/>
              </a:rPr>
              <a:t>Langileen segurtasun fisikoa lehenesten da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 0"/>
          <p:cNvSpPr/>
          <p:nvPr/>
        </p:nvSpPr>
        <p:spPr>
          <a:xfrm>
            <a:off x="640080" y="182880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6. ONDORIOAK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"/>
          <p:cNvSpPr/>
          <p:nvPr/>
        </p:nvSpPr>
        <p:spPr>
          <a:xfrm>
            <a:off x="640080" y="274320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ETA GALDERAK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"/>
          <p:cNvSpPr/>
          <p:nvPr/>
        </p:nvSpPr>
        <p:spPr>
          <a:xfrm>
            <a:off x="640080" y="356616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(3 minutu)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Inbertsioaren Balioa: Zer Lortu Dugu?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"/>
          <p:cNvSpPr/>
          <p:nvPr/>
        </p:nvSpPr>
        <p:spPr>
          <a:xfrm>
            <a:off x="457200" y="1005840"/>
            <a:ext cx="3840120" cy="2011320"/>
          </a:xfrm>
          <a:prstGeom prst="rect">
            <a:avLst/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"/>
          <p:cNvSpPr/>
          <p:nvPr/>
        </p:nvSpPr>
        <p:spPr>
          <a:xfrm>
            <a:off x="457200" y="1097280"/>
            <a:ext cx="38401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✓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3"/>
          <p:cNvSpPr/>
          <p:nvPr/>
        </p:nvSpPr>
        <p:spPr>
          <a:xfrm>
            <a:off x="457200" y="17373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Ekoizpenaren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4"/>
          <p:cNvSpPr/>
          <p:nvPr/>
        </p:nvSpPr>
        <p:spPr>
          <a:xfrm>
            <a:off x="457200" y="205740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Jarraitutasuna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5"/>
          <p:cNvSpPr/>
          <p:nvPr/>
        </p:nvSpPr>
        <p:spPr>
          <a:xfrm>
            <a:off x="457200" y="246888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120 langileen segurtasuna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6"/>
          <p:cNvSpPr/>
          <p:nvPr/>
        </p:nvSpPr>
        <p:spPr>
          <a:xfrm>
            <a:off x="4572000" y="1005840"/>
            <a:ext cx="4114440" cy="201132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7"/>
          <p:cNvSpPr/>
          <p:nvPr/>
        </p:nvSpPr>
        <p:spPr>
          <a:xfrm>
            <a:off x="4572000" y="109728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💰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8"/>
          <p:cNvSpPr/>
          <p:nvPr/>
        </p:nvSpPr>
        <p:spPr>
          <a:xfrm>
            <a:off x="4572000" y="17373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Arrisku Juridikoa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9"/>
          <p:cNvSpPr/>
          <p:nvPr/>
        </p:nvSpPr>
        <p:spPr>
          <a:xfrm>
            <a:off x="4572000" y="205740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Murriztua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0"/>
          <p:cNvSpPr/>
          <p:nvPr/>
        </p:nvSpPr>
        <p:spPr>
          <a:xfrm>
            <a:off x="4572000" y="246888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Milioika euroko aurrezkia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1"/>
          <p:cNvSpPr/>
          <p:nvPr/>
        </p:nvSpPr>
        <p:spPr>
          <a:xfrm>
            <a:off x="457200" y="3200400"/>
            <a:ext cx="3840120" cy="137124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2"/>
          <p:cNvSpPr/>
          <p:nvPr/>
        </p:nvSpPr>
        <p:spPr>
          <a:xfrm>
            <a:off x="457200" y="3246120"/>
            <a:ext cx="3840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🏆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3"/>
          <p:cNvSpPr/>
          <p:nvPr/>
        </p:nvSpPr>
        <p:spPr>
          <a:xfrm>
            <a:off x="457200" y="374904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Ospea Babestuta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4"/>
          <p:cNvSpPr/>
          <p:nvPr/>
        </p:nvSpPr>
        <p:spPr>
          <a:xfrm>
            <a:off x="457200" y="411480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Bezeroen konfiantza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5"/>
          <p:cNvSpPr/>
          <p:nvPr/>
        </p:nvSpPr>
        <p:spPr>
          <a:xfrm>
            <a:off x="4572000" y="3200400"/>
            <a:ext cx="4114440" cy="1371240"/>
          </a:xfrm>
          <a:prstGeom prst="rect">
            <a:avLst/>
          </a:prstGeom>
          <a:solidFill>
            <a:srgbClr val="F3E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6"/>
          <p:cNvSpPr/>
          <p:nvPr/>
        </p:nvSpPr>
        <p:spPr>
          <a:xfrm>
            <a:off x="4572000" y="324612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🚀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7"/>
          <p:cNvSpPr/>
          <p:nvPr/>
        </p:nvSpPr>
        <p:spPr>
          <a:xfrm>
            <a:off x="4572000" y="374904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Industria 4.0-rako Oinarria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8"/>
          <p:cNvSpPr/>
          <p:nvPr/>
        </p:nvSpPr>
        <p:spPr>
          <a:xfrm>
            <a:off x="4572000" y="411480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Etorkizunik gabeko modernizazioa ez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Text 0"/>
          <p:cNvSpPr/>
          <p:nvPr/>
        </p:nvSpPr>
        <p:spPr>
          <a:xfrm>
            <a:off x="45720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Hurrengo Pausoak eta Eskerrik Asko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"/>
          <p:cNvSpPr/>
          <p:nvPr/>
        </p:nvSpPr>
        <p:spPr>
          <a:xfrm>
            <a:off x="457200" y="1005840"/>
            <a:ext cx="2651400" cy="182844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2"/>
          <p:cNvSpPr/>
          <p:nvPr/>
        </p:nvSpPr>
        <p:spPr>
          <a:xfrm>
            <a:off x="457200" y="109728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3A5F"/>
                </a:solidFill>
                <a:effectLst/>
                <a:uFillTx/>
                <a:latin typeface="Calibri"/>
              </a:rPr>
              <a:t>2026 Q2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3"/>
          <p:cNvSpPr/>
          <p:nvPr/>
        </p:nvSpPr>
        <p:spPr>
          <a:xfrm>
            <a:off x="548640" y="164592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DLP sistema osoa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4"/>
          <p:cNvSpPr/>
          <p:nvPr/>
        </p:nvSpPr>
        <p:spPr>
          <a:xfrm>
            <a:off x="548640" y="19659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Datu maskaratzea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5"/>
          <p:cNvSpPr/>
          <p:nvPr/>
        </p:nvSpPr>
        <p:spPr>
          <a:xfrm>
            <a:off x="548640" y="228600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Sailkapen osoa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6"/>
          <p:cNvSpPr/>
          <p:nvPr/>
        </p:nvSpPr>
        <p:spPr>
          <a:xfrm>
            <a:off x="3246120" y="1005840"/>
            <a:ext cx="2651400" cy="1828440"/>
          </a:xfrm>
          <a:prstGeom prst="rect">
            <a:avLst/>
          </a:prstGeom>
          <a:solidFill>
            <a:srgbClr val="FFF3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7"/>
          <p:cNvSpPr/>
          <p:nvPr/>
        </p:nvSpPr>
        <p:spPr>
          <a:xfrm>
            <a:off x="3246120" y="109728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8F00"/>
                </a:solidFill>
                <a:effectLst/>
                <a:uFillTx/>
                <a:latin typeface="Calibri"/>
              </a:rPr>
              <a:t>2026 Q3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8"/>
          <p:cNvSpPr/>
          <p:nvPr/>
        </p:nvSpPr>
        <p:spPr>
          <a:xfrm>
            <a:off x="3337560" y="164592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ISO 27001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9"/>
          <p:cNvSpPr/>
          <p:nvPr/>
        </p:nvSpPr>
        <p:spPr>
          <a:xfrm>
            <a:off x="3337560" y="19659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 aurre-auditoria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0"/>
          <p:cNvSpPr/>
          <p:nvPr/>
        </p:nvSpPr>
        <p:spPr>
          <a:xfrm>
            <a:off x="3337560" y="228600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DLP hedapena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1"/>
          <p:cNvSpPr/>
          <p:nvPr/>
        </p:nvSpPr>
        <p:spPr>
          <a:xfrm>
            <a:off x="6035040" y="1005840"/>
            <a:ext cx="2651400" cy="1828440"/>
          </a:xfrm>
          <a:prstGeom prst="rect">
            <a:avLst/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2"/>
          <p:cNvSpPr/>
          <p:nvPr/>
        </p:nvSpPr>
        <p:spPr>
          <a:xfrm>
            <a:off x="6035040" y="109728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7D32"/>
                </a:solidFill>
                <a:effectLst/>
                <a:uFillTx/>
                <a:latin typeface="Calibri"/>
              </a:rPr>
              <a:t>2026 Q4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3"/>
          <p:cNvSpPr/>
          <p:nvPr/>
        </p:nvSpPr>
        <p:spPr>
          <a:xfrm>
            <a:off x="6126480" y="164592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Ziurtagiri ofiziala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4"/>
          <p:cNvSpPr/>
          <p:nvPr/>
        </p:nvSpPr>
        <p:spPr>
          <a:xfrm>
            <a:off x="6126480" y="19659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Geo-erredundantzia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"/>
          <p:cNvSpPr/>
          <p:nvPr/>
        </p:nvSpPr>
        <p:spPr>
          <a:xfrm>
            <a:off x="6126480" y="228600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• SL 3 lortzea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16"/>
          <p:cNvSpPr/>
          <p:nvPr/>
        </p:nvSpPr>
        <p:spPr>
          <a:xfrm>
            <a:off x="457200" y="3108960"/>
            <a:ext cx="8229240" cy="731160"/>
          </a:xfrm>
          <a:prstGeom prst="rect">
            <a:avLst/>
          </a:prstGeom>
          <a:solidFill>
            <a:srgbClr val="1E3A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7"/>
          <p:cNvSpPr/>
          <p:nvPr/>
        </p:nvSpPr>
        <p:spPr>
          <a:xfrm>
            <a:off x="457200" y="320040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⚡ Segurtasuna ez da proiektu bat amaitzen dena. Prozesu bat da, etengabeko hobekuntza.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8"/>
          <p:cNvSpPr/>
          <p:nvPr/>
        </p:nvSpPr>
        <p:spPr>
          <a:xfrm>
            <a:off x="457200" y="41148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Eskerrik asko zuhurtasunagatik!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 0"/>
          <p:cNvSpPr/>
          <p:nvPr/>
        </p:nvSpPr>
        <p:spPr>
          <a:xfrm>
            <a:off x="457200" y="201168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GALDERAK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"/>
          <p:cNvSpPr/>
          <p:nvPr/>
        </p:nvSpPr>
        <p:spPr>
          <a:xfrm>
            <a:off x="457200" y="310896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D4AF37"/>
                </a:solidFill>
                <a:effectLst/>
                <a:uFillTx/>
                <a:latin typeface="Calibri"/>
              </a:rPr>
              <a:t>ETA EZTABAIDAK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"/>
          <p:cNvSpPr/>
          <p:nvPr/>
        </p:nvSpPr>
        <p:spPr>
          <a:xfrm>
            <a:off x="457200" y="41148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Zabala Gailetak - 2026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LibreOffice/26.2.0.3$Linux_X86_64 LibreOffice_project/620$Build-3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2026-02-23T11:17:27Z</dcterms:created>
  <dc:creator>Zabala Gailetak - Zibersegurtasun Taldea</dc:creator>
  <dc:description/>
  <dc:language>en-US</dc:language>
  <cp:lastModifiedBy/>
  <dcterms:modified xsi:type="dcterms:W3CDTF">2026-02-23T12:43:26Z</dcterms:modified>
  <cp:revision>2</cp:revision>
  <dc:subject>Zuzendaritzari aurkezpena</dc:subject>
  <dc:title>Zibersegurtasun Proiektu Integrala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25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